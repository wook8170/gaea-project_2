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6" r:id="rId2"/>
    <p:sldId id="395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5689" userDrawn="1">
          <p15:clr>
            <a:srgbClr val="A4A3A4"/>
          </p15:clr>
        </p15:guide>
        <p15:guide id="3" orient="horz" pos="693" userDrawn="1">
          <p15:clr>
            <a:srgbClr val="A4A3A4"/>
          </p15:clr>
        </p15:guide>
        <p15:guide id="4" pos="4925" userDrawn="1">
          <p15:clr>
            <a:srgbClr val="A4A3A4"/>
          </p15:clr>
        </p15:guide>
        <p15:guide id="5" pos="477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EBF7"/>
    <a:srgbClr val="F2F2F2"/>
    <a:srgbClr val="FF99CC"/>
    <a:srgbClr val="F77421"/>
    <a:srgbClr val="FDDCC7"/>
    <a:srgbClr val="F89B6C"/>
    <a:srgbClr val="858B91"/>
    <a:srgbClr val="7F7F7F"/>
    <a:srgbClr val="F79A6A"/>
    <a:srgbClr val="1664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650" autoAdjust="0"/>
    <p:restoredTop sz="94660"/>
  </p:normalViewPr>
  <p:slideViewPr>
    <p:cSldViewPr snapToGrid="0" showGuides="1">
      <p:cViewPr varScale="1">
        <p:scale>
          <a:sx n="80" d="100"/>
          <a:sy n="80" d="100"/>
        </p:scale>
        <p:origin x="333" y="54"/>
      </p:cViewPr>
      <p:guideLst>
        <p:guide pos="5689"/>
        <p:guide orient="horz" pos="693"/>
        <p:guide pos="4925"/>
        <p:guide pos="4775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84" d="100"/>
          <a:sy n="84" d="100"/>
        </p:scale>
        <p:origin x="3828" y="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016B1A-25A8-43C3-88D5-22201EB749EC}" type="datetimeFigureOut">
              <a:rPr lang="ko-KR" altLang="en-US" smtClean="0"/>
              <a:t>2025-10-26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21C1B8-1107-4287-B206-74CC8332FB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0251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ctr">
            <a:normAutofit/>
          </a:bodyPr>
          <a:lstStyle>
            <a:lvl1pPr algn="l">
              <a:lnSpc>
                <a:spcPct val="100000"/>
              </a:lnSpc>
              <a:spcBef>
                <a:spcPts val="500"/>
              </a:spcBef>
              <a:defRPr sz="3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buNone/>
              <a:defRPr sz="1600">
                <a:gradFill>
                  <a:gsLst>
                    <a:gs pos="0">
                      <a:srgbClr val="F77421"/>
                    </a:gs>
                    <a:gs pos="100000">
                      <a:srgbClr val="F77421"/>
                    </a:gs>
                  </a:gsLst>
                  <a:lin ang="5400000" scaled="1"/>
                </a:gra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10" name="양쪽 모서리가 둥근 사각형 9"/>
          <p:cNvSpPr/>
          <p:nvPr userDrawn="1"/>
        </p:nvSpPr>
        <p:spPr>
          <a:xfrm rot="5400000">
            <a:off x="-882000" y="1578634"/>
            <a:ext cx="2160000" cy="39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자유형 32"/>
          <p:cNvSpPr/>
          <p:nvPr userDrawn="1"/>
        </p:nvSpPr>
        <p:spPr>
          <a:xfrm>
            <a:off x="7463280" y="4281663"/>
            <a:ext cx="4728719" cy="2576340"/>
          </a:xfrm>
          <a:custGeom>
            <a:avLst/>
            <a:gdLst>
              <a:gd name="connsiteX0" fmla="*/ 3950222 w 4318662"/>
              <a:gd name="connsiteY0" fmla="*/ 246 h 2352929"/>
              <a:gd name="connsiteX1" fmla="*/ 4112642 w 4318662"/>
              <a:gd name="connsiteY1" fmla="*/ 97049 h 2352929"/>
              <a:gd name="connsiteX2" fmla="*/ 4318662 w 4318662"/>
              <a:gd name="connsiteY2" fmla="*/ 437151 h 2352929"/>
              <a:gd name="connsiteX3" fmla="*/ 4318662 w 4318662"/>
              <a:gd name="connsiteY3" fmla="*/ 2352929 h 2352929"/>
              <a:gd name="connsiteX4" fmla="*/ 0 w 4318662"/>
              <a:gd name="connsiteY4" fmla="*/ 2352928 h 2352929"/>
              <a:gd name="connsiteX5" fmla="*/ 3836127 w 4318662"/>
              <a:gd name="connsiteY5" fmla="*/ 29160 h 2352929"/>
              <a:gd name="connsiteX6" fmla="*/ 3950222 w 4318662"/>
              <a:gd name="connsiteY6" fmla="*/ 246 h 2352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18662" h="2352929">
                <a:moveTo>
                  <a:pt x="3950222" y="246"/>
                </a:moveTo>
                <a:cubicBezTo>
                  <a:pt x="4014774" y="3445"/>
                  <a:pt x="4076636" y="37607"/>
                  <a:pt x="4112642" y="97049"/>
                </a:cubicBezTo>
                <a:lnTo>
                  <a:pt x="4318662" y="437151"/>
                </a:lnTo>
                <a:lnTo>
                  <a:pt x="4318662" y="2352929"/>
                </a:lnTo>
                <a:lnTo>
                  <a:pt x="0" y="2352928"/>
                </a:lnTo>
                <a:lnTo>
                  <a:pt x="3836127" y="29160"/>
                </a:lnTo>
                <a:cubicBezTo>
                  <a:pt x="3871791" y="7556"/>
                  <a:pt x="3911491" y="-1672"/>
                  <a:pt x="3950222" y="246"/>
                </a:cubicBezTo>
                <a:close/>
              </a:path>
            </a:pathLst>
          </a:cu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자유형 33"/>
          <p:cNvSpPr/>
          <p:nvPr userDrawn="1"/>
        </p:nvSpPr>
        <p:spPr>
          <a:xfrm rot="16200000">
            <a:off x="9063860" y="2409986"/>
            <a:ext cx="4562410" cy="1693865"/>
          </a:xfrm>
          <a:custGeom>
            <a:avLst/>
            <a:gdLst>
              <a:gd name="connsiteX0" fmla="*/ 3715544 w 3715544"/>
              <a:gd name="connsiteY0" fmla="*/ 1379453 h 1379453"/>
              <a:gd name="connsiteX1" fmla="*/ 0 w 3715544"/>
              <a:gd name="connsiteY1" fmla="*/ 1379453 h 1379453"/>
              <a:gd name="connsiteX2" fmla="*/ 361156 w 3715544"/>
              <a:gd name="connsiteY2" fmla="*/ 135975 h 1379453"/>
              <a:gd name="connsiteX3" fmla="*/ 365409 w 3715544"/>
              <a:gd name="connsiteY3" fmla="*/ 135975 h 1379453"/>
              <a:gd name="connsiteX4" fmla="*/ 412666 w 3715544"/>
              <a:gd name="connsiteY4" fmla="*/ 65884 h 1379453"/>
              <a:gd name="connsiteX5" fmla="*/ 571723 w 3715544"/>
              <a:gd name="connsiteY5" fmla="*/ 0 h 1379453"/>
              <a:gd name="connsiteX6" fmla="*/ 3143820 w 3715544"/>
              <a:gd name="connsiteY6" fmla="*/ 0 h 1379453"/>
              <a:gd name="connsiteX7" fmla="*/ 3302877 w 3715544"/>
              <a:gd name="connsiteY7" fmla="*/ 65884 h 1379453"/>
              <a:gd name="connsiteX8" fmla="*/ 3350134 w 3715544"/>
              <a:gd name="connsiteY8" fmla="*/ 135975 h 1379453"/>
              <a:gd name="connsiteX9" fmla="*/ 3354388 w 3715544"/>
              <a:gd name="connsiteY9" fmla="*/ 135975 h 1379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15544" h="1379453">
                <a:moveTo>
                  <a:pt x="3715544" y="1379453"/>
                </a:moveTo>
                <a:lnTo>
                  <a:pt x="0" y="1379453"/>
                </a:lnTo>
                <a:lnTo>
                  <a:pt x="361156" y="135975"/>
                </a:lnTo>
                <a:lnTo>
                  <a:pt x="365409" y="135975"/>
                </a:lnTo>
                <a:lnTo>
                  <a:pt x="412666" y="65884"/>
                </a:lnTo>
                <a:cubicBezTo>
                  <a:pt x="453372" y="25178"/>
                  <a:pt x="509608" y="0"/>
                  <a:pt x="571723" y="0"/>
                </a:cubicBezTo>
                <a:lnTo>
                  <a:pt x="3143820" y="0"/>
                </a:lnTo>
                <a:cubicBezTo>
                  <a:pt x="3205936" y="0"/>
                  <a:pt x="3262171" y="25178"/>
                  <a:pt x="3302877" y="65884"/>
                </a:cubicBezTo>
                <a:lnTo>
                  <a:pt x="3350134" y="135975"/>
                </a:lnTo>
                <a:lnTo>
                  <a:pt x="3354388" y="135975"/>
                </a:lnTo>
                <a:close/>
              </a:path>
            </a:pathLst>
          </a:custGeom>
          <a:solidFill>
            <a:schemeClr val="bg2">
              <a:lumMod val="7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8021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2pPr marL="216000" indent="-108000">
              <a:defRPr/>
            </a:lvl2pPr>
            <a:lvl3pPr marL="504000" indent="-108000">
              <a:buFont typeface="Arial" panose="020B0604020202020204" pitchFamily="34" charset="0"/>
              <a:buChar char="­"/>
              <a:defRPr/>
            </a:lvl3pPr>
            <a:lvl4pPr marL="720000" indent="-108000">
              <a:buFont typeface="Arial" panose="020B0604020202020204" pitchFamily="34" charset="0"/>
              <a:buChar char="­"/>
              <a:defRPr/>
            </a:lvl4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9FA15-5CF8-400E-A2D2-A07F9F36214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개체 틀 1"/>
          <p:cNvSpPr>
            <a:spLocks noGrp="1"/>
          </p:cNvSpPr>
          <p:nvPr>
            <p:ph type="title"/>
          </p:nvPr>
        </p:nvSpPr>
        <p:spPr>
          <a:xfrm>
            <a:off x="479376" y="332760"/>
            <a:ext cx="11233248" cy="936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lvl="0">
              <a:lnSpc>
                <a:spcPts val="2600"/>
              </a:lnSpc>
              <a:spcBef>
                <a:spcPts val="0"/>
              </a:spcBef>
            </a:pPr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645662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412776"/>
            <a:ext cx="3679974" cy="3888432"/>
          </a:xfrm>
        </p:spPr>
        <p:txBody>
          <a:bodyPr anchor="ctr">
            <a:normAutofit/>
          </a:bodyPr>
          <a:lstStyle>
            <a:lvl1pPr algn="ctr">
              <a:defRPr sz="280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47674" y="1412874"/>
            <a:ext cx="5900854" cy="3888333"/>
          </a:xfrm>
        </p:spPr>
        <p:txBody>
          <a:bodyPr anchor="ctr"/>
          <a:lstStyle>
            <a:lvl1pPr marL="0" indent="0">
              <a:buNone/>
              <a:defRPr sz="180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9FA15-5CF8-400E-A2D2-A07F9F36214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양쪽 모서리가 둥근 사각형 6"/>
          <p:cNvSpPr/>
          <p:nvPr userDrawn="1"/>
        </p:nvSpPr>
        <p:spPr>
          <a:xfrm rot="5400000">
            <a:off x="-2430000" y="3126634"/>
            <a:ext cx="5256000" cy="39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774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4727848" y="1916832"/>
            <a:ext cx="0" cy="2880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자유형 11"/>
          <p:cNvSpPr/>
          <p:nvPr userDrawn="1"/>
        </p:nvSpPr>
        <p:spPr>
          <a:xfrm rot="16200000">
            <a:off x="9063863" y="2409986"/>
            <a:ext cx="4562410" cy="1693865"/>
          </a:xfrm>
          <a:custGeom>
            <a:avLst/>
            <a:gdLst>
              <a:gd name="connsiteX0" fmla="*/ 3715544 w 3715544"/>
              <a:gd name="connsiteY0" fmla="*/ 1379453 h 1379453"/>
              <a:gd name="connsiteX1" fmla="*/ 0 w 3715544"/>
              <a:gd name="connsiteY1" fmla="*/ 1379453 h 1379453"/>
              <a:gd name="connsiteX2" fmla="*/ 361156 w 3715544"/>
              <a:gd name="connsiteY2" fmla="*/ 135975 h 1379453"/>
              <a:gd name="connsiteX3" fmla="*/ 365409 w 3715544"/>
              <a:gd name="connsiteY3" fmla="*/ 135975 h 1379453"/>
              <a:gd name="connsiteX4" fmla="*/ 412666 w 3715544"/>
              <a:gd name="connsiteY4" fmla="*/ 65884 h 1379453"/>
              <a:gd name="connsiteX5" fmla="*/ 571723 w 3715544"/>
              <a:gd name="connsiteY5" fmla="*/ 0 h 1379453"/>
              <a:gd name="connsiteX6" fmla="*/ 3143820 w 3715544"/>
              <a:gd name="connsiteY6" fmla="*/ 0 h 1379453"/>
              <a:gd name="connsiteX7" fmla="*/ 3302877 w 3715544"/>
              <a:gd name="connsiteY7" fmla="*/ 65884 h 1379453"/>
              <a:gd name="connsiteX8" fmla="*/ 3350134 w 3715544"/>
              <a:gd name="connsiteY8" fmla="*/ 135975 h 1379453"/>
              <a:gd name="connsiteX9" fmla="*/ 3354388 w 3715544"/>
              <a:gd name="connsiteY9" fmla="*/ 135975 h 1379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15544" h="1379453">
                <a:moveTo>
                  <a:pt x="3715544" y="1379453"/>
                </a:moveTo>
                <a:lnTo>
                  <a:pt x="0" y="1379453"/>
                </a:lnTo>
                <a:lnTo>
                  <a:pt x="361156" y="135975"/>
                </a:lnTo>
                <a:lnTo>
                  <a:pt x="365409" y="135975"/>
                </a:lnTo>
                <a:lnTo>
                  <a:pt x="412666" y="65884"/>
                </a:lnTo>
                <a:cubicBezTo>
                  <a:pt x="453372" y="25178"/>
                  <a:pt x="509608" y="0"/>
                  <a:pt x="571723" y="0"/>
                </a:cubicBezTo>
                <a:lnTo>
                  <a:pt x="3143820" y="0"/>
                </a:lnTo>
                <a:cubicBezTo>
                  <a:pt x="3205936" y="0"/>
                  <a:pt x="3262171" y="25178"/>
                  <a:pt x="3302877" y="65884"/>
                </a:cubicBezTo>
                <a:lnTo>
                  <a:pt x="3350134" y="135975"/>
                </a:lnTo>
                <a:lnTo>
                  <a:pt x="3354388" y="135975"/>
                </a:lnTo>
                <a:close/>
              </a:path>
            </a:pathLst>
          </a:custGeom>
          <a:solidFill>
            <a:srgbClr val="FB9B6E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663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412776"/>
            <a:ext cx="3679974" cy="3888432"/>
          </a:xfrm>
        </p:spPr>
        <p:txBody>
          <a:bodyPr anchor="ctr">
            <a:normAutofit/>
          </a:bodyPr>
          <a:lstStyle>
            <a:lvl1pPr algn="ctr">
              <a:defRPr sz="280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47674" y="1412874"/>
            <a:ext cx="5900854" cy="3888333"/>
          </a:xfrm>
        </p:spPr>
        <p:txBody>
          <a:bodyPr anchor="ctr"/>
          <a:lstStyle>
            <a:lvl1pPr marL="0" indent="0">
              <a:buNone/>
              <a:defRPr sz="180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9FA15-5CF8-400E-A2D2-A07F9F36214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양쪽 모서리가 둥근 사각형 6"/>
          <p:cNvSpPr/>
          <p:nvPr userDrawn="1"/>
        </p:nvSpPr>
        <p:spPr>
          <a:xfrm rot="5400000">
            <a:off x="-2430000" y="3126634"/>
            <a:ext cx="5256000" cy="39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4727848" y="1916832"/>
            <a:ext cx="0" cy="2880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자유형 11"/>
          <p:cNvSpPr/>
          <p:nvPr userDrawn="1"/>
        </p:nvSpPr>
        <p:spPr>
          <a:xfrm rot="16200000">
            <a:off x="9063863" y="2409986"/>
            <a:ext cx="4562410" cy="1693865"/>
          </a:xfrm>
          <a:custGeom>
            <a:avLst/>
            <a:gdLst>
              <a:gd name="connsiteX0" fmla="*/ 3715544 w 3715544"/>
              <a:gd name="connsiteY0" fmla="*/ 1379453 h 1379453"/>
              <a:gd name="connsiteX1" fmla="*/ 0 w 3715544"/>
              <a:gd name="connsiteY1" fmla="*/ 1379453 h 1379453"/>
              <a:gd name="connsiteX2" fmla="*/ 361156 w 3715544"/>
              <a:gd name="connsiteY2" fmla="*/ 135975 h 1379453"/>
              <a:gd name="connsiteX3" fmla="*/ 365409 w 3715544"/>
              <a:gd name="connsiteY3" fmla="*/ 135975 h 1379453"/>
              <a:gd name="connsiteX4" fmla="*/ 412666 w 3715544"/>
              <a:gd name="connsiteY4" fmla="*/ 65884 h 1379453"/>
              <a:gd name="connsiteX5" fmla="*/ 571723 w 3715544"/>
              <a:gd name="connsiteY5" fmla="*/ 0 h 1379453"/>
              <a:gd name="connsiteX6" fmla="*/ 3143820 w 3715544"/>
              <a:gd name="connsiteY6" fmla="*/ 0 h 1379453"/>
              <a:gd name="connsiteX7" fmla="*/ 3302877 w 3715544"/>
              <a:gd name="connsiteY7" fmla="*/ 65884 h 1379453"/>
              <a:gd name="connsiteX8" fmla="*/ 3350134 w 3715544"/>
              <a:gd name="connsiteY8" fmla="*/ 135975 h 1379453"/>
              <a:gd name="connsiteX9" fmla="*/ 3354388 w 3715544"/>
              <a:gd name="connsiteY9" fmla="*/ 135975 h 1379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15544" h="1379453">
                <a:moveTo>
                  <a:pt x="3715544" y="1379453"/>
                </a:moveTo>
                <a:lnTo>
                  <a:pt x="0" y="1379453"/>
                </a:lnTo>
                <a:lnTo>
                  <a:pt x="361156" y="135975"/>
                </a:lnTo>
                <a:lnTo>
                  <a:pt x="365409" y="135975"/>
                </a:lnTo>
                <a:lnTo>
                  <a:pt x="412666" y="65884"/>
                </a:lnTo>
                <a:cubicBezTo>
                  <a:pt x="453372" y="25178"/>
                  <a:pt x="509608" y="0"/>
                  <a:pt x="571723" y="0"/>
                </a:cubicBezTo>
                <a:lnTo>
                  <a:pt x="3143820" y="0"/>
                </a:lnTo>
                <a:cubicBezTo>
                  <a:pt x="3205936" y="0"/>
                  <a:pt x="3262171" y="25178"/>
                  <a:pt x="3302877" y="65884"/>
                </a:cubicBezTo>
                <a:lnTo>
                  <a:pt x="3350134" y="135975"/>
                </a:lnTo>
                <a:lnTo>
                  <a:pt x="3354388" y="135975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2505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412776"/>
            <a:ext cx="3679974" cy="3888432"/>
          </a:xfrm>
        </p:spPr>
        <p:txBody>
          <a:bodyPr anchor="ctr">
            <a:normAutofit/>
          </a:bodyPr>
          <a:lstStyle>
            <a:lvl1pPr algn="ctr">
              <a:defRPr sz="280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47674" y="1412874"/>
            <a:ext cx="5900854" cy="3888333"/>
          </a:xfrm>
        </p:spPr>
        <p:txBody>
          <a:bodyPr anchor="ctr"/>
          <a:lstStyle>
            <a:lvl1pPr marL="0" indent="0">
              <a:buNone/>
              <a:defRPr sz="180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9FA15-5CF8-400E-A2D2-A07F9F36214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양쪽 모서리가 둥근 사각형 6"/>
          <p:cNvSpPr/>
          <p:nvPr userDrawn="1"/>
        </p:nvSpPr>
        <p:spPr>
          <a:xfrm rot="5400000">
            <a:off x="-2430000" y="3126634"/>
            <a:ext cx="5256000" cy="396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664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" name="직선 연결선 10"/>
          <p:cNvCxnSpPr/>
          <p:nvPr userDrawn="1"/>
        </p:nvCxnSpPr>
        <p:spPr>
          <a:xfrm>
            <a:off x="4727848" y="1916832"/>
            <a:ext cx="0" cy="288000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자유형 8"/>
          <p:cNvSpPr/>
          <p:nvPr userDrawn="1"/>
        </p:nvSpPr>
        <p:spPr>
          <a:xfrm rot="16200000">
            <a:off x="9063864" y="2409986"/>
            <a:ext cx="4562410" cy="1693865"/>
          </a:xfrm>
          <a:custGeom>
            <a:avLst/>
            <a:gdLst>
              <a:gd name="connsiteX0" fmla="*/ 3715544 w 3715544"/>
              <a:gd name="connsiteY0" fmla="*/ 1379453 h 1379453"/>
              <a:gd name="connsiteX1" fmla="*/ 0 w 3715544"/>
              <a:gd name="connsiteY1" fmla="*/ 1379453 h 1379453"/>
              <a:gd name="connsiteX2" fmla="*/ 361156 w 3715544"/>
              <a:gd name="connsiteY2" fmla="*/ 135975 h 1379453"/>
              <a:gd name="connsiteX3" fmla="*/ 365409 w 3715544"/>
              <a:gd name="connsiteY3" fmla="*/ 135975 h 1379453"/>
              <a:gd name="connsiteX4" fmla="*/ 412666 w 3715544"/>
              <a:gd name="connsiteY4" fmla="*/ 65884 h 1379453"/>
              <a:gd name="connsiteX5" fmla="*/ 571723 w 3715544"/>
              <a:gd name="connsiteY5" fmla="*/ 0 h 1379453"/>
              <a:gd name="connsiteX6" fmla="*/ 3143820 w 3715544"/>
              <a:gd name="connsiteY6" fmla="*/ 0 h 1379453"/>
              <a:gd name="connsiteX7" fmla="*/ 3302877 w 3715544"/>
              <a:gd name="connsiteY7" fmla="*/ 65884 h 1379453"/>
              <a:gd name="connsiteX8" fmla="*/ 3350134 w 3715544"/>
              <a:gd name="connsiteY8" fmla="*/ 135975 h 1379453"/>
              <a:gd name="connsiteX9" fmla="*/ 3354388 w 3715544"/>
              <a:gd name="connsiteY9" fmla="*/ 135975 h 1379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715544" h="1379453">
                <a:moveTo>
                  <a:pt x="3715544" y="1379453"/>
                </a:moveTo>
                <a:lnTo>
                  <a:pt x="0" y="1379453"/>
                </a:lnTo>
                <a:lnTo>
                  <a:pt x="361156" y="135975"/>
                </a:lnTo>
                <a:lnTo>
                  <a:pt x="365409" y="135975"/>
                </a:lnTo>
                <a:lnTo>
                  <a:pt x="412666" y="65884"/>
                </a:lnTo>
                <a:cubicBezTo>
                  <a:pt x="453372" y="25178"/>
                  <a:pt x="509608" y="0"/>
                  <a:pt x="571723" y="0"/>
                </a:cubicBezTo>
                <a:lnTo>
                  <a:pt x="3143820" y="0"/>
                </a:lnTo>
                <a:cubicBezTo>
                  <a:pt x="3205936" y="0"/>
                  <a:pt x="3262171" y="25178"/>
                  <a:pt x="3302877" y="65884"/>
                </a:cubicBezTo>
                <a:lnTo>
                  <a:pt x="3350134" y="135975"/>
                </a:lnTo>
                <a:lnTo>
                  <a:pt x="3354388" y="135975"/>
                </a:lnTo>
                <a:close/>
              </a:path>
            </a:pathLst>
          </a:custGeom>
          <a:solidFill>
            <a:srgbClr val="16646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8174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9FA15-5CF8-400E-A2D2-A07F9F36214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제목 개체 틀 1"/>
          <p:cNvSpPr>
            <a:spLocks noGrp="1"/>
          </p:cNvSpPr>
          <p:nvPr>
            <p:ph type="title"/>
          </p:nvPr>
        </p:nvSpPr>
        <p:spPr>
          <a:xfrm>
            <a:off x="479376" y="332760"/>
            <a:ext cx="11233248" cy="936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lvl="0">
              <a:lnSpc>
                <a:spcPts val="2600"/>
              </a:lnSpc>
              <a:spcBef>
                <a:spcPts val="0"/>
              </a:spcBef>
            </a:pPr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940092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9FA15-5CF8-400E-A2D2-A07F9F36214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제목 개체 틀 1"/>
          <p:cNvSpPr>
            <a:spLocks noGrp="1"/>
          </p:cNvSpPr>
          <p:nvPr>
            <p:ph type="title"/>
          </p:nvPr>
        </p:nvSpPr>
        <p:spPr>
          <a:xfrm>
            <a:off x="479376" y="332760"/>
            <a:ext cx="11233248" cy="936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lvl="0">
              <a:lnSpc>
                <a:spcPts val="2600"/>
              </a:lnSpc>
              <a:spcBef>
                <a:spcPts val="0"/>
              </a:spcBef>
            </a:pPr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358532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79FA15-5CF8-400E-A2D2-A07F9F36214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제목 개체 틀 1"/>
          <p:cNvSpPr>
            <a:spLocks noGrp="1"/>
          </p:cNvSpPr>
          <p:nvPr>
            <p:ph type="title"/>
          </p:nvPr>
        </p:nvSpPr>
        <p:spPr>
          <a:xfrm>
            <a:off x="479376" y="332760"/>
            <a:ext cx="11233248" cy="936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lvl="0">
              <a:lnSpc>
                <a:spcPts val="2600"/>
              </a:lnSpc>
              <a:spcBef>
                <a:spcPts val="0"/>
              </a:spcBef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4" name="양쪽 모서리가 둥근 사각형 3"/>
          <p:cNvSpPr/>
          <p:nvPr userDrawn="1"/>
        </p:nvSpPr>
        <p:spPr>
          <a:xfrm rot="5400000">
            <a:off x="-324000" y="620863"/>
            <a:ext cx="936000" cy="2880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16570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제목 개체 틀 1"/>
          <p:cNvSpPr>
            <a:spLocks noGrp="1"/>
          </p:cNvSpPr>
          <p:nvPr>
            <p:ph type="title"/>
          </p:nvPr>
        </p:nvSpPr>
        <p:spPr>
          <a:xfrm>
            <a:off x="479376" y="332760"/>
            <a:ext cx="11233248" cy="432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lvl="0">
              <a:lnSpc>
                <a:spcPts val="2600"/>
              </a:lnSpc>
              <a:spcBef>
                <a:spcPts val="0"/>
              </a:spcBef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11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13838" y="63822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B079FA15-5CF8-400E-A2D2-A07F9F36214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4" name="양쪽 모서리가 둥근 사각형 13"/>
          <p:cNvSpPr/>
          <p:nvPr userDrawn="1"/>
        </p:nvSpPr>
        <p:spPr>
          <a:xfrm rot="10800000">
            <a:off x="478979" y="0"/>
            <a:ext cx="936000" cy="288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1664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그림 2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1344" y="6413263"/>
            <a:ext cx="724966" cy="297931"/>
          </a:xfrm>
          <a:prstGeom prst="rect">
            <a:avLst/>
          </a:prstGeom>
        </p:spPr>
      </p:pic>
      <p:sp>
        <p:nvSpPr>
          <p:cNvPr id="22" name="TextBox 21"/>
          <p:cNvSpPr txBox="1"/>
          <p:nvPr userDrawn="1"/>
        </p:nvSpPr>
        <p:spPr>
          <a:xfrm>
            <a:off x="916310" y="6382228"/>
            <a:ext cx="2666946" cy="3600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 spc="-100" baseline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defRPr>
            </a:lvl1pPr>
          </a:lstStyle>
          <a:p>
            <a:r>
              <a:rPr lang="en-US" altLang="ko-KR" sz="900" spc="-50" dirty="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50000"/>
                        <a:lumOff val="50000"/>
                      </a:schemeClr>
                    </a:gs>
                  </a:gsLst>
                  <a:lin ang="5400000" scaled="1"/>
                </a:gradFill>
              </a:rPr>
              <a:t>2024.09  Provided by GAEASOFT</a:t>
            </a:r>
            <a:endParaRPr lang="ko-KR" altLang="en-US" sz="900" spc="-50" dirty="0">
              <a:gradFill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540000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37471098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7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79376" y="332760"/>
            <a:ext cx="11233248" cy="936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lvl="0">
              <a:lnSpc>
                <a:spcPts val="2600"/>
              </a:lnSpc>
              <a:spcBef>
                <a:spcPts val="0"/>
              </a:spcBef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79376" y="1521312"/>
            <a:ext cx="11233248" cy="47160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marL="216000" lvl="1" indent="-108000"/>
            <a:r>
              <a:rPr lang="ko-KR" altLang="en-US" dirty="0"/>
              <a:t>둘째 수준</a:t>
            </a:r>
          </a:p>
          <a:p>
            <a:pPr marL="504000" lvl="2" indent="-108000">
              <a:buChar char="­"/>
            </a:pPr>
            <a:r>
              <a:rPr lang="ko-KR" altLang="en-US" dirty="0"/>
              <a:t>셋째 수준</a:t>
            </a:r>
          </a:p>
          <a:p>
            <a:pPr marL="720000" lvl="3" indent="-108000">
              <a:buChar char="­"/>
            </a:pPr>
            <a:r>
              <a:rPr lang="ko-KR" altLang="en-US" dirty="0"/>
              <a:t>넷째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113838" y="638222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defRPr>
            </a:lvl1pPr>
          </a:lstStyle>
          <a:p>
            <a:fld id="{B079FA15-5CF8-400E-A2D2-A07F9F362143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9" name="양쪽 모서리가 둥근 사각형 8"/>
          <p:cNvSpPr/>
          <p:nvPr userDrawn="1"/>
        </p:nvSpPr>
        <p:spPr>
          <a:xfrm rot="5400000">
            <a:off x="-324000" y="620863"/>
            <a:ext cx="936000" cy="2880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774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91344" y="6413263"/>
            <a:ext cx="724966" cy="297931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916310" y="6382228"/>
            <a:ext cx="2666946" cy="360000"/>
          </a:xfrm>
          <a:prstGeom prst="rect">
            <a:avLst/>
          </a:prstGeom>
        </p:spPr>
        <p:txBody>
          <a:bodyPr vert="horz" wrap="none" lIns="91440" tIns="45720" rIns="91440" bIns="45720" rtlCol="0" anchor="ctr"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400" spc="-100" baseline="0"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나눔스퀘어 Bold" panose="020B0600000101010101" pitchFamily="50" charset="-127"/>
                <a:ea typeface="나눔스퀘어 Bold" panose="020B0600000101010101" pitchFamily="50" charset="-127"/>
                <a:cs typeface="+mj-cs"/>
              </a:defRPr>
            </a:lvl1pPr>
          </a:lstStyle>
          <a:p>
            <a:r>
              <a:rPr lang="en-US" altLang="ko-KR" sz="900" spc="-50" dirty="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50000"/>
                        <a:lumOff val="50000"/>
                      </a:schemeClr>
                    </a:gs>
                  </a:gsLst>
                  <a:lin ang="5400000" scaled="1"/>
                </a:gradFill>
              </a:rPr>
              <a:t>2024.09  Provided by GAEASOFT</a:t>
            </a:r>
            <a:endParaRPr lang="ko-KR" altLang="en-US" sz="900" spc="-50" dirty="0">
              <a:gradFill>
                <a:gsLst>
                  <a:gs pos="0">
                    <a:schemeClr val="tx1">
                      <a:lumMod val="50000"/>
                      <a:lumOff val="50000"/>
                    </a:schemeClr>
                  </a:gs>
                  <a:gs pos="100000">
                    <a:schemeClr val="tx1">
                      <a:lumMod val="50000"/>
                      <a:lumOff val="50000"/>
                    </a:schemeClr>
                  </a:gs>
                </a:gsLst>
                <a:lin ang="5400000" scaled="1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2435496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7" r:id="rId4"/>
    <p:sldLayoutId id="2147483656" r:id="rId5"/>
    <p:sldLayoutId id="2147483652" r:id="rId6"/>
    <p:sldLayoutId id="2147483654" r:id="rId7"/>
    <p:sldLayoutId id="2147483658" r:id="rId8"/>
    <p:sldLayoutId id="2147483655" r:id="rId9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ts val="1000"/>
        </a:spcBef>
        <a:buNone/>
        <a:defRPr lang="ko-KR" altLang="en-US" sz="2000" kern="1200" spc="-100" baseline="0" dirty="0" smtClean="0">
          <a:gradFill>
            <a:gsLst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5400000" scaled="1"/>
          </a:gradFill>
          <a:latin typeface="나눔스퀘어 Bold" panose="020B0600000101010101" pitchFamily="50" charset="-127"/>
          <a:ea typeface="나눔스퀘어 Bold" panose="020B0600000101010101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90000"/>
        </a:lnSpc>
        <a:spcBef>
          <a:spcPts val="1000"/>
        </a:spcBef>
        <a:buFontTx/>
        <a:buNone/>
        <a:defRPr lang="ko-KR" altLang="en-US" sz="1400" kern="1200" spc="-150" baseline="0" dirty="0" smtClean="0">
          <a:gradFill>
            <a:gsLst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5400000" scaled="1"/>
          </a:gradFill>
          <a:latin typeface="나눔스퀘어" panose="020B0600000101010101" pitchFamily="50" charset="-127"/>
          <a:ea typeface="나눔스퀘어" panose="020B0600000101010101" pitchFamily="50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ko-KR" altLang="en-US" sz="1200" kern="1200" spc="-150" baseline="0" dirty="0" smtClean="0">
          <a:gradFill>
            <a:gsLst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5400000" scaled="1"/>
          </a:gradFill>
          <a:latin typeface="나눔스퀘어" panose="020B0600000101010101" pitchFamily="50" charset="-127"/>
          <a:ea typeface="나눔스퀘어" panose="020B0600000101010101" pitchFamily="50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ko-KR" altLang="en-US" sz="1100" kern="1200" spc="-150" baseline="0" dirty="0" smtClean="0">
          <a:gradFill>
            <a:gsLst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5400000" scaled="1"/>
          </a:gradFill>
          <a:latin typeface="나눔스퀘어" panose="020B0600000101010101" pitchFamily="50" charset="-127"/>
          <a:ea typeface="나눔스퀘어" panose="020B0600000101010101" pitchFamily="50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ko-KR" altLang="en-US" sz="1050" kern="1200" spc="-150" baseline="0" dirty="0">
          <a:gradFill>
            <a:gsLst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5400000" scaled="1"/>
          </a:gradFill>
          <a:latin typeface="나눔스퀘어" panose="020B0600000101010101" pitchFamily="50" charset="-127"/>
          <a:ea typeface="나눔스퀘어" panose="020B0600000101010101" pitchFamily="50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050" kern="1200" spc="-150" baseline="0">
          <a:gradFill>
            <a:gsLst>
              <a:gs pos="0">
                <a:schemeClr val="tx1">
                  <a:lumMod val="75000"/>
                  <a:lumOff val="25000"/>
                </a:schemeClr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5400000" scaled="1"/>
          </a:gradFill>
          <a:latin typeface="나눔스퀘어" panose="020B0600000101010101" pitchFamily="50" charset="-127"/>
          <a:ea typeface="나눔스퀘어" panose="020B0600000101010101" pitchFamily="50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11" userDrawn="1">
          <p15:clr>
            <a:srgbClr val="F26B43"/>
          </p15:clr>
        </p15:guide>
        <p15:guide id="2" pos="7469" userDrawn="1">
          <p15:clr>
            <a:srgbClr val="F26B43"/>
          </p15:clr>
        </p15:guide>
        <p15:guide id="3" orient="horz" pos="187" userDrawn="1">
          <p15:clr>
            <a:srgbClr val="F26B43"/>
          </p15:clr>
        </p15:guide>
        <p15:guide id="4" orient="horz" pos="3929" userDrawn="1">
          <p15:clr>
            <a:srgbClr val="F26B43"/>
          </p15:clr>
        </p15:guide>
        <p15:guide id="5" orient="horz" pos="890" userDrawn="1">
          <p15:clr>
            <a:srgbClr val="F26B43"/>
          </p15:clr>
        </p15:guide>
        <p15:guide id="6" pos="302" userDrawn="1">
          <p15:clr>
            <a:srgbClr val="F26B43"/>
          </p15:clr>
        </p15:guide>
        <p15:guide id="7" pos="7378" userDrawn="1">
          <p15:clr>
            <a:srgbClr val="F26B43"/>
          </p15:clr>
        </p15:guide>
        <p15:guide id="8" orient="horz" pos="107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81050" y="900113"/>
            <a:ext cx="9144000" cy="2387600"/>
          </a:xfrm>
        </p:spPr>
        <p:txBody>
          <a:bodyPr/>
          <a:lstStyle/>
          <a:p>
            <a:r>
              <a:rPr lang="en-US" altLang="ko-KR" b="1" dirty="0"/>
              <a:t>AI</a:t>
            </a:r>
            <a:r>
              <a:rPr lang="ko-KR" altLang="ko-KR" b="1" dirty="0"/>
              <a:t>기반 </a:t>
            </a:r>
            <a:r>
              <a:rPr lang="ko-KR" altLang="en-US" b="1" dirty="0" err="1"/>
              <a:t>댁내응급안전안심서비스</a:t>
            </a:r>
            <a:r>
              <a:rPr lang="ko-KR" altLang="en-US" b="1" dirty="0"/>
              <a:t> </a:t>
            </a:r>
            <a:endParaRPr lang="ko-KR" altLang="en-US" sz="3200" dirty="0"/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099" y="1122363"/>
            <a:ext cx="1291202" cy="404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054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7787A8-E150-1C7E-4788-8DC0066B4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TextBox 379">
            <a:extLst>
              <a:ext uri="{FF2B5EF4-FFF2-40B4-BE49-F238E27FC236}">
                <a16:creationId xmlns:a16="http://schemas.microsoft.com/office/drawing/2014/main" id="{CF0769CC-7D2F-DAEF-7B6E-D32FF95C4995}"/>
              </a:ext>
            </a:extLst>
          </p:cNvPr>
          <p:cNvSpPr txBox="1"/>
          <p:nvPr/>
        </p:nvSpPr>
        <p:spPr>
          <a:xfrm>
            <a:off x="10306049" y="1236439"/>
            <a:ext cx="1477964" cy="2510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 sz="120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사용연계 시스템</a:t>
            </a:r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82" name="직사각형 22">
            <a:extLst>
              <a:ext uri="{FF2B5EF4-FFF2-40B4-BE49-F238E27FC236}">
                <a16:creationId xmlns:a16="http://schemas.microsoft.com/office/drawing/2014/main" id="{14967DA3-C138-916E-4760-D7D7F77FE37E}"/>
              </a:ext>
            </a:extLst>
          </p:cNvPr>
          <p:cNvSpPr/>
          <p:nvPr/>
        </p:nvSpPr>
        <p:spPr>
          <a:xfrm>
            <a:off x="10306050" y="1539146"/>
            <a:ext cx="1477962" cy="4715928"/>
          </a:xfrm>
          <a:prstGeom prst="rect">
            <a:avLst/>
          </a:prstGeom>
          <a:noFill/>
          <a:ln w="6350" cap="flat" cmpd="sng" algn="ctr">
            <a:solidFill>
              <a:schemeClr val="bg1">
                <a:lumMod val="65000"/>
              </a:schemeClr>
            </a:solidFill>
            <a:prstDash val="solid"/>
          </a:ln>
          <a:effectLst>
            <a:outerShdw dist="12700" dir="5400000" algn="t" rotWithShape="0">
              <a:schemeClr val="tx1">
                <a:lumMod val="75000"/>
                <a:lumOff val="25000"/>
                <a:alpha val="20000"/>
              </a:schemeClr>
            </a:outerShdw>
          </a:effectLst>
        </p:spPr>
        <p:txBody>
          <a:bodyPr lIns="0" tIns="0" rIns="0" bIns="0" rtlCol="0" anchor="ctr" anchorCtr="0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Clr>
                <a:srgbClr val="969696"/>
              </a:buClr>
              <a:buSzPts val="800"/>
            </a:pPr>
            <a:endParaRPr kumimoji="1" lang="ko-KR" altLang="en-US" sz="1000" dirty="0">
              <a:solidFill>
                <a:srgbClr val="292929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굴림" pitchFamily="50" charset="-127"/>
            </a:endParaRPr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F456C264-9AA2-25D6-B410-33C19392B6BA}"/>
              </a:ext>
            </a:extLst>
          </p:cNvPr>
          <p:cNvSpPr/>
          <p:nvPr/>
        </p:nvSpPr>
        <p:spPr>
          <a:xfrm>
            <a:off x="10401493" y="5274724"/>
            <a:ext cx="1292142" cy="911764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GY" altLang="ko-KR" sz="700" b="1" dirty="0">
              <a:solidFill>
                <a:schemeClr val="tx1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BFA530A9-554B-D13C-34B8-6D8E7832905B}"/>
              </a:ext>
            </a:extLst>
          </p:cNvPr>
          <p:cNvSpPr/>
          <p:nvPr/>
        </p:nvSpPr>
        <p:spPr>
          <a:xfrm>
            <a:off x="10401493" y="1993757"/>
            <a:ext cx="1292142" cy="3209973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GY" altLang="ko-KR" sz="700" b="1" dirty="0">
              <a:solidFill>
                <a:schemeClr val="tx1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75" name="양쪽 모서리가 둥근 사각형 74">
            <a:extLst>
              <a:ext uri="{FF2B5EF4-FFF2-40B4-BE49-F238E27FC236}">
                <a16:creationId xmlns:a16="http://schemas.microsoft.com/office/drawing/2014/main" id="{380AE5A9-F585-2CF1-D804-E7BD141384B6}"/>
              </a:ext>
            </a:extLst>
          </p:cNvPr>
          <p:cNvSpPr/>
          <p:nvPr/>
        </p:nvSpPr>
        <p:spPr>
          <a:xfrm>
            <a:off x="10466928" y="2338095"/>
            <a:ext cx="1161273" cy="198648"/>
          </a:xfrm>
          <a:prstGeom prst="round2Same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중앙시스템</a:t>
            </a:r>
            <a:endParaRPr lang="ko-GY" sz="800" b="1" dirty="0">
              <a:solidFill>
                <a:schemeClr val="bg1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0C05B8F7-CAC0-4EDC-006B-33113CBB56A3}"/>
              </a:ext>
            </a:extLst>
          </p:cNvPr>
          <p:cNvSpPr/>
          <p:nvPr/>
        </p:nvSpPr>
        <p:spPr>
          <a:xfrm>
            <a:off x="10466928" y="2536743"/>
            <a:ext cx="1161273" cy="62234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GY" sz="800" b="1" dirty="0">
              <a:solidFill>
                <a:schemeClr val="tx1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FF3F1E06-7BF5-84B7-8771-1B923C2C39A1}"/>
              </a:ext>
            </a:extLst>
          </p:cNvPr>
          <p:cNvSpPr/>
          <p:nvPr/>
        </p:nvSpPr>
        <p:spPr>
          <a:xfrm>
            <a:off x="10515255" y="2591102"/>
            <a:ext cx="1064618" cy="241489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지역센터 운영사항 </a:t>
            </a:r>
            <a:br>
              <a:rPr lang="en-US" altLang="ko-KR" sz="700" b="1" dirty="0">
                <a:solidFill>
                  <a:schemeClr val="tx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</a:br>
            <a:r>
              <a:rPr lang="ko-KR" altLang="en-US" sz="700" b="1" dirty="0">
                <a:solidFill>
                  <a:schemeClr val="tx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모니터링</a:t>
            </a:r>
            <a:endParaRPr lang="ko-GY" altLang="ko-KR" sz="700" b="1" dirty="0">
              <a:solidFill>
                <a:schemeClr val="tx1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58F892BB-60C0-1B0C-242C-74A5D951362B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2637" y="1627376"/>
            <a:ext cx="1207547" cy="239537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CCAB5BCF-32F9-931E-D8B8-35708C50FB41}"/>
              </a:ext>
            </a:extLst>
          </p:cNvPr>
          <p:cNvSpPr/>
          <p:nvPr/>
        </p:nvSpPr>
        <p:spPr>
          <a:xfrm>
            <a:off x="10366768" y="1997915"/>
            <a:ext cx="1361593" cy="307777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>
                <a:solidFill>
                  <a:schemeClr val="tx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디지털돌봄시스템</a:t>
            </a:r>
            <a:endParaRPr lang="ko-GY" sz="1000" b="1" dirty="0">
              <a:solidFill>
                <a:schemeClr val="tx1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EC5475A1-04DE-3089-C379-68B34F563EA7}"/>
              </a:ext>
            </a:extLst>
          </p:cNvPr>
          <p:cNvSpPr/>
          <p:nvPr/>
        </p:nvSpPr>
        <p:spPr>
          <a:xfrm>
            <a:off x="10515255" y="2872460"/>
            <a:ext cx="1064618" cy="241489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시스템 운영 및 기능개선</a:t>
            </a:r>
            <a:endParaRPr lang="ko-GY" altLang="ko-KR" sz="700" b="1" dirty="0">
              <a:solidFill>
                <a:schemeClr val="tx1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25" name="양쪽 모서리가 둥근 사각형 74">
            <a:extLst>
              <a:ext uri="{FF2B5EF4-FFF2-40B4-BE49-F238E27FC236}">
                <a16:creationId xmlns:a16="http://schemas.microsoft.com/office/drawing/2014/main" id="{11902DF8-3F38-7B94-C0DA-89F36DDB1FCA}"/>
              </a:ext>
            </a:extLst>
          </p:cNvPr>
          <p:cNvSpPr/>
          <p:nvPr/>
        </p:nvSpPr>
        <p:spPr>
          <a:xfrm>
            <a:off x="10466928" y="3471113"/>
            <a:ext cx="1161273" cy="198648"/>
          </a:xfrm>
          <a:prstGeom prst="round2Same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지자체시스템</a:t>
            </a:r>
            <a:endParaRPr lang="ko-GY" sz="800" b="1" dirty="0">
              <a:solidFill>
                <a:schemeClr val="bg1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792B48F-B972-B302-9DD4-58AFDF00BEFE}"/>
              </a:ext>
            </a:extLst>
          </p:cNvPr>
          <p:cNvSpPr/>
          <p:nvPr/>
        </p:nvSpPr>
        <p:spPr>
          <a:xfrm>
            <a:off x="10466928" y="3669761"/>
            <a:ext cx="1161273" cy="33313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GY" sz="800" b="1" dirty="0">
              <a:solidFill>
                <a:schemeClr val="tx1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95381859-CBCE-EF08-3487-BC52B8DE3F76}"/>
              </a:ext>
            </a:extLst>
          </p:cNvPr>
          <p:cNvSpPr/>
          <p:nvPr/>
        </p:nvSpPr>
        <p:spPr>
          <a:xfrm>
            <a:off x="10515255" y="3712690"/>
            <a:ext cx="1064618" cy="241489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대상자 조사 및 승인</a:t>
            </a:r>
            <a:endParaRPr lang="ko-GY" altLang="ko-KR" sz="700" b="1" dirty="0">
              <a:solidFill>
                <a:schemeClr val="tx1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30" name="양쪽 모서리가 둥근 사각형 74">
            <a:extLst>
              <a:ext uri="{FF2B5EF4-FFF2-40B4-BE49-F238E27FC236}">
                <a16:creationId xmlns:a16="http://schemas.microsoft.com/office/drawing/2014/main" id="{82EDD37E-3A40-45E5-0AE3-8D63BA16F640}"/>
              </a:ext>
            </a:extLst>
          </p:cNvPr>
          <p:cNvSpPr/>
          <p:nvPr/>
        </p:nvSpPr>
        <p:spPr>
          <a:xfrm>
            <a:off x="10466928" y="4281505"/>
            <a:ext cx="1161273" cy="198648"/>
          </a:xfrm>
          <a:prstGeom prst="round2Same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chemeClr val="bg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지역센터시스템</a:t>
            </a:r>
            <a:endParaRPr lang="ko-GY" sz="800" b="1" dirty="0">
              <a:solidFill>
                <a:schemeClr val="bg1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25D029E-D7BF-2FFE-038C-CB95A92F9136}"/>
              </a:ext>
            </a:extLst>
          </p:cNvPr>
          <p:cNvSpPr/>
          <p:nvPr/>
        </p:nvSpPr>
        <p:spPr>
          <a:xfrm>
            <a:off x="10466928" y="4480153"/>
            <a:ext cx="1161273" cy="61507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GY" sz="800" b="1" dirty="0">
              <a:solidFill>
                <a:schemeClr val="tx1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919C687B-398F-B0CE-AB93-416A16B2DA4B}"/>
              </a:ext>
            </a:extLst>
          </p:cNvPr>
          <p:cNvSpPr/>
          <p:nvPr/>
        </p:nvSpPr>
        <p:spPr>
          <a:xfrm>
            <a:off x="10515255" y="4523082"/>
            <a:ext cx="1064618" cy="241489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1"/>
            <a:r>
              <a:rPr lang="ko-KR" altLang="en-US" sz="700" b="1" dirty="0">
                <a:solidFill>
                  <a:schemeClr val="tx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대상자 정보관리</a:t>
            </a:r>
            <a:r>
              <a:rPr lang="en-US" altLang="ko-KR" sz="700" b="1" dirty="0">
                <a:solidFill>
                  <a:schemeClr val="tx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,</a:t>
            </a:r>
            <a:br>
              <a:rPr lang="en-US" altLang="ko-KR" sz="700" b="1" dirty="0">
                <a:solidFill>
                  <a:schemeClr val="tx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</a:br>
            <a:r>
              <a:rPr lang="ko-KR" altLang="en-US" sz="700" b="1" dirty="0">
                <a:solidFill>
                  <a:schemeClr val="tx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실적관리</a:t>
            </a:r>
            <a:endParaRPr lang="ko-GY" altLang="ko-KR" sz="700" b="1" dirty="0">
              <a:solidFill>
                <a:schemeClr val="tx1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C9BCB0CE-AE94-535A-9388-1E51DB9E07AB}"/>
              </a:ext>
            </a:extLst>
          </p:cNvPr>
          <p:cNvSpPr/>
          <p:nvPr/>
        </p:nvSpPr>
        <p:spPr>
          <a:xfrm>
            <a:off x="10515255" y="4805022"/>
            <a:ext cx="1064618" cy="241489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응급상황모니터링</a:t>
            </a:r>
            <a:endParaRPr lang="en-US" altLang="ko-KR" sz="700" b="1" dirty="0">
              <a:solidFill>
                <a:schemeClr val="tx1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긴급상황 대응</a:t>
            </a:r>
            <a:endParaRPr lang="ko-GY" altLang="ko-KR" sz="700" b="1" dirty="0">
              <a:solidFill>
                <a:schemeClr val="tx1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35" name="화살표: 왼쪽/오른쪽 34">
            <a:extLst>
              <a:ext uri="{FF2B5EF4-FFF2-40B4-BE49-F238E27FC236}">
                <a16:creationId xmlns:a16="http://schemas.microsoft.com/office/drawing/2014/main" id="{65D1CCB6-4B58-568E-2FAD-3DF2C1AC2319}"/>
              </a:ext>
            </a:extLst>
          </p:cNvPr>
          <p:cNvSpPr/>
          <p:nvPr/>
        </p:nvSpPr>
        <p:spPr>
          <a:xfrm rot="5400000">
            <a:off x="10896994" y="3220531"/>
            <a:ext cx="301141" cy="175622"/>
          </a:xfrm>
          <a:prstGeom prst="leftRight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화살표: 왼쪽/오른쪽 37">
            <a:extLst>
              <a:ext uri="{FF2B5EF4-FFF2-40B4-BE49-F238E27FC236}">
                <a16:creationId xmlns:a16="http://schemas.microsoft.com/office/drawing/2014/main" id="{BAB63CF1-E4F7-023E-3216-ABC90A575F8A}"/>
              </a:ext>
            </a:extLst>
          </p:cNvPr>
          <p:cNvSpPr/>
          <p:nvPr/>
        </p:nvSpPr>
        <p:spPr>
          <a:xfrm rot="5400000">
            <a:off x="10896994" y="4038340"/>
            <a:ext cx="301141" cy="175622"/>
          </a:xfrm>
          <a:prstGeom prst="leftRight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C79F1BE9-215B-DE6C-C0DE-86A6FBD97241}"/>
              </a:ext>
            </a:extLst>
          </p:cNvPr>
          <p:cNvSpPr/>
          <p:nvPr/>
        </p:nvSpPr>
        <p:spPr>
          <a:xfrm>
            <a:off x="10450086" y="5281481"/>
            <a:ext cx="1194957" cy="307777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>
                <a:solidFill>
                  <a:schemeClr val="tx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     </a:t>
            </a:r>
            <a:endParaRPr lang="ko-GY" sz="1000" b="1" dirty="0">
              <a:solidFill>
                <a:schemeClr val="tx1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130" name="직사각형 129">
            <a:extLst>
              <a:ext uri="{FF2B5EF4-FFF2-40B4-BE49-F238E27FC236}">
                <a16:creationId xmlns:a16="http://schemas.microsoft.com/office/drawing/2014/main" id="{24A52D51-B76B-98CD-D429-54E19D7D62B4}"/>
              </a:ext>
            </a:extLst>
          </p:cNvPr>
          <p:cNvSpPr/>
          <p:nvPr/>
        </p:nvSpPr>
        <p:spPr>
          <a:xfrm>
            <a:off x="10515255" y="5637820"/>
            <a:ext cx="1064618" cy="241489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대상자 자격 및 </a:t>
            </a:r>
            <a:br>
              <a:rPr lang="en-US" altLang="ko-KR" sz="700" b="1" dirty="0">
                <a:solidFill>
                  <a:schemeClr val="tx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</a:br>
            <a:r>
              <a:rPr lang="ko-KR" altLang="en-US" sz="700" b="1" dirty="0">
                <a:solidFill>
                  <a:schemeClr val="tx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이력 관리</a:t>
            </a:r>
            <a:endParaRPr lang="ko-GY" altLang="ko-KR" sz="700" b="1" dirty="0">
              <a:solidFill>
                <a:schemeClr val="tx1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2A751CC5-06B7-43EC-FD46-5098235A35AE}"/>
              </a:ext>
            </a:extLst>
          </p:cNvPr>
          <p:cNvSpPr/>
          <p:nvPr/>
        </p:nvSpPr>
        <p:spPr>
          <a:xfrm>
            <a:off x="10515255" y="5900851"/>
            <a:ext cx="1064618" cy="241489"/>
          </a:xfrm>
          <a:prstGeom prst="rect">
            <a:avLst/>
          </a:prstGeom>
          <a:solidFill>
            <a:schemeClr val="bg1"/>
          </a:solidFill>
          <a:ln w="3175">
            <a:solidFill>
              <a:schemeClr val="accent1">
                <a:shade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700" b="1" dirty="0">
                <a:solidFill>
                  <a:schemeClr val="tx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지자체 복지업무 지원</a:t>
            </a:r>
            <a:endParaRPr lang="ko-GY" altLang="ko-KR" sz="700" b="1" dirty="0">
              <a:solidFill>
                <a:schemeClr val="tx1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pic>
        <p:nvPicPr>
          <p:cNvPr id="160" name="그림 159">
            <a:extLst>
              <a:ext uri="{FF2B5EF4-FFF2-40B4-BE49-F238E27FC236}">
                <a16:creationId xmlns:a16="http://schemas.microsoft.com/office/drawing/2014/main" id="{0B62C74A-9C8E-C898-7917-7E032BE95E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31172" y="5285291"/>
            <a:ext cx="632785" cy="348831"/>
          </a:xfrm>
          <a:prstGeom prst="rect">
            <a:avLst/>
          </a:prstGeom>
        </p:spPr>
      </p:pic>
      <p:grpSp>
        <p:nvGrpSpPr>
          <p:cNvPr id="386" name="그룹 385">
            <a:extLst>
              <a:ext uri="{FF2B5EF4-FFF2-40B4-BE49-F238E27FC236}">
                <a16:creationId xmlns:a16="http://schemas.microsoft.com/office/drawing/2014/main" id="{50C44CDD-3472-C4A6-ACBD-DACD0DEE2DB4}"/>
              </a:ext>
            </a:extLst>
          </p:cNvPr>
          <p:cNvGrpSpPr/>
          <p:nvPr/>
        </p:nvGrpSpPr>
        <p:grpSpPr>
          <a:xfrm>
            <a:off x="363538" y="1236439"/>
            <a:ext cx="2669176" cy="5018637"/>
            <a:chOff x="388937" y="1236439"/>
            <a:chExt cx="2870519" cy="5018637"/>
          </a:xfrm>
        </p:grpSpPr>
        <p:sp>
          <p:nvSpPr>
            <p:cNvPr id="383" name="TextBox 382">
              <a:extLst>
                <a:ext uri="{FF2B5EF4-FFF2-40B4-BE49-F238E27FC236}">
                  <a16:creationId xmlns:a16="http://schemas.microsoft.com/office/drawing/2014/main" id="{E3EC3A88-35DF-6A58-26FD-5F0A67C1292E}"/>
                </a:ext>
              </a:extLst>
            </p:cNvPr>
            <p:cNvSpPr txBox="1"/>
            <p:nvPr/>
          </p:nvSpPr>
          <p:spPr>
            <a:xfrm>
              <a:off x="388939" y="1236439"/>
              <a:ext cx="2870517" cy="251032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 sz="1200">
                  <a:solidFill>
                    <a:schemeClr val="tx1"/>
                  </a:solidFill>
                  <a:latin typeface="NanumSquare" panose="020B0600000101010101" pitchFamily="34" charset="-127"/>
                  <a:ea typeface="NanumSquare" panose="020B0600000101010101" pitchFamily="34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 dirty="0"/>
                <a:t>연계기관 시스템</a:t>
              </a:r>
              <a:endParaRPr lang="en-US" altLang="ko-KR" dirty="0"/>
            </a:p>
          </p:txBody>
        </p:sp>
        <p:sp>
          <p:nvSpPr>
            <p:cNvPr id="384" name="직사각형 22">
              <a:extLst>
                <a:ext uri="{FF2B5EF4-FFF2-40B4-BE49-F238E27FC236}">
                  <a16:creationId xmlns:a16="http://schemas.microsoft.com/office/drawing/2014/main" id="{35B88C06-DAF8-358E-A6D0-6E78B41C1CBF}"/>
                </a:ext>
              </a:extLst>
            </p:cNvPr>
            <p:cNvSpPr/>
            <p:nvPr/>
          </p:nvSpPr>
          <p:spPr>
            <a:xfrm>
              <a:off x="388939" y="1539146"/>
              <a:ext cx="2870517" cy="4715930"/>
            </a:xfrm>
            <a:prstGeom prst="rect">
              <a:avLst/>
            </a:prstGeom>
            <a:solidFill>
              <a:schemeClr val="bg1"/>
            </a:solidFill>
            <a:ln w="6350" cap="flat" cmpd="sng" algn="ctr">
              <a:solidFill>
                <a:schemeClr val="bg1">
                  <a:lumMod val="65000"/>
                </a:schemeClr>
              </a:solidFill>
              <a:prstDash val="solid"/>
            </a:ln>
            <a:effectLst>
              <a:outerShdw dist="12700" dir="5400000" algn="t" rotWithShape="0">
                <a:schemeClr val="tx1">
                  <a:lumMod val="75000"/>
                  <a:lumOff val="25000"/>
                  <a:alpha val="20000"/>
                </a:schemeClr>
              </a:outerShdw>
            </a:effectLst>
          </p:spPr>
          <p:txBody>
            <a:bodyPr lIns="0" tIns="0" rIns="0" bIns="0" rtlCol="0" anchor="ctr" anchorCtr="0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  <a:buClr>
                  <a:srgbClr val="969696"/>
                </a:buClr>
                <a:buSzPts val="800"/>
              </a:pPr>
              <a:endParaRPr kumimoji="1" lang="ko-KR" altLang="en-US" sz="1000" dirty="0">
                <a:solidFill>
                  <a:srgbClr val="292929"/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굴림" pitchFamily="50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2B1BB44-8434-9F50-33AE-84074E89237D}"/>
                </a:ext>
              </a:extLst>
            </p:cNvPr>
            <p:cNvSpPr txBox="1"/>
            <p:nvPr/>
          </p:nvSpPr>
          <p:spPr>
            <a:xfrm>
              <a:off x="388937" y="1539146"/>
              <a:ext cx="2870515" cy="23108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 sz="900" b="1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/>
                <a:t>내부</a:t>
              </a:r>
              <a:endParaRPr lang="en-US" altLang="ko-KR" dirty="0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7F3F78F-8CDE-8EB7-0B11-5C879E1DC185}"/>
                </a:ext>
              </a:extLst>
            </p:cNvPr>
            <p:cNvSpPr txBox="1"/>
            <p:nvPr/>
          </p:nvSpPr>
          <p:spPr>
            <a:xfrm>
              <a:off x="388939" y="2963166"/>
              <a:ext cx="2870515" cy="23108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ko-KR"/>
              </a:defPPr>
              <a:lvl1pPr algn="ctr">
                <a:defRPr sz="900" b="1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ko-KR" altLang="en-US"/>
                <a:t>외부</a:t>
              </a:r>
              <a:endParaRPr lang="en-US" altLang="ko-KR" dirty="0"/>
            </a:p>
          </p:txBody>
        </p:sp>
        <p:pic>
          <p:nvPicPr>
            <p:cNvPr id="134" name="그림 133">
              <a:extLst>
                <a:ext uri="{FF2B5EF4-FFF2-40B4-BE49-F238E27FC236}">
                  <a16:creationId xmlns:a16="http://schemas.microsoft.com/office/drawing/2014/main" id="{3D383B30-C236-5503-E99B-9BD8042A00D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3722" y="2176757"/>
              <a:ext cx="431808" cy="398160"/>
            </a:xfrm>
            <a:prstGeom prst="rect">
              <a:avLst/>
            </a:prstGeom>
          </p:spPr>
        </p:pic>
        <p:pic>
          <p:nvPicPr>
            <p:cNvPr id="136" name="그림 135">
              <a:extLst>
                <a:ext uri="{FF2B5EF4-FFF2-40B4-BE49-F238E27FC236}">
                  <a16:creationId xmlns:a16="http://schemas.microsoft.com/office/drawing/2014/main" id="{8E04EA30-614C-0BF9-097E-530C57DFB7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r="77660"/>
            <a:stretch>
              <a:fillRect/>
            </a:stretch>
          </p:blipFill>
          <p:spPr>
            <a:xfrm>
              <a:off x="1292712" y="2182995"/>
              <a:ext cx="407501" cy="344986"/>
            </a:xfrm>
            <a:prstGeom prst="rect">
              <a:avLst/>
            </a:prstGeom>
          </p:spPr>
        </p:pic>
        <p:sp>
          <p:nvSpPr>
            <p:cNvPr id="141" name="직사각형 140">
              <a:extLst>
                <a:ext uri="{FF2B5EF4-FFF2-40B4-BE49-F238E27FC236}">
                  <a16:creationId xmlns:a16="http://schemas.microsoft.com/office/drawing/2014/main" id="{1089CA2C-4DB6-B49F-ABDA-2E23349FEB4B}"/>
                </a:ext>
              </a:extLst>
            </p:cNvPr>
            <p:cNvSpPr/>
            <p:nvPr/>
          </p:nvSpPr>
          <p:spPr>
            <a:xfrm>
              <a:off x="1254708" y="2520868"/>
              <a:ext cx="513767" cy="207531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활동량감지</a:t>
              </a:r>
              <a:endParaRPr lang="ko-GY" altLang="ko-KR" sz="7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42" name="직사각형 141">
              <a:extLst>
                <a:ext uri="{FF2B5EF4-FFF2-40B4-BE49-F238E27FC236}">
                  <a16:creationId xmlns:a16="http://schemas.microsoft.com/office/drawing/2014/main" id="{CD322D08-1969-D363-C2F5-1D29A3CAAD9B}"/>
                </a:ext>
              </a:extLst>
            </p:cNvPr>
            <p:cNvSpPr/>
            <p:nvPr/>
          </p:nvSpPr>
          <p:spPr>
            <a:xfrm>
              <a:off x="1721433" y="2520868"/>
              <a:ext cx="513767" cy="207531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화재감지</a:t>
              </a:r>
              <a:endParaRPr lang="ko-GY" altLang="ko-KR" sz="7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43" name="직사각형 142">
              <a:extLst>
                <a:ext uri="{FF2B5EF4-FFF2-40B4-BE49-F238E27FC236}">
                  <a16:creationId xmlns:a16="http://schemas.microsoft.com/office/drawing/2014/main" id="{EDE2C2E0-4767-AB1E-660C-0CE8A7583CDA}"/>
                </a:ext>
              </a:extLst>
            </p:cNvPr>
            <p:cNvSpPr/>
            <p:nvPr/>
          </p:nvSpPr>
          <p:spPr>
            <a:xfrm>
              <a:off x="2204033" y="2520868"/>
              <a:ext cx="513767" cy="207531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출입감지</a:t>
              </a:r>
              <a:endParaRPr lang="ko-GY" altLang="ko-KR" sz="7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144" name="직사각형 143">
              <a:extLst>
                <a:ext uri="{FF2B5EF4-FFF2-40B4-BE49-F238E27FC236}">
                  <a16:creationId xmlns:a16="http://schemas.microsoft.com/office/drawing/2014/main" id="{151455EB-22A9-9D0C-3549-964DBE5574C5}"/>
                </a:ext>
              </a:extLst>
            </p:cNvPr>
            <p:cNvSpPr/>
            <p:nvPr/>
          </p:nvSpPr>
          <p:spPr>
            <a:xfrm>
              <a:off x="2648533" y="2520868"/>
              <a:ext cx="513767" cy="207531"/>
            </a:xfrm>
            <a:prstGeom prst="rect">
              <a:avLst/>
            </a:prstGeom>
            <a:noFill/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응급호출</a:t>
              </a:r>
              <a:endParaRPr lang="ko-GY" altLang="ko-KR" sz="7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pic>
          <p:nvPicPr>
            <p:cNvPr id="147" name="그림 146">
              <a:extLst>
                <a:ext uri="{FF2B5EF4-FFF2-40B4-BE49-F238E27FC236}">
                  <a16:creationId xmlns:a16="http://schemas.microsoft.com/office/drawing/2014/main" id="{57CC3942-EE9C-1E7C-7239-0AAB611B55F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25483" r="52237"/>
            <a:stretch>
              <a:fillRect/>
            </a:stretch>
          </p:blipFill>
          <p:spPr>
            <a:xfrm>
              <a:off x="1779543" y="2182995"/>
              <a:ext cx="406400" cy="344986"/>
            </a:xfrm>
            <a:prstGeom prst="rect">
              <a:avLst/>
            </a:prstGeom>
          </p:spPr>
        </p:pic>
        <p:pic>
          <p:nvPicPr>
            <p:cNvPr id="148" name="그림 147">
              <a:extLst>
                <a:ext uri="{FF2B5EF4-FFF2-40B4-BE49-F238E27FC236}">
                  <a16:creationId xmlns:a16="http://schemas.microsoft.com/office/drawing/2014/main" id="{C376AA68-96B5-45D2-E2E6-D122F259E62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53037" r="27218"/>
            <a:stretch>
              <a:fillRect/>
            </a:stretch>
          </p:blipFill>
          <p:spPr>
            <a:xfrm>
              <a:off x="2265273" y="2182995"/>
              <a:ext cx="360154" cy="344986"/>
            </a:xfrm>
            <a:prstGeom prst="rect">
              <a:avLst/>
            </a:prstGeom>
          </p:spPr>
        </p:pic>
        <p:pic>
          <p:nvPicPr>
            <p:cNvPr id="149" name="그림 148">
              <a:extLst>
                <a:ext uri="{FF2B5EF4-FFF2-40B4-BE49-F238E27FC236}">
                  <a16:creationId xmlns:a16="http://schemas.microsoft.com/office/drawing/2014/main" id="{C1B992E8-78D3-EB71-DB2B-22C028B53EB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77224" r="1236"/>
            <a:stretch>
              <a:fillRect/>
            </a:stretch>
          </p:blipFill>
          <p:spPr>
            <a:xfrm>
              <a:off x="2704757" y="2182995"/>
              <a:ext cx="392906" cy="344986"/>
            </a:xfrm>
            <a:prstGeom prst="rect">
              <a:avLst/>
            </a:prstGeom>
          </p:spPr>
        </p:pic>
        <p:sp>
          <p:nvSpPr>
            <p:cNvPr id="202" name="양쪽 모서리가 둥근 사각형 74">
              <a:extLst>
                <a:ext uri="{FF2B5EF4-FFF2-40B4-BE49-F238E27FC236}">
                  <a16:creationId xmlns:a16="http://schemas.microsoft.com/office/drawing/2014/main" id="{C022504B-AA1B-A230-A5B8-16D1F380381A}"/>
                </a:ext>
              </a:extLst>
            </p:cNvPr>
            <p:cNvSpPr/>
            <p:nvPr/>
          </p:nvSpPr>
          <p:spPr>
            <a:xfrm>
              <a:off x="474160" y="1908032"/>
              <a:ext cx="731240" cy="198648"/>
            </a:xfrm>
            <a:prstGeom prst="round2Same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게이트웨이</a:t>
              </a:r>
              <a:endParaRPr lang="ko-GY" sz="800" b="1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203" name="직사각형 202">
              <a:extLst>
                <a:ext uri="{FF2B5EF4-FFF2-40B4-BE49-F238E27FC236}">
                  <a16:creationId xmlns:a16="http://schemas.microsoft.com/office/drawing/2014/main" id="{9C0BD891-2F42-1F7A-683B-F0FF46456267}"/>
                </a:ext>
              </a:extLst>
            </p:cNvPr>
            <p:cNvSpPr/>
            <p:nvPr/>
          </p:nvSpPr>
          <p:spPr>
            <a:xfrm>
              <a:off x="474160" y="2106680"/>
              <a:ext cx="731240" cy="661081"/>
            </a:xfrm>
            <a:prstGeom prst="rect">
              <a:avLst/>
            </a:prstGeom>
            <a:noFill/>
            <a:ln w="31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GY" sz="800" b="1" dirty="0">
                <a:solidFill>
                  <a:schemeClr val="tx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endParaRPr>
            </a:p>
          </p:txBody>
        </p:sp>
        <p:sp>
          <p:nvSpPr>
            <p:cNvPr id="205" name="양쪽 모서리가 둥근 사각형 74">
              <a:extLst>
                <a:ext uri="{FF2B5EF4-FFF2-40B4-BE49-F238E27FC236}">
                  <a16:creationId xmlns:a16="http://schemas.microsoft.com/office/drawing/2014/main" id="{57154C1F-8FE8-858E-EC3E-67BBAA311D59}"/>
                </a:ext>
              </a:extLst>
            </p:cNvPr>
            <p:cNvSpPr/>
            <p:nvPr/>
          </p:nvSpPr>
          <p:spPr>
            <a:xfrm>
              <a:off x="1239430" y="1909456"/>
              <a:ext cx="1922869" cy="198648"/>
            </a:xfrm>
            <a:prstGeom prst="round2Same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댁내 센서</a:t>
              </a:r>
              <a:endParaRPr lang="ko-GY" sz="800" b="1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  <p:sp>
          <p:nvSpPr>
            <p:cNvPr id="206" name="직사각형 205">
              <a:extLst>
                <a:ext uri="{FF2B5EF4-FFF2-40B4-BE49-F238E27FC236}">
                  <a16:creationId xmlns:a16="http://schemas.microsoft.com/office/drawing/2014/main" id="{0804D8DA-37D8-E1D7-9D17-A33B2F67CF66}"/>
                </a:ext>
              </a:extLst>
            </p:cNvPr>
            <p:cNvSpPr/>
            <p:nvPr/>
          </p:nvSpPr>
          <p:spPr>
            <a:xfrm>
              <a:off x="1239430" y="2108104"/>
              <a:ext cx="1922869" cy="661081"/>
            </a:xfrm>
            <a:prstGeom prst="rect">
              <a:avLst/>
            </a:prstGeom>
            <a:noFill/>
            <a:ln w="3175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GY" sz="800" b="1" dirty="0">
                <a:solidFill>
                  <a:schemeClr val="tx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endParaRPr>
            </a:p>
          </p:txBody>
        </p:sp>
        <p:grpSp>
          <p:nvGrpSpPr>
            <p:cNvPr id="211" name="그룹 210">
              <a:extLst>
                <a:ext uri="{FF2B5EF4-FFF2-40B4-BE49-F238E27FC236}">
                  <a16:creationId xmlns:a16="http://schemas.microsoft.com/office/drawing/2014/main" id="{7313BAED-8361-906F-C9E4-474365596FB0}"/>
                </a:ext>
              </a:extLst>
            </p:cNvPr>
            <p:cNvGrpSpPr/>
            <p:nvPr/>
          </p:nvGrpSpPr>
          <p:grpSpPr>
            <a:xfrm>
              <a:off x="472440" y="3319438"/>
              <a:ext cx="2697481" cy="426483"/>
              <a:chOff x="501884" y="3319438"/>
              <a:chExt cx="2609120" cy="426483"/>
            </a:xfrm>
          </p:grpSpPr>
          <p:sp>
            <p:nvSpPr>
              <p:cNvPr id="207" name="양쪽 모서리가 둥근 사각형 74">
                <a:extLst>
                  <a:ext uri="{FF2B5EF4-FFF2-40B4-BE49-F238E27FC236}">
                    <a16:creationId xmlns:a16="http://schemas.microsoft.com/office/drawing/2014/main" id="{D69F4B25-A580-12FC-A243-014C4AAA5964}"/>
                  </a:ext>
                </a:extLst>
              </p:cNvPr>
              <p:cNvSpPr/>
              <p:nvPr/>
            </p:nvSpPr>
            <p:spPr>
              <a:xfrm>
                <a:off x="501884" y="3319438"/>
                <a:ext cx="1257154" cy="198648"/>
              </a:xfrm>
              <a:prstGeom prst="round2Same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3175"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b="1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국민건강보험공단</a:t>
                </a:r>
                <a:endParaRPr lang="ko-GY" altLang="ko-KR" sz="800" b="1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  <p:sp>
            <p:nvSpPr>
              <p:cNvPr id="208" name="직사각형 207">
                <a:extLst>
                  <a:ext uri="{FF2B5EF4-FFF2-40B4-BE49-F238E27FC236}">
                    <a16:creationId xmlns:a16="http://schemas.microsoft.com/office/drawing/2014/main" id="{E0446014-6163-329A-8A42-1436B283A453}"/>
                  </a:ext>
                </a:extLst>
              </p:cNvPr>
              <p:cNvSpPr/>
              <p:nvPr/>
            </p:nvSpPr>
            <p:spPr>
              <a:xfrm>
                <a:off x="501884" y="3518086"/>
                <a:ext cx="1257154" cy="22783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" panose="020B0600000101010101" pitchFamily="50" charset="-127"/>
                    <a:ea typeface="나눔스퀘어" panose="020B0600000101010101" pitchFamily="50" charset="-127"/>
                    <a:cs typeface="+mn-cs"/>
                  </a:rPr>
                  <a:t>만성질환정보</a:t>
                </a:r>
                <a:r>
                  <a:rPr kumimoji="0" lang="en-US" altLang="ko-KR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" panose="020B0600000101010101" pitchFamily="50" charset="-127"/>
                    <a:ea typeface="나눔스퀘어" panose="020B0600000101010101" pitchFamily="50" charset="-127"/>
                    <a:cs typeface="+mn-cs"/>
                  </a:rPr>
                  <a:t>, </a:t>
                </a:r>
                <a:r>
                  <a:rPr kumimoji="0" lang="ko-KR" alt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" panose="020B0600000101010101" pitchFamily="50" charset="-127"/>
                    <a:ea typeface="나눔스퀘어" panose="020B0600000101010101" pitchFamily="50" charset="-127"/>
                    <a:cs typeface="+mn-cs"/>
                  </a:rPr>
                  <a:t>의약품 정보</a:t>
                </a:r>
                <a:endParaRPr lang="ko-GY" sz="800" b="1" dirty="0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endParaRPr>
              </a:p>
            </p:txBody>
          </p:sp>
          <p:sp>
            <p:nvSpPr>
              <p:cNvPr id="209" name="양쪽 모서리가 둥근 사각형 74">
                <a:extLst>
                  <a:ext uri="{FF2B5EF4-FFF2-40B4-BE49-F238E27FC236}">
                    <a16:creationId xmlns:a16="http://schemas.microsoft.com/office/drawing/2014/main" id="{3D5668A1-A377-6632-2571-007560E9F74C}"/>
                  </a:ext>
                </a:extLst>
              </p:cNvPr>
              <p:cNvSpPr/>
              <p:nvPr/>
            </p:nvSpPr>
            <p:spPr>
              <a:xfrm>
                <a:off x="1853849" y="3319438"/>
                <a:ext cx="1257154" cy="198648"/>
              </a:xfrm>
              <a:prstGeom prst="round2Same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3175"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b="1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건강보험심사평가원</a:t>
                </a:r>
                <a:endParaRPr lang="ko-GY" altLang="ko-KR" sz="800" b="1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  <p:sp>
            <p:nvSpPr>
              <p:cNvPr id="210" name="직사각형 209">
                <a:extLst>
                  <a:ext uri="{FF2B5EF4-FFF2-40B4-BE49-F238E27FC236}">
                    <a16:creationId xmlns:a16="http://schemas.microsoft.com/office/drawing/2014/main" id="{D830F873-9044-4535-D76C-F68A22DB8DE3}"/>
                  </a:ext>
                </a:extLst>
              </p:cNvPr>
              <p:cNvSpPr/>
              <p:nvPr/>
            </p:nvSpPr>
            <p:spPr>
              <a:xfrm>
                <a:off x="1853850" y="3518086"/>
                <a:ext cx="1257154" cy="22783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" panose="020B0600000101010101" pitchFamily="50" charset="-127"/>
                    <a:ea typeface="나눔스퀘어" panose="020B0600000101010101" pitchFamily="50" charset="-127"/>
                    <a:cs typeface="+mn-cs"/>
                  </a:rPr>
                  <a:t>개인처방</a:t>
                </a:r>
                <a:r>
                  <a:rPr kumimoji="0" lang="en-US" altLang="ko-KR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" panose="020B0600000101010101" pitchFamily="50" charset="-127"/>
                    <a:ea typeface="나눔스퀘어" panose="020B0600000101010101" pitchFamily="50" charset="-127"/>
                    <a:cs typeface="+mn-cs"/>
                  </a:rPr>
                  <a:t>, </a:t>
                </a:r>
                <a:r>
                  <a:rPr kumimoji="0" lang="ko-KR" alt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" panose="020B0600000101010101" pitchFamily="50" charset="-127"/>
                    <a:ea typeface="나눔스퀘어" panose="020B0600000101010101" pitchFamily="50" charset="-127"/>
                    <a:cs typeface="+mn-cs"/>
                  </a:rPr>
                  <a:t>다빈도 상병통계</a:t>
                </a:r>
                <a:r>
                  <a:rPr kumimoji="0" lang="en-US" altLang="ko-KR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" panose="020B0600000101010101" pitchFamily="50" charset="-127"/>
                    <a:ea typeface="나눔스퀘어" panose="020B0600000101010101" pitchFamily="50" charset="-127"/>
                    <a:cs typeface="+mn-cs"/>
                  </a:rPr>
                  <a:t>, </a:t>
                </a:r>
                <a:br>
                  <a:rPr kumimoji="0" lang="en-US" altLang="ko-KR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" panose="020B0600000101010101" pitchFamily="50" charset="-127"/>
                    <a:ea typeface="나눔스퀘어" panose="020B0600000101010101" pitchFamily="50" charset="-127"/>
                    <a:cs typeface="+mn-cs"/>
                  </a:rPr>
                </a:br>
                <a:r>
                  <a:rPr kumimoji="0" lang="ko-KR" altLang="en-US" sz="7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나눔스퀘어" panose="020B0600000101010101" pitchFamily="50" charset="-127"/>
                    <a:ea typeface="나눔스퀘어" panose="020B0600000101010101" pitchFamily="50" charset="-127"/>
                    <a:cs typeface="+mn-cs"/>
                  </a:rPr>
                  <a:t>실시간 병원응급실 병상정보</a:t>
                </a:r>
                <a:endParaRPr lang="ko-GY" sz="800" b="1" dirty="0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endParaRPr>
              </a:p>
            </p:txBody>
          </p:sp>
        </p:grpSp>
        <p:grpSp>
          <p:nvGrpSpPr>
            <p:cNvPr id="212" name="그룹 211">
              <a:extLst>
                <a:ext uri="{FF2B5EF4-FFF2-40B4-BE49-F238E27FC236}">
                  <a16:creationId xmlns:a16="http://schemas.microsoft.com/office/drawing/2014/main" id="{79C09300-BCF7-1853-F3CB-8A248E9A2978}"/>
                </a:ext>
              </a:extLst>
            </p:cNvPr>
            <p:cNvGrpSpPr/>
            <p:nvPr/>
          </p:nvGrpSpPr>
          <p:grpSpPr>
            <a:xfrm>
              <a:off x="472440" y="3915878"/>
              <a:ext cx="2697481" cy="426483"/>
              <a:chOff x="501884" y="3319438"/>
              <a:chExt cx="2609120" cy="426483"/>
            </a:xfrm>
          </p:grpSpPr>
          <p:sp>
            <p:nvSpPr>
              <p:cNvPr id="213" name="양쪽 모서리가 둥근 사각형 74">
                <a:extLst>
                  <a:ext uri="{FF2B5EF4-FFF2-40B4-BE49-F238E27FC236}">
                    <a16:creationId xmlns:a16="http://schemas.microsoft.com/office/drawing/2014/main" id="{B6FC2DD8-3243-D4E2-5C24-E0848CBE3F3F}"/>
                  </a:ext>
                </a:extLst>
              </p:cNvPr>
              <p:cNvSpPr/>
              <p:nvPr/>
            </p:nvSpPr>
            <p:spPr>
              <a:xfrm>
                <a:off x="501884" y="3319438"/>
                <a:ext cx="1257154" cy="198648"/>
              </a:xfrm>
              <a:prstGeom prst="round2Same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3175"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b="1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행정안전부</a:t>
                </a:r>
                <a:endParaRPr lang="ko-GY" altLang="ko-KR" sz="800" b="1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  <p:sp>
            <p:nvSpPr>
              <p:cNvPr id="214" name="직사각형 213">
                <a:extLst>
                  <a:ext uri="{FF2B5EF4-FFF2-40B4-BE49-F238E27FC236}">
                    <a16:creationId xmlns:a16="http://schemas.microsoft.com/office/drawing/2014/main" id="{C5E05FBC-23E1-6954-65A5-491F18B8FC5F}"/>
                  </a:ext>
                </a:extLst>
              </p:cNvPr>
              <p:cNvSpPr/>
              <p:nvPr/>
            </p:nvSpPr>
            <p:spPr>
              <a:xfrm>
                <a:off x="501884" y="3518086"/>
                <a:ext cx="1257154" cy="22783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>
                  <a:defRPr/>
                </a:pPr>
                <a:r>
                  <a:rPr lang="ko-KR" altLang="en-US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지역별 안전지수</a:t>
                </a:r>
                <a:endParaRPr lang="ko-GY" sz="800" b="1" dirty="0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endParaRPr>
              </a:p>
            </p:txBody>
          </p:sp>
          <p:sp>
            <p:nvSpPr>
              <p:cNvPr id="215" name="양쪽 모서리가 둥근 사각형 74">
                <a:extLst>
                  <a:ext uri="{FF2B5EF4-FFF2-40B4-BE49-F238E27FC236}">
                    <a16:creationId xmlns:a16="http://schemas.microsoft.com/office/drawing/2014/main" id="{C1B41DF9-58A2-5F6C-DE25-BA74D08E46B0}"/>
                  </a:ext>
                </a:extLst>
              </p:cNvPr>
              <p:cNvSpPr/>
              <p:nvPr/>
            </p:nvSpPr>
            <p:spPr>
              <a:xfrm>
                <a:off x="1853849" y="3319438"/>
                <a:ext cx="1257154" cy="198648"/>
              </a:xfrm>
              <a:prstGeom prst="round2Same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3175"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b="1" dirty="0" err="1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소방청</a:t>
                </a:r>
                <a:endParaRPr lang="ko-GY" altLang="ko-KR" sz="800" b="1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  <p:sp>
            <p:nvSpPr>
              <p:cNvPr id="216" name="직사각형 215">
                <a:extLst>
                  <a:ext uri="{FF2B5EF4-FFF2-40B4-BE49-F238E27FC236}">
                    <a16:creationId xmlns:a16="http://schemas.microsoft.com/office/drawing/2014/main" id="{CB157DDE-BB1E-34F4-D3A3-06915328D27D}"/>
                  </a:ext>
                </a:extLst>
              </p:cNvPr>
              <p:cNvSpPr/>
              <p:nvPr/>
            </p:nvSpPr>
            <p:spPr>
              <a:xfrm>
                <a:off x="1853850" y="3518086"/>
                <a:ext cx="1257154" cy="22783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>
                  <a:defRPr/>
                </a:pPr>
                <a:r>
                  <a:rPr lang="ko-KR" altLang="en-US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구급차  위치정보</a:t>
                </a:r>
                <a:r>
                  <a:rPr lang="en-US" altLang="ko-KR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/</a:t>
                </a:r>
                <a:r>
                  <a:rPr lang="ko-KR" altLang="en-US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출동상태</a:t>
                </a:r>
                <a:endParaRPr lang="ko-GY" sz="800" b="1" dirty="0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endParaRPr>
              </a:p>
            </p:txBody>
          </p:sp>
        </p:grpSp>
        <p:grpSp>
          <p:nvGrpSpPr>
            <p:cNvPr id="217" name="그룹 216">
              <a:extLst>
                <a:ext uri="{FF2B5EF4-FFF2-40B4-BE49-F238E27FC236}">
                  <a16:creationId xmlns:a16="http://schemas.microsoft.com/office/drawing/2014/main" id="{8DB0DEE1-6D18-56AB-1D02-B78AF011DBEC}"/>
                </a:ext>
              </a:extLst>
            </p:cNvPr>
            <p:cNvGrpSpPr/>
            <p:nvPr/>
          </p:nvGrpSpPr>
          <p:grpSpPr>
            <a:xfrm>
              <a:off x="472440" y="4512318"/>
              <a:ext cx="2697481" cy="426483"/>
              <a:chOff x="501884" y="3319438"/>
              <a:chExt cx="2609120" cy="426483"/>
            </a:xfrm>
          </p:grpSpPr>
          <p:sp>
            <p:nvSpPr>
              <p:cNvPr id="218" name="양쪽 모서리가 둥근 사각형 74">
                <a:extLst>
                  <a:ext uri="{FF2B5EF4-FFF2-40B4-BE49-F238E27FC236}">
                    <a16:creationId xmlns:a16="http://schemas.microsoft.com/office/drawing/2014/main" id="{C5A8D702-CE4B-EBC4-53D0-79EF15F5115F}"/>
                  </a:ext>
                </a:extLst>
              </p:cNvPr>
              <p:cNvSpPr/>
              <p:nvPr/>
            </p:nvSpPr>
            <p:spPr>
              <a:xfrm>
                <a:off x="501884" y="3319438"/>
                <a:ext cx="1257154" cy="198648"/>
              </a:xfrm>
              <a:prstGeom prst="round2Same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3175"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b="1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국토교통부</a:t>
                </a:r>
                <a:r>
                  <a:rPr lang="en-US" altLang="ko-KR" sz="800" b="1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, </a:t>
                </a:r>
                <a:r>
                  <a:rPr lang="ko-KR" altLang="en-US" sz="800" b="1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경찰청</a:t>
                </a:r>
                <a:endParaRPr lang="ko-GY" altLang="ko-KR" sz="800" b="1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  <p:sp>
            <p:nvSpPr>
              <p:cNvPr id="219" name="직사각형 218">
                <a:extLst>
                  <a:ext uri="{FF2B5EF4-FFF2-40B4-BE49-F238E27FC236}">
                    <a16:creationId xmlns:a16="http://schemas.microsoft.com/office/drawing/2014/main" id="{66EF0928-5ADE-EE99-418C-64288722359B}"/>
                  </a:ext>
                </a:extLst>
              </p:cNvPr>
              <p:cNvSpPr/>
              <p:nvPr/>
            </p:nvSpPr>
            <p:spPr>
              <a:xfrm>
                <a:off x="501884" y="3518086"/>
                <a:ext cx="1257154" cy="22783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>
                  <a:defRPr/>
                </a:pPr>
                <a:r>
                  <a:rPr lang="ko-KR" altLang="en-US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실시간 도로교통정보</a:t>
                </a:r>
                <a:endParaRPr lang="ko-GY" sz="800" b="1" dirty="0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endParaRPr>
              </a:p>
            </p:txBody>
          </p:sp>
          <p:sp>
            <p:nvSpPr>
              <p:cNvPr id="220" name="양쪽 모서리가 둥근 사각형 74">
                <a:extLst>
                  <a:ext uri="{FF2B5EF4-FFF2-40B4-BE49-F238E27FC236}">
                    <a16:creationId xmlns:a16="http://schemas.microsoft.com/office/drawing/2014/main" id="{A028CFBE-8780-62BE-DA53-947B9827E693}"/>
                  </a:ext>
                </a:extLst>
              </p:cNvPr>
              <p:cNvSpPr/>
              <p:nvPr/>
            </p:nvSpPr>
            <p:spPr>
              <a:xfrm>
                <a:off x="1853849" y="3319438"/>
                <a:ext cx="1257154" cy="198648"/>
              </a:xfrm>
              <a:prstGeom prst="round2Same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3175"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b="1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식품의약품안전처</a:t>
                </a:r>
                <a:endParaRPr lang="ko-GY" altLang="ko-KR" sz="800" b="1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  <p:sp>
            <p:nvSpPr>
              <p:cNvPr id="221" name="직사각형 220">
                <a:extLst>
                  <a:ext uri="{FF2B5EF4-FFF2-40B4-BE49-F238E27FC236}">
                    <a16:creationId xmlns:a16="http://schemas.microsoft.com/office/drawing/2014/main" id="{6E0E35DA-1E0A-93B6-4DB8-6E64C02FAE3C}"/>
                  </a:ext>
                </a:extLst>
              </p:cNvPr>
              <p:cNvSpPr/>
              <p:nvPr/>
            </p:nvSpPr>
            <p:spPr>
              <a:xfrm>
                <a:off x="1853850" y="3518086"/>
                <a:ext cx="1257154" cy="22783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>
                  <a:defRPr/>
                </a:pPr>
                <a:r>
                  <a:rPr lang="ko-KR" altLang="en-US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의약품 상세정보</a:t>
                </a:r>
                <a:endParaRPr lang="ko-GY" sz="800" b="1" dirty="0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endParaRPr>
              </a:p>
            </p:txBody>
          </p:sp>
        </p:grpSp>
        <p:grpSp>
          <p:nvGrpSpPr>
            <p:cNvPr id="222" name="그룹 221">
              <a:extLst>
                <a:ext uri="{FF2B5EF4-FFF2-40B4-BE49-F238E27FC236}">
                  <a16:creationId xmlns:a16="http://schemas.microsoft.com/office/drawing/2014/main" id="{0882879A-3B6E-B049-6370-82C367A49A52}"/>
                </a:ext>
              </a:extLst>
            </p:cNvPr>
            <p:cNvGrpSpPr/>
            <p:nvPr/>
          </p:nvGrpSpPr>
          <p:grpSpPr>
            <a:xfrm>
              <a:off x="472440" y="5108758"/>
              <a:ext cx="2697481" cy="426483"/>
              <a:chOff x="501884" y="3319438"/>
              <a:chExt cx="2609120" cy="426483"/>
            </a:xfrm>
          </p:grpSpPr>
          <p:sp>
            <p:nvSpPr>
              <p:cNvPr id="223" name="양쪽 모서리가 둥근 사각형 74">
                <a:extLst>
                  <a:ext uri="{FF2B5EF4-FFF2-40B4-BE49-F238E27FC236}">
                    <a16:creationId xmlns:a16="http://schemas.microsoft.com/office/drawing/2014/main" id="{F2F2AF13-F7F1-625F-7EE8-24C33CC596D8}"/>
                  </a:ext>
                </a:extLst>
              </p:cNvPr>
              <p:cNvSpPr/>
              <p:nvPr/>
            </p:nvSpPr>
            <p:spPr>
              <a:xfrm>
                <a:off x="501884" y="3319438"/>
                <a:ext cx="1257154" cy="198648"/>
              </a:xfrm>
              <a:prstGeom prst="round2Same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3175"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b="1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통계청</a:t>
                </a:r>
                <a:endParaRPr lang="ko-GY" altLang="ko-KR" sz="800" b="1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  <p:sp>
            <p:nvSpPr>
              <p:cNvPr id="224" name="직사각형 223">
                <a:extLst>
                  <a:ext uri="{FF2B5EF4-FFF2-40B4-BE49-F238E27FC236}">
                    <a16:creationId xmlns:a16="http://schemas.microsoft.com/office/drawing/2014/main" id="{FFCEDDFB-2C7E-D9B5-F0E3-16400924158B}"/>
                  </a:ext>
                </a:extLst>
              </p:cNvPr>
              <p:cNvSpPr/>
              <p:nvPr/>
            </p:nvSpPr>
            <p:spPr>
              <a:xfrm>
                <a:off x="501884" y="3518086"/>
                <a:ext cx="1257154" cy="22783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>
                  <a:defRPr/>
                </a:pPr>
                <a:r>
                  <a:rPr lang="ko-KR" altLang="en-US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고령인구 분포</a:t>
                </a:r>
                <a:r>
                  <a:rPr lang="en-US" altLang="ko-KR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, </a:t>
                </a:r>
                <a:r>
                  <a:rPr lang="ko-KR" altLang="en-US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고독사 통계</a:t>
                </a:r>
                <a:endParaRPr lang="ko-GY" sz="800" b="1" dirty="0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endParaRPr>
              </a:p>
            </p:txBody>
          </p:sp>
          <p:sp>
            <p:nvSpPr>
              <p:cNvPr id="225" name="양쪽 모서리가 둥근 사각형 74">
                <a:extLst>
                  <a:ext uri="{FF2B5EF4-FFF2-40B4-BE49-F238E27FC236}">
                    <a16:creationId xmlns:a16="http://schemas.microsoft.com/office/drawing/2014/main" id="{97CEE7FB-38D2-DD77-FA53-4084E35D812E}"/>
                  </a:ext>
                </a:extLst>
              </p:cNvPr>
              <p:cNvSpPr/>
              <p:nvPr/>
            </p:nvSpPr>
            <p:spPr>
              <a:xfrm>
                <a:off x="1853849" y="3319438"/>
                <a:ext cx="1257154" cy="198648"/>
              </a:xfrm>
              <a:prstGeom prst="round2Same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3175"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b="1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기상청</a:t>
                </a:r>
                <a:endParaRPr lang="ko-GY" altLang="ko-KR" sz="800" b="1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  <p:sp>
            <p:nvSpPr>
              <p:cNvPr id="226" name="직사각형 225">
                <a:extLst>
                  <a:ext uri="{FF2B5EF4-FFF2-40B4-BE49-F238E27FC236}">
                    <a16:creationId xmlns:a16="http://schemas.microsoft.com/office/drawing/2014/main" id="{D4AE1F6C-269E-A520-BA90-C1FB9C1CC705}"/>
                  </a:ext>
                </a:extLst>
              </p:cNvPr>
              <p:cNvSpPr/>
              <p:nvPr/>
            </p:nvSpPr>
            <p:spPr>
              <a:xfrm>
                <a:off x="1853850" y="3518086"/>
                <a:ext cx="1257154" cy="22783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>
                  <a:defRPr/>
                </a:pPr>
                <a:r>
                  <a:rPr lang="ko-KR" altLang="en-US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실시간 기상특보</a:t>
                </a:r>
                <a:endParaRPr lang="ko-GY" sz="800" b="1" dirty="0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endParaRPr>
              </a:p>
            </p:txBody>
          </p:sp>
        </p:grpSp>
        <p:grpSp>
          <p:nvGrpSpPr>
            <p:cNvPr id="227" name="그룹 226">
              <a:extLst>
                <a:ext uri="{FF2B5EF4-FFF2-40B4-BE49-F238E27FC236}">
                  <a16:creationId xmlns:a16="http://schemas.microsoft.com/office/drawing/2014/main" id="{557D007C-1C1F-1885-B214-0200C3BA447F}"/>
                </a:ext>
              </a:extLst>
            </p:cNvPr>
            <p:cNvGrpSpPr/>
            <p:nvPr/>
          </p:nvGrpSpPr>
          <p:grpSpPr>
            <a:xfrm>
              <a:off x="472440" y="5705198"/>
              <a:ext cx="2697481" cy="426483"/>
              <a:chOff x="501884" y="3319438"/>
              <a:chExt cx="2609120" cy="426483"/>
            </a:xfrm>
          </p:grpSpPr>
          <p:sp>
            <p:nvSpPr>
              <p:cNvPr id="228" name="양쪽 모서리가 둥근 사각형 74">
                <a:extLst>
                  <a:ext uri="{FF2B5EF4-FFF2-40B4-BE49-F238E27FC236}">
                    <a16:creationId xmlns:a16="http://schemas.microsoft.com/office/drawing/2014/main" id="{8F9FAC9D-A95B-DED4-E226-CA5090BECC9C}"/>
                  </a:ext>
                </a:extLst>
              </p:cNvPr>
              <p:cNvSpPr/>
              <p:nvPr/>
            </p:nvSpPr>
            <p:spPr>
              <a:xfrm>
                <a:off x="501884" y="3319438"/>
                <a:ext cx="1257154" cy="198648"/>
              </a:xfrm>
              <a:prstGeom prst="round2Same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3175"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b="1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치매안심센터</a:t>
                </a:r>
                <a:endParaRPr lang="ko-GY" altLang="ko-KR" sz="800" b="1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  <p:sp>
            <p:nvSpPr>
              <p:cNvPr id="229" name="직사각형 228">
                <a:extLst>
                  <a:ext uri="{FF2B5EF4-FFF2-40B4-BE49-F238E27FC236}">
                    <a16:creationId xmlns:a16="http://schemas.microsoft.com/office/drawing/2014/main" id="{A05D94D3-38BF-D4F6-0071-156D8427B3D3}"/>
                  </a:ext>
                </a:extLst>
              </p:cNvPr>
              <p:cNvSpPr/>
              <p:nvPr/>
            </p:nvSpPr>
            <p:spPr>
              <a:xfrm>
                <a:off x="501884" y="3518086"/>
                <a:ext cx="1257154" cy="22783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>
                  <a:defRPr/>
                </a:pPr>
                <a:r>
                  <a:rPr lang="ko-KR" altLang="en-US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인지강화프로그램</a:t>
                </a:r>
                <a:r>
                  <a:rPr lang="en-US" altLang="ko-KR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, </a:t>
                </a:r>
                <a:r>
                  <a:rPr lang="ko-KR" altLang="en-US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상담사례</a:t>
                </a:r>
                <a:endParaRPr lang="ko-GY" sz="800" b="1" dirty="0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endParaRPr>
              </a:p>
            </p:txBody>
          </p:sp>
          <p:sp>
            <p:nvSpPr>
              <p:cNvPr id="230" name="양쪽 모서리가 둥근 사각형 74">
                <a:extLst>
                  <a:ext uri="{FF2B5EF4-FFF2-40B4-BE49-F238E27FC236}">
                    <a16:creationId xmlns:a16="http://schemas.microsoft.com/office/drawing/2014/main" id="{597A86EF-8D60-A42D-4C4A-0B6C9B355834}"/>
                  </a:ext>
                </a:extLst>
              </p:cNvPr>
              <p:cNvSpPr/>
              <p:nvPr/>
            </p:nvSpPr>
            <p:spPr>
              <a:xfrm>
                <a:off x="1853849" y="3319438"/>
                <a:ext cx="1257154" cy="198648"/>
              </a:xfrm>
              <a:prstGeom prst="round2Same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 w="3175">
                <a:solidFill>
                  <a:schemeClr val="accent1">
                    <a:shade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700" b="1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국가</a:t>
                </a:r>
                <a:r>
                  <a:rPr lang="en-US" altLang="ko-KR" sz="700" b="1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AI</a:t>
                </a:r>
                <a:r>
                  <a:rPr lang="ko-KR" altLang="en-US" sz="700" b="1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개발플랫폼 </a:t>
                </a:r>
                <a:r>
                  <a:rPr lang="en-US" altLang="ko-KR" sz="700" b="1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(AI</a:t>
                </a:r>
                <a:r>
                  <a:rPr lang="ko-KR" altLang="en-US" sz="700" b="1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 </a:t>
                </a:r>
                <a:r>
                  <a:rPr lang="en-US" altLang="ko-KR" sz="700" b="1" dirty="0">
                    <a:solidFill>
                      <a:schemeClr val="tx1"/>
                    </a:solidFill>
                    <a:latin typeface="나눔스퀘어 Bold" panose="020B0600000101010101" pitchFamily="50" charset="-127"/>
                    <a:ea typeface="나눔스퀘어 Bold" panose="020B0600000101010101" pitchFamily="50" charset="-127"/>
                  </a:rPr>
                  <a:t>Hub)</a:t>
                </a:r>
                <a:endParaRPr lang="ko-GY" altLang="ko-KR" sz="700" b="1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endParaRPr>
              </a:p>
            </p:txBody>
          </p:sp>
          <p:sp>
            <p:nvSpPr>
              <p:cNvPr id="231" name="직사각형 230">
                <a:extLst>
                  <a:ext uri="{FF2B5EF4-FFF2-40B4-BE49-F238E27FC236}">
                    <a16:creationId xmlns:a16="http://schemas.microsoft.com/office/drawing/2014/main" id="{FA5F8386-379A-CAFE-5E1C-15434C60376B}"/>
                  </a:ext>
                </a:extLst>
              </p:cNvPr>
              <p:cNvSpPr/>
              <p:nvPr/>
            </p:nvSpPr>
            <p:spPr>
              <a:xfrm>
                <a:off x="1853850" y="3518086"/>
                <a:ext cx="1257154" cy="22783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3175">
                <a:solidFill>
                  <a:schemeClr val="bg2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 algn="ctr">
                  <a:defRPr/>
                </a:pPr>
                <a:r>
                  <a:rPr lang="ko-KR" altLang="en-US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시니어 </a:t>
                </a:r>
                <a:r>
                  <a:rPr lang="ko-KR" altLang="en-US" sz="700" dirty="0" err="1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돌봄대화</a:t>
                </a:r>
                <a:r>
                  <a:rPr lang="en-US" altLang="ko-KR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, </a:t>
                </a:r>
                <a:r>
                  <a:rPr lang="ko-KR" altLang="en-US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한국어셋</a:t>
                </a:r>
                <a:endParaRPr lang="ko-GY" sz="800" b="1" dirty="0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endParaRPr>
              </a:p>
            </p:txBody>
          </p:sp>
        </p:grpSp>
      </p:grpSp>
      <p:sp>
        <p:nvSpPr>
          <p:cNvPr id="379" name="TextBox 378">
            <a:extLst>
              <a:ext uri="{FF2B5EF4-FFF2-40B4-BE49-F238E27FC236}">
                <a16:creationId xmlns:a16="http://schemas.microsoft.com/office/drawing/2014/main" id="{FBF2BAC1-C144-5422-2BD3-BE09A26DE9FA}"/>
              </a:ext>
            </a:extLst>
          </p:cNvPr>
          <p:cNvSpPr txBox="1"/>
          <p:nvPr/>
        </p:nvSpPr>
        <p:spPr>
          <a:xfrm>
            <a:off x="3146472" y="1236439"/>
            <a:ext cx="7057979" cy="25103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algn="ctr">
              <a:defRPr sz="1200">
                <a:solidFill>
                  <a:schemeClr val="tx1"/>
                </a:solidFill>
                <a:latin typeface="NanumSquare" panose="020B0600000101010101" pitchFamily="34" charset="-127"/>
                <a:ea typeface="NanumSquare" panose="020B0600000101010101" pitchFamily="34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AI </a:t>
            </a:r>
            <a:r>
              <a:rPr lang="ko-KR" altLang="en-US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기반 응급안전안심 시스템</a:t>
            </a:r>
            <a:endParaRPr lang="en-US" altLang="ko-KR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381" name="직사각형 22">
            <a:extLst>
              <a:ext uri="{FF2B5EF4-FFF2-40B4-BE49-F238E27FC236}">
                <a16:creationId xmlns:a16="http://schemas.microsoft.com/office/drawing/2014/main" id="{9C71F1D5-F050-5565-4424-BC768E2A58D8}"/>
              </a:ext>
            </a:extLst>
          </p:cNvPr>
          <p:cNvSpPr/>
          <p:nvPr/>
        </p:nvSpPr>
        <p:spPr>
          <a:xfrm>
            <a:off x="3134325" y="1551846"/>
            <a:ext cx="7057978" cy="4715929"/>
          </a:xfrm>
          <a:prstGeom prst="rect">
            <a:avLst/>
          </a:prstGeom>
          <a:solidFill>
            <a:schemeClr val="bg1"/>
          </a:solidFill>
          <a:ln w="6350" cap="flat" cmpd="sng" algn="ctr">
            <a:solidFill>
              <a:schemeClr val="bg1">
                <a:lumMod val="65000"/>
              </a:schemeClr>
            </a:solidFill>
            <a:prstDash val="solid"/>
          </a:ln>
          <a:effectLst>
            <a:outerShdw dist="12700" dir="5400000" algn="t" rotWithShape="0">
              <a:schemeClr val="tx1">
                <a:lumMod val="75000"/>
                <a:lumOff val="25000"/>
                <a:alpha val="20000"/>
              </a:schemeClr>
            </a:outerShdw>
          </a:effectLst>
        </p:spPr>
        <p:txBody>
          <a:bodyPr lIns="0" tIns="0" rIns="0" bIns="0" rtlCol="0" anchor="ctr" anchorCtr="0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buClr>
                <a:srgbClr val="969696"/>
              </a:buClr>
              <a:buSzPts val="800"/>
            </a:pPr>
            <a:endParaRPr kumimoji="1" lang="ko-KR" altLang="en-US" sz="1000" dirty="0">
              <a:solidFill>
                <a:srgbClr val="292929"/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굴림" pitchFamily="50" charset="-127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AB620DE3-A77F-3834-7DE2-B084505FBA01}"/>
              </a:ext>
            </a:extLst>
          </p:cNvPr>
          <p:cNvSpPr/>
          <p:nvPr/>
        </p:nvSpPr>
        <p:spPr>
          <a:xfrm>
            <a:off x="3610192" y="1615946"/>
            <a:ext cx="6505910" cy="1112453"/>
          </a:xfrm>
          <a:prstGeom prst="roundRect">
            <a:avLst>
              <a:gd name="adj" fmla="val 6572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1">
              <a:solidFill>
                <a:schemeClr val="tx1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57" name="양쪽 모서리가 둥근 사각형 56">
            <a:extLst>
              <a:ext uri="{FF2B5EF4-FFF2-40B4-BE49-F238E27FC236}">
                <a16:creationId xmlns:a16="http://schemas.microsoft.com/office/drawing/2014/main" id="{B59D399D-6078-9C3C-2D5D-1F4C79A99E69}"/>
              </a:ext>
            </a:extLst>
          </p:cNvPr>
          <p:cNvSpPr/>
          <p:nvPr/>
        </p:nvSpPr>
        <p:spPr>
          <a:xfrm>
            <a:off x="8509938" y="5006880"/>
            <a:ext cx="635999" cy="196850"/>
          </a:xfrm>
          <a:prstGeom prst="round2Same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b="1" dirty="0">
                <a:solidFill>
                  <a:schemeClr val="tx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STEP </a:t>
            </a:r>
            <a:r>
              <a:rPr lang="en-US" altLang="ko-KR" sz="800" b="1" dirty="0">
                <a:solidFill>
                  <a:schemeClr val="tx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3</a:t>
            </a:r>
            <a:endParaRPr lang="ko-GY" sz="800" b="1" dirty="0">
              <a:solidFill>
                <a:schemeClr val="tx1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890B980D-5B5C-CA79-E682-85443BCD999A}"/>
              </a:ext>
            </a:extLst>
          </p:cNvPr>
          <p:cNvSpPr/>
          <p:nvPr/>
        </p:nvSpPr>
        <p:spPr>
          <a:xfrm>
            <a:off x="8509938" y="5203730"/>
            <a:ext cx="635999" cy="317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상황접수</a:t>
            </a:r>
            <a:r>
              <a:rPr lang="en-US" altLang="ko-KR" sz="800" b="1" dirty="0">
                <a:solidFill>
                  <a:schemeClr val="tx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/</a:t>
            </a:r>
            <a:r>
              <a:rPr lang="ko-KR" altLang="en-US" sz="800" b="1" dirty="0">
                <a:solidFill>
                  <a:schemeClr val="tx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판단</a:t>
            </a:r>
            <a:endParaRPr lang="ko-GY" sz="800" b="1" dirty="0">
              <a:solidFill>
                <a:schemeClr val="tx1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166" name="사각형: 둥근 모서리 165">
            <a:extLst>
              <a:ext uri="{FF2B5EF4-FFF2-40B4-BE49-F238E27FC236}">
                <a16:creationId xmlns:a16="http://schemas.microsoft.com/office/drawing/2014/main" id="{E3B874FB-ABE1-DDB1-91EA-D42E44CA9033}"/>
              </a:ext>
            </a:extLst>
          </p:cNvPr>
          <p:cNvSpPr/>
          <p:nvPr/>
        </p:nvSpPr>
        <p:spPr>
          <a:xfrm>
            <a:off x="3610193" y="4297770"/>
            <a:ext cx="6505910" cy="1347190"/>
          </a:xfrm>
          <a:prstGeom prst="roundRect">
            <a:avLst>
              <a:gd name="adj" fmla="val 252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1">
              <a:solidFill>
                <a:schemeClr val="tx1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167" name="사각형: 둥근 모서리 166">
            <a:extLst>
              <a:ext uri="{FF2B5EF4-FFF2-40B4-BE49-F238E27FC236}">
                <a16:creationId xmlns:a16="http://schemas.microsoft.com/office/drawing/2014/main" id="{36F5CCB0-638C-144C-A29F-275A1B970E16}"/>
              </a:ext>
            </a:extLst>
          </p:cNvPr>
          <p:cNvSpPr/>
          <p:nvPr/>
        </p:nvSpPr>
        <p:spPr>
          <a:xfrm>
            <a:off x="3610193" y="5737132"/>
            <a:ext cx="6505910" cy="464710"/>
          </a:xfrm>
          <a:prstGeom prst="roundRect">
            <a:avLst>
              <a:gd name="adj" fmla="val 949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1">
              <a:solidFill>
                <a:schemeClr val="tx1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169" name="사각형: 둥근 모서리 168">
            <a:extLst>
              <a:ext uri="{FF2B5EF4-FFF2-40B4-BE49-F238E27FC236}">
                <a16:creationId xmlns:a16="http://schemas.microsoft.com/office/drawing/2014/main" id="{0FE617AB-A7DC-0BC8-E995-E4A6BBA02636}"/>
              </a:ext>
            </a:extLst>
          </p:cNvPr>
          <p:cNvSpPr/>
          <p:nvPr/>
        </p:nvSpPr>
        <p:spPr>
          <a:xfrm>
            <a:off x="3243519" y="5730294"/>
            <a:ext cx="319071" cy="456193"/>
          </a:xfrm>
          <a:prstGeom prst="round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000"/>
              </a:lnSpc>
            </a:pPr>
            <a:r>
              <a:rPr lang="ko-KR" altLang="en-US" sz="9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anumSquare Bold" panose="020B0600000101010101" pitchFamily="34" charset="-127"/>
                <a:ea typeface="NanumSquare Bold" panose="020B0600000101010101" pitchFamily="34" charset="-127"/>
              </a:rPr>
              <a:t>인프라</a:t>
            </a:r>
          </a:p>
        </p:txBody>
      </p:sp>
      <p:sp>
        <p:nvSpPr>
          <p:cNvPr id="171" name="사각형: 둥근 모서리 170">
            <a:extLst>
              <a:ext uri="{FF2B5EF4-FFF2-40B4-BE49-F238E27FC236}">
                <a16:creationId xmlns:a16="http://schemas.microsoft.com/office/drawing/2014/main" id="{BE719A26-5429-0103-73DE-515B45756213}"/>
              </a:ext>
            </a:extLst>
          </p:cNvPr>
          <p:cNvSpPr/>
          <p:nvPr/>
        </p:nvSpPr>
        <p:spPr>
          <a:xfrm>
            <a:off x="3243519" y="4317053"/>
            <a:ext cx="319071" cy="1326598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000"/>
              </a:lnSpc>
            </a:pPr>
            <a:r>
              <a:rPr lang="en-US" altLang="ko-KR" sz="9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anumSquare Bold" panose="020B0600000101010101" pitchFamily="34" charset="-127"/>
                <a:ea typeface="NanumSquare Bold" panose="020B0600000101010101" pitchFamily="34" charset="-127"/>
              </a:rPr>
              <a:t>DX   ·AX </a:t>
            </a:r>
            <a:r>
              <a:rPr lang="ko-KR" altLang="en-US" sz="9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anumSquare Bold" panose="020B0600000101010101" pitchFamily="34" charset="-127"/>
                <a:ea typeface="NanumSquare Bold" panose="020B0600000101010101" pitchFamily="34" charset="-127"/>
              </a:rPr>
              <a:t>플랫폼</a:t>
            </a:r>
            <a:endParaRPr lang="ko-GY" altLang="ko-KR" sz="9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172" name="사각형: 둥근 모서리 171">
            <a:extLst>
              <a:ext uri="{FF2B5EF4-FFF2-40B4-BE49-F238E27FC236}">
                <a16:creationId xmlns:a16="http://schemas.microsoft.com/office/drawing/2014/main" id="{B8AE0486-D3CE-DC03-CEC9-5678898810E0}"/>
              </a:ext>
            </a:extLst>
          </p:cNvPr>
          <p:cNvSpPr/>
          <p:nvPr/>
        </p:nvSpPr>
        <p:spPr>
          <a:xfrm>
            <a:off x="3243519" y="1617640"/>
            <a:ext cx="319071" cy="1110759"/>
          </a:xfrm>
          <a:prstGeom prst="round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000"/>
              </a:lnSpc>
            </a:pPr>
            <a:r>
              <a:rPr lang="en-US" altLang="ko-KR" sz="9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anumSquare Bold" panose="020B0600000101010101" pitchFamily="34" charset="-127"/>
                <a:ea typeface="NanumSquare Bold" panose="020B0600000101010101" pitchFamily="34" charset="-127"/>
              </a:rPr>
              <a:t>A  I </a:t>
            </a:r>
            <a:r>
              <a:rPr lang="ko-KR" altLang="en-US" sz="9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anumSquare Bold" panose="020B0600000101010101" pitchFamily="34" charset="-127"/>
                <a:ea typeface="NanumSquare Bold" panose="020B0600000101010101" pitchFamily="34" charset="-127"/>
              </a:rPr>
              <a:t>에이전트</a:t>
            </a:r>
            <a:endParaRPr lang="ko-GY" altLang="ko-KR" sz="9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173" name="사각형: 둥근 모서리 172">
            <a:extLst>
              <a:ext uri="{FF2B5EF4-FFF2-40B4-BE49-F238E27FC236}">
                <a16:creationId xmlns:a16="http://schemas.microsoft.com/office/drawing/2014/main" id="{9E9E9120-EA68-4E0E-71B4-359C96C87311}"/>
              </a:ext>
            </a:extLst>
          </p:cNvPr>
          <p:cNvSpPr/>
          <p:nvPr/>
        </p:nvSpPr>
        <p:spPr>
          <a:xfrm>
            <a:off x="3243519" y="2788318"/>
            <a:ext cx="319071" cy="921386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000"/>
              </a:lnSpc>
            </a:pPr>
            <a:r>
              <a:rPr lang="ko-KR" altLang="en-US" sz="9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anumSquare Bold" panose="020B0600000101010101" pitchFamily="34" charset="-127"/>
                <a:ea typeface="NanumSquare Bold" panose="020B0600000101010101" pitchFamily="34" charset="-127"/>
              </a:rPr>
              <a:t>파이프라인</a:t>
            </a:r>
            <a:endParaRPr lang="ko-GY" altLang="ko-KR" sz="9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174" name="사각형: 둥근 모서리 173">
            <a:extLst>
              <a:ext uri="{FF2B5EF4-FFF2-40B4-BE49-F238E27FC236}">
                <a16:creationId xmlns:a16="http://schemas.microsoft.com/office/drawing/2014/main" id="{C669C2D4-F403-A407-27CF-51FE77E7C9A6}"/>
              </a:ext>
            </a:extLst>
          </p:cNvPr>
          <p:cNvSpPr/>
          <p:nvPr/>
        </p:nvSpPr>
        <p:spPr>
          <a:xfrm>
            <a:off x="3243519" y="3769623"/>
            <a:ext cx="319071" cy="487511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000"/>
              </a:lnSpc>
            </a:pPr>
            <a:r>
              <a:rPr lang="ko-KR" altLang="en-US" sz="9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anumSquare Bold" panose="020B0600000101010101" pitchFamily="34" charset="-127"/>
                <a:ea typeface="NanumSquare Bold" panose="020B0600000101010101" pitchFamily="34" charset="-127"/>
              </a:rPr>
              <a:t>모듈</a:t>
            </a:r>
            <a:endParaRPr lang="ko-GY" altLang="ko-KR" sz="9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176" name="사각형: 둥근 모서리 175">
            <a:extLst>
              <a:ext uri="{FF2B5EF4-FFF2-40B4-BE49-F238E27FC236}">
                <a16:creationId xmlns:a16="http://schemas.microsoft.com/office/drawing/2014/main" id="{4FA1E3E8-8DE4-E91D-7A4F-9AA4A9433AD6}"/>
              </a:ext>
            </a:extLst>
          </p:cNvPr>
          <p:cNvSpPr/>
          <p:nvPr/>
        </p:nvSpPr>
        <p:spPr>
          <a:xfrm>
            <a:off x="3706653" y="4366540"/>
            <a:ext cx="1427639" cy="206411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900" dirty="0" err="1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관리거버넌스</a:t>
            </a:r>
            <a:endParaRPr lang="ko-KR" altLang="en-US" sz="900" dirty="0">
              <a:solidFill>
                <a:schemeClr val="tx1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1" name="양쪽 모서리가 둥근 사각형 50">
            <a:extLst>
              <a:ext uri="{FF2B5EF4-FFF2-40B4-BE49-F238E27FC236}">
                <a16:creationId xmlns:a16="http://schemas.microsoft.com/office/drawing/2014/main" id="{483F11D9-D6DE-7D26-9AD8-17A88E371A91}"/>
              </a:ext>
            </a:extLst>
          </p:cNvPr>
          <p:cNvSpPr/>
          <p:nvPr/>
        </p:nvSpPr>
        <p:spPr>
          <a:xfrm>
            <a:off x="5258477" y="4387823"/>
            <a:ext cx="1045581" cy="196850"/>
          </a:xfrm>
          <a:prstGeom prst="round2Same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000"/>
              </a:lnSpc>
            </a:pPr>
            <a:r>
              <a:rPr lang="ko-KR" altLang="en-US" sz="9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anumSquare Bold" panose="020B0600000101010101" pitchFamily="34" charset="-127"/>
                <a:ea typeface="NanumSquare Bold" panose="020B0600000101010101" pitchFamily="34" charset="-127"/>
              </a:rPr>
              <a:t>수집</a:t>
            </a:r>
            <a:endParaRPr lang="ko-GY" sz="9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107E131-7669-A674-02FE-340EA31C613A}"/>
              </a:ext>
            </a:extLst>
          </p:cNvPr>
          <p:cNvSpPr/>
          <p:nvPr/>
        </p:nvSpPr>
        <p:spPr>
          <a:xfrm>
            <a:off x="5258477" y="4584673"/>
            <a:ext cx="1045581" cy="6762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다양한 데이터</a:t>
            </a:r>
            <a:endParaRPr lang="en-US" altLang="ko-KR" sz="800" b="1" dirty="0">
              <a:solidFill>
                <a:schemeClr val="tx1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  <a:p>
            <a:pPr algn="ctr"/>
            <a:endParaRPr lang="en-US" sz="800" b="1" dirty="0">
              <a:solidFill>
                <a:schemeClr val="tx1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  <a:p>
            <a:pPr algn="ctr"/>
            <a:endParaRPr lang="en-US" sz="800" b="1" dirty="0">
              <a:solidFill>
                <a:schemeClr val="tx1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  <a:p>
            <a:pPr algn="ctr"/>
            <a:endParaRPr lang="en-US" sz="800" b="1" dirty="0">
              <a:solidFill>
                <a:schemeClr val="tx1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  <a:p>
            <a:pPr algn="ctr"/>
            <a:endParaRPr lang="ko-GY" sz="800" b="1" dirty="0">
              <a:solidFill>
                <a:schemeClr val="tx1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178" name="사각형: 둥근 모서리 177">
            <a:extLst>
              <a:ext uri="{FF2B5EF4-FFF2-40B4-BE49-F238E27FC236}">
                <a16:creationId xmlns:a16="http://schemas.microsoft.com/office/drawing/2014/main" id="{6CB5F4CB-8227-1BC5-FC26-5DD8116283E0}"/>
              </a:ext>
            </a:extLst>
          </p:cNvPr>
          <p:cNvSpPr/>
          <p:nvPr/>
        </p:nvSpPr>
        <p:spPr>
          <a:xfrm>
            <a:off x="5248900" y="5297382"/>
            <a:ext cx="2827849" cy="130195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000"/>
              </a:lnSpc>
            </a:pPr>
            <a:r>
              <a:rPr lang="en-US" altLang="ko-KR" sz="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anumSquare Bold" panose="020B0600000101010101" pitchFamily="34" charset="-127"/>
                <a:ea typeface="NanumSquare Bold" panose="020B0600000101010101" pitchFamily="34" charset="-127"/>
              </a:rPr>
              <a:t>AI</a:t>
            </a:r>
            <a:r>
              <a:rPr lang="ko-KR" altLang="en-US" sz="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anumSquare Bold" panose="020B0600000101010101" pitchFamily="34" charset="-127"/>
                <a:ea typeface="NanumSquare Bold" panose="020B0600000101010101" pitchFamily="34" charset="-127"/>
              </a:rPr>
              <a:t>모델</a:t>
            </a:r>
            <a:endParaRPr lang="ko-GY" altLang="ko-KR" sz="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179" name="사각형: 둥근 모서리 178">
            <a:extLst>
              <a:ext uri="{FF2B5EF4-FFF2-40B4-BE49-F238E27FC236}">
                <a16:creationId xmlns:a16="http://schemas.microsoft.com/office/drawing/2014/main" id="{3B5E79AE-3B03-0EFB-9550-C60E4D6D545B}"/>
              </a:ext>
            </a:extLst>
          </p:cNvPr>
          <p:cNvSpPr/>
          <p:nvPr/>
        </p:nvSpPr>
        <p:spPr>
          <a:xfrm>
            <a:off x="8162643" y="5297382"/>
            <a:ext cx="1888447" cy="130195"/>
          </a:xfrm>
          <a:prstGeom prst="roundRect">
            <a:avLst>
              <a:gd name="adj" fmla="val 23983"/>
            </a:avLst>
          </a:prstGeom>
          <a:solidFill>
            <a:srgbClr val="92D050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000"/>
              </a:lnSpc>
            </a:pPr>
            <a:r>
              <a:rPr lang="en-US" altLang="ko-KR" sz="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anumSquare Bold" panose="020B0600000101010101" pitchFamily="34" charset="-127"/>
                <a:ea typeface="NanumSquare Bold" panose="020B0600000101010101" pitchFamily="34" charset="-127"/>
              </a:rPr>
              <a:t>LLM &amp; RAG</a:t>
            </a:r>
            <a:endParaRPr lang="ko-GY" altLang="ko-KR" sz="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181" name="사각형: 둥근 모서리 180">
            <a:extLst>
              <a:ext uri="{FF2B5EF4-FFF2-40B4-BE49-F238E27FC236}">
                <a16:creationId xmlns:a16="http://schemas.microsoft.com/office/drawing/2014/main" id="{E7B97E89-10BE-38B1-FA7F-1C13780D42D2}"/>
              </a:ext>
            </a:extLst>
          </p:cNvPr>
          <p:cNvSpPr/>
          <p:nvPr/>
        </p:nvSpPr>
        <p:spPr>
          <a:xfrm>
            <a:off x="5252171" y="5463518"/>
            <a:ext cx="4802578" cy="130195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000"/>
              </a:lnSpc>
            </a:pPr>
            <a:r>
              <a:rPr lang="ko-KR" altLang="en-US" sz="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anumSquare Bold" panose="020B0600000101010101" pitchFamily="34" charset="-127"/>
                <a:ea typeface="NanumSquare Bold" panose="020B0600000101010101" pitchFamily="34" charset="-127"/>
              </a:rPr>
              <a:t>인공지능</a:t>
            </a:r>
            <a:r>
              <a:rPr lang="en-US" altLang="ko-KR" sz="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anumSquare Bold" panose="020B0600000101010101" pitchFamily="34" charset="-127"/>
                <a:ea typeface="NanumSquare Bold" panose="020B0600000101010101" pitchFamily="34" charset="-127"/>
              </a:rPr>
              <a:t> · </a:t>
            </a:r>
            <a:r>
              <a:rPr lang="ko-KR" altLang="en-US" sz="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anumSquare Bold" panose="020B0600000101010101" pitchFamily="34" charset="-127"/>
                <a:ea typeface="NanumSquare Bold" panose="020B0600000101010101" pitchFamily="34" charset="-127"/>
              </a:rPr>
              <a:t>빅데이터 통합플랫폼 </a:t>
            </a:r>
            <a:r>
              <a:rPr lang="en-US" altLang="ko-KR" sz="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anumSquare Bold" panose="020B0600000101010101" pitchFamily="34" charset="-127"/>
                <a:ea typeface="NanumSquare Bold" panose="020B0600000101010101" pitchFamily="34" charset="-127"/>
              </a:rPr>
              <a:t>+ </a:t>
            </a:r>
            <a:r>
              <a:rPr lang="ko-KR" altLang="en-US" sz="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anumSquare Bold" panose="020B0600000101010101" pitchFamily="34" charset="-127"/>
                <a:ea typeface="NanumSquare Bold" panose="020B0600000101010101" pitchFamily="34" charset="-127"/>
              </a:rPr>
              <a:t>지능형 검색 플랫폼</a:t>
            </a:r>
            <a:endParaRPr lang="ko-GY" altLang="ko-KR" sz="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182" name="양쪽 모서리가 둥근 사각형 50">
            <a:extLst>
              <a:ext uri="{FF2B5EF4-FFF2-40B4-BE49-F238E27FC236}">
                <a16:creationId xmlns:a16="http://schemas.microsoft.com/office/drawing/2014/main" id="{703A258C-F175-F090-A8EF-BA3066C5D2C0}"/>
              </a:ext>
            </a:extLst>
          </p:cNvPr>
          <p:cNvSpPr/>
          <p:nvPr/>
        </p:nvSpPr>
        <p:spPr>
          <a:xfrm>
            <a:off x="6505728" y="4387823"/>
            <a:ext cx="1045581" cy="196850"/>
          </a:xfrm>
          <a:prstGeom prst="round2Same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000"/>
              </a:lnSpc>
            </a:pPr>
            <a:r>
              <a:rPr lang="ko-KR" altLang="en-US" sz="9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anumSquare Bold" panose="020B0600000101010101" pitchFamily="34" charset="-127"/>
                <a:ea typeface="NanumSquare Bold" panose="020B0600000101010101" pitchFamily="34" charset="-127"/>
              </a:rPr>
              <a:t>변환</a:t>
            </a:r>
            <a:endParaRPr lang="ko-GY" sz="9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183" name="직사각형 182">
            <a:extLst>
              <a:ext uri="{FF2B5EF4-FFF2-40B4-BE49-F238E27FC236}">
                <a16:creationId xmlns:a16="http://schemas.microsoft.com/office/drawing/2014/main" id="{DD438315-4373-C9C4-3B23-13D33EE829F1}"/>
              </a:ext>
            </a:extLst>
          </p:cNvPr>
          <p:cNvSpPr/>
          <p:nvPr/>
        </p:nvSpPr>
        <p:spPr>
          <a:xfrm>
            <a:off x="6505728" y="4584673"/>
            <a:ext cx="1045581" cy="6762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데이터자동처리</a:t>
            </a:r>
            <a:endParaRPr lang="en-US" altLang="ko-KR" sz="800" b="1" dirty="0">
              <a:solidFill>
                <a:schemeClr val="tx1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  <a:p>
            <a:pPr algn="ctr"/>
            <a:endParaRPr lang="en-US" sz="800" b="1" dirty="0">
              <a:solidFill>
                <a:schemeClr val="tx1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  <a:p>
            <a:pPr algn="ctr"/>
            <a:endParaRPr lang="en-US" sz="800" b="1" dirty="0">
              <a:solidFill>
                <a:schemeClr val="tx1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  <a:p>
            <a:pPr algn="ctr"/>
            <a:endParaRPr lang="en-US" sz="800" b="1" dirty="0">
              <a:solidFill>
                <a:schemeClr val="tx1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  <a:p>
            <a:pPr algn="ctr"/>
            <a:endParaRPr lang="ko-GY" sz="800" b="1" dirty="0">
              <a:solidFill>
                <a:schemeClr val="tx1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188" name="양쪽 모서리가 둥근 사각형 50">
            <a:extLst>
              <a:ext uri="{FF2B5EF4-FFF2-40B4-BE49-F238E27FC236}">
                <a16:creationId xmlns:a16="http://schemas.microsoft.com/office/drawing/2014/main" id="{3064A658-D8DA-8CCB-B2FA-F749E5749492}"/>
              </a:ext>
            </a:extLst>
          </p:cNvPr>
          <p:cNvSpPr/>
          <p:nvPr/>
        </p:nvSpPr>
        <p:spPr>
          <a:xfrm>
            <a:off x="7749707" y="4387823"/>
            <a:ext cx="1045581" cy="196850"/>
          </a:xfrm>
          <a:prstGeom prst="round2Same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000"/>
              </a:lnSpc>
            </a:pPr>
            <a:r>
              <a:rPr lang="ko-KR" altLang="en-US" sz="9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anumSquare Bold" panose="020B0600000101010101" pitchFamily="34" charset="-127"/>
                <a:ea typeface="NanumSquare Bold" panose="020B0600000101010101" pitchFamily="34" charset="-127"/>
              </a:rPr>
              <a:t>적재</a:t>
            </a:r>
            <a:endParaRPr lang="ko-GY" sz="9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189" name="직사각형 188">
            <a:extLst>
              <a:ext uri="{FF2B5EF4-FFF2-40B4-BE49-F238E27FC236}">
                <a16:creationId xmlns:a16="http://schemas.microsoft.com/office/drawing/2014/main" id="{03EA0E49-0798-EE95-85B7-866C91D20C9B}"/>
              </a:ext>
            </a:extLst>
          </p:cNvPr>
          <p:cNvSpPr/>
          <p:nvPr/>
        </p:nvSpPr>
        <p:spPr>
          <a:xfrm>
            <a:off x="7749707" y="4584673"/>
            <a:ext cx="1045581" cy="6762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데이터 패브릭</a:t>
            </a:r>
            <a:endParaRPr lang="en-US" altLang="ko-KR" sz="800" b="1" dirty="0">
              <a:solidFill>
                <a:schemeClr val="tx1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  <a:p>
            <a:pPr algn="ctr"/>
            <a:endParaRPr lang="en-US" sz="800" b="1" dirty="0">
              <a:solidFill>
                <a:schemeClr val="tx1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  <a:p>
            <a:pPr algn="ctr"/>
            <a:endParaRPr lang="en-US" sz="800" b="1" dirty="0">
              <a:solidFill>
                <a:schemeClr val="tx1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  <a:p>
            <a:pPr algn="ctr"/>
            <a:endParaRPr lang="en-US" sz="800" b="1" dirty="0">
              <a:solidFill>
                <a:schemeClr val="tx1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  <a:p>
            <a:pPr algn="ctr"/>
            <a:endParaRPr lang="ko-GY" sz="800" b="1" dirty="0">
              <a:solidFill>
                <a:schemeClr val="tx1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191" name="양쪽 모서리가 둥근 사각형 50">
            <a:extLst>
              <a:ext uri="{FF2B5EF4-FFF2-40B4-BE49-F238E27FC236}">
                <a16:creationId xmlns:a16="http://schemas.microsoft.com/office/drawing/2014/main" id="{F9D09A68-1BB5-7A8D-3503-0CE393373627}"/>
              </a:ext>
            </a:extLst>
          </p:cNvPr>
          <p:cNvSpPr/>
          <p:nvPr/>
        </p:nvSpPr>
        <p:spPr>
          <a:xfrm>
            <a:off x="8993687" y="4387823"/>
            <a:ext cx="1045581" cy="196850"/>
          </a:xfrm>
          <a:prstGeom prst="round2Same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000"/>
              </a:lnSpc>
            </a:pPr>
            <a:r>
              <a:rPr lang="ko-KR" altLang="en-US" sz="9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anumSquare Bold" panose="020B0600000101010101" pitchFamily="34" charset="-127"/>
                <a:ea typeface="NanumSquare Bold" panose="020B0600000101010101" pitchFamily="34" charset="-127"/>
              </a:rPr>
              <a:t>활용</a:t>
            </a:r>
            <a:endParaRPr lang="ko-GY" sz="9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192" name="직사각형 191">
            <a:extLst>
              <a:ext uri="{FF2B5EF4-FFF2-40B4-BE49-F238E27FC236}">
                <a16:creationId xmlns:a16="http://schemas.microsoft.com/office/drawing/2014/main" id="{6B135E3F-9109-2F4A-68C9-831FA80DDBB7}"/>
              </a:ext>
            </a:extLst>
          </p:cNvPr>
          <p:cNvSpPr/>
          <p:nvPr/>
        </p:nvSpPr>
        <p:spPr>
          <a:xfrm>
            <a:off x="8993687" y="4584673"/>
            <a:ext cx="1045581" cy="6762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 b="1" dirty="0">
                <a:solidFill>
                  <a:schemeClr val="tx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rPr>
              <a:t>업무서비스</a:t>
            </a:r>
            <a:endParaRPr lang="en-US" altLang="ko-KR" sz="800" b="1" dirty="0">
              <a:solidFill>
                <a:schemeClr val="tx1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  <a:p>
            <a:pPr algn="ctr"/>
            <a:endParaRPr lang="en-US" sz="800" b="1" dirty="0">
              <a:solidFill>
                <a:schemeClr val="tx1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  <a:p>
            <a:pPr algn="ctr"/>
            <a:endParaRPr lang="en-US" sz="800" b="1" dirty="0">
              <a:solidFill>
                <a:schemeClr val="tx1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  <a:p>
            <a:pPr algn="ctr"/>
            <a:endParaRPr lang="en-US" sz="800" b="1" dirty="0">
              <a:solidFill>
                <a:schemeClr val="tx1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  <a:p>
            <a:pPr algn="ctr"/>
            <a:endParaRPr lang="ko-GY" sz="800" b="1" dirty="0">
              <a:solidFill>
                <a:schemeClr val="tx1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177" name="사각형: 둥근 모서리 176">
            <a:extLst>
              <a:ext uri="{FF2B5EF4-FFF2-40B4-BE49-F238E27FC236}">
                <a16:creationId xmlns:a16="http://schemas.microsoft.com/office/drawing/2014/main" id="{9B9FCCDE-1D6C-7FBD-1E44-09BDCB757BFC}"/>
              </a:ext>
            </a:extLst>
          </p:cNvPr>
          <p:cNvSpPr/>
          <p:nvPr/>
        </p:nvSpPr>
        <p:spPr>
          <a:xfrm>
            <a:off x="3696510" y="4593070"/>
            <a:ext cx="1427639" cy="14524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데이터생애 관리 모니터링</a:t>
            </a:r>
          </a:p>
        </p:txBody>
      </p:sp>
      <p:sp>
        <p:nvSpPr>
          <p:cNvPr id="193" name="사각형: 둥근 모서리 192">
            <a:extLst>
              <a:ext uri="{FF2B5EF4-FFF2-40B4-BE49-F238E27FC236}">
                <a16:creationId xmlns:a16="http://schemas.microsoft.com/office/drawing/2014/main" id="{AB098EB4-E3C3-D5AA-8926-046468B78535}"/>
              </a:ext>
            </a:extLst>
          </p:cNvPr>
          <p:cNvSpPr/>
          <p:nvPr/>
        </p:nvSpPr>
        <p:spPr>
          <a:xfrm>
            <a:off x="3696510" y="4760087"/>
            <a:ext cx="1427639" cy="14524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dirty="0" err="1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크롤링시스템</a:t>
            </a:r>
            <a:endParaRPr lang="ko-KR" altLang="en-US" sz="7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194" name="사각형: 둥근 모서리 193">
            <a:extLst>
              <a:ext uri="{FF2B5EF4-FFF2-40B4-BE49-F238E27FC236}">
                <a16:creationId xmlns:a16="http://schemas.microsoft.com/office/drawing/2014/main" id="{BC335BA0-734F-4AE6-8056-F15A797F4960}"/>
              </a:ext>
            </a:extLst>
          </p:cNvPr>
          <p:cNvSpPr/>
          <p:nvPr/>
        </p:nvSpPr>
        <p:spPr>
          <a:xfrm>
            <a:off x="3696510" y="4927104"/>
            <a:ext cx="1427639" cy="14524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모델 생애관리 모니터링</a:t>
            </a:r>
          </a:p>
        </p:txBody>
      </p:sp>
      <p:sp>
        <p:nvSpPr>
          <p:cNvPr id="195" name="사각형: 둥근 모서리 194">
            <a:extLst>
              <a:ext uri="{FF2B5EF4-FFF2-40B4-BE49-F238E27FC236}">
                <a16:creationId xmlns:a16="http://schemas.microsoft.com/office/drawing/2014/main" id="{17662B15-6B4A-67A7-4ADA-C16D0C60C35D}"/>
              </a:ext>
            </a:extLst>
          </p:cNvPr>
          <p:cNvSpPr/>
          <p:nvPr/>
        </p:nvSpPr>
        <p:spPr>
          <a:xfrm>
            <a:off x="3696510" y="5094121"/>
            <a:ext cx="1427639" cy="14524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7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AI </a:t>
            </a:r>
            <a:r>
              <a:rPr lang="ko-KR" altLang="en-US" sz="7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에이전트 생애관리 모니터링</a:t>
            </a:r>
          </a:p>
        </p:txBody>
      </p:sp>
      <p:sp>
        <p:nvSpPr>
          <p:cNvPr id="196" name="사각형: 둥근 모서리 195">
            <a:extLst>
              <a:ext uri="{FF2B5EF4-FFF2-40B4-BE49-F238E27FC236}">
                <a16:creationId xmlns:a16="http://schemas.microsoft.com/office/drawing/2014/main" id="{003A9149-648A-F21A-FDC6-C457B881F354}"/>
              </a:ext>
            </a:extLst>
          </p:cNvPr>
          <p:cNvSpPr/>
          <p:nvPr/>
        </p:nvSpPr>
        <p:spPr>
          <a:xfrm>
            <a:off x="3696510" y="5261138"/>
            <a:ext cx="1427639" cy="14524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서비스 추적성 관리 모니터링</a:t>
            </a:r>
          </a:p>
        </p:txBody>
      </p:sp>
      <p:sp>
        <p:nvSpPr>
          <p:cNvPr id="197" name="사각형: 둥근 모서리 196">
            <a:extLst>
              <a:ext uri="{FF2B5EF4-FFF2-40B4-BE49-F238E27FC236}">
                <a16:creationId xmlns:a16="http://schemas.microsoft.com/office/drawing/2014/main" id="{AD6D64EC-7B25-A0B9-9633-DA676AC73050}"/>
              </a:ext>
            </a:extLst>
          </p:cNvPr>
          <p:cNvSpPr/>
          <p:nvPr/>
        </p:nvSpPr>
        <p:spPr>
          <a:xfrm>
            <a:off x="3696510" y="5428155"/>
            <a:ext cx="1427639" cy="14524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7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시스템 지원 관리 모니터링</a:t>
            </a:r>
          </a:p>
        </p:txBody>
      </p:sp>
      <p:sp>
        <p:nvSpPr>
          <p:cNvPr id="199" name="이등변 삼각형 198">
            <a:extLst>
              <a:ext uri="{FF2B5EF4-FFF2-40B4-BE49-F238E27FC236}">
                <a16:creationId xmlns:a16="http://schemas.microsoft.com/office/drawing/2014/main" id="{971741CF-7CAB-533C-4680-8BF6A03B2E2C}"/>
              </a:ext>
            </a:extLst>
          </p:cNvPr>
          <p:cNvSpPr/>
          <p:nvPr/>
        </p:nvSpPr>
        <p:spPr>
          <a:xfrm rot="5400000">
            <a:off x="6341820" y="4797588"/>
            <a:ext cx="107950" cy="78531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0" name="이등변 삼각형 199">
            <a:extLst>
              <a:ext uri="{FF2B5EF4-FFF2-40B4-BE49-F238E27FC236}">
                <a16:creationId xmlns:a16="http://schemas.microsoft.com/office/drawing/2014/main" id="{7E701C6C-6104-3A33-7849-AF4B175553F0}"/>
              </a:ext>
            </a:extLst>
          </p:cNvPr>
          <p:cNvSpPr/>
          <p:nvPr/>
        </p:nvSpPr>
        <p:spPr>
          <a:xfrm rot="5400000">
            <a:off x="7596680" y="4797588"/>
            <a:ext cx="107950" cy="78531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1" name="이등변 삼각형 200">
            <a:extLst>
              <a:ext uri="{FF2B5EF4-FFF2-40B4-BE49-F238E27FC236}">
                <a16:creationId xmlns:a16="http://schemas.microsoft.com/office/drawing/2014/main" id="{9A3E9598-26BD-40E5-32A5-8FE3DDF2A342}"/>
              </a:ext>
            </a:extLst>
          </p:cNvPr>
          <p:cNvSpPr/>
          <p:nvPr/>
        </p:nvSpPr>
        <p:spPr>
          <a:xfrm rot="5400000">
            <a:off x="8851541" y="4797588"/>
            <a:ext cx="107950" cy="78531"/>
          </a:xfrm>
          <a:prstGeom prst="triangl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39" name="그룹 238">
            <a:extLst>
              <a:ext uri="{FF2B5EF4-FFF2-40B4-BE49-F238E27FC236}">
                <a16:creationId xmlns:a16="http://schemas.microsoft.com/office/drawing/2014/main" id="{6C7A3183-5C9D-D592-EBAE-C2490E7B7340}"/>
              </a:ext>
            </a:extLst>
          </p:cNvPr>
          <p:cNvGrpSpPr/>
          <p:nvPr/>
        </p:nvGrpSpPr>
        <p:grpSpPr>
          <a:xfrm>
            <a:off x="3697822" y="5773987"/>
            <a:ext cx="1480642" cy="391001"/>
            <a:chOff x="3916358" y="5756910"/>
            <a:chExt cx="1436692" cy="391001"/>
          </a:xfrm>
        </p:grpSpPr>
        <p:sp>
          <p:nvSpPr>
            <p:cNvPr id="235" name="사각형: 둥근 모서리 234">
              <a:extLst>
                <a:ext uri="{FF2B5EF4-FFF2-40B4-BE49-F238E27FC236}">
                  <a16:creationId xmlns:a16="http://schemas.microsoft.com/office/drawing/2014/main" id="{56125221-382A-0D4B-04F0-55BE39A681A9}"/>
                </a:ext>
              </a:extLst>
            </p:cNvPr>
            <p:cNvSpPr/>
            <p:nvPr/>
          </p:nvSpPr>
          <p:spPr>
            <a:xfrm>
              <a:off x="4462211" y="5756910"/>
              <a:ext cx="890839" cy="391001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rtlCol="0" anchor="ctr"/>
            <a:lstStyle/>
            <a:p>
              <a:pPr algn="ctr"/>
              <a:endParaRPr lang="en-US" altLang="ko-KR" sz="900" b="1" dirty="0">
                <a:solidFill>
                  <a:schemeClr val="tx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endParaRPr>
            </a:p>
            <a:p>
              <a:pPr algn="ctr"/>
              <a:r>
                <a:rPr lang="ko-KR" altLang="en-US" sz="700" b="1" dirty="0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rPr>
                <a:t>컨테이너 </a:t>
              </a:r>
              <a:r>
                <a:rPr lang="en-US" altLang="ko-KR" sz="700" b="1" dirty="0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rPr>
                <a:t>(Docker)</a:t>
              </a:r>
            </a:p>
          </p:txBody>
        </p:sp>
        <p:pic>
          <p:nvPicPr>
            <p:cNvPr id="233" name="그림 232">
              <a:extLst>
                <a:ext uri="{FF2B5EF4-FFF2-40B4-BE49-F238E27FC236}">
                  <a16:creationId xmlns:a16="http://schemas.microsoft.com/office/drawing/2014/main" id="{C8A212F9-0530-AC31-A2E7-5A83DA1D339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4484316" y="5782758"/>
              <a:ext cx="807774" cy="145703"/>
            </a:xfrm>
            <a:prstGeom prst="rect">
              <a:avLst/>
            </a:prstGeom>
          </p:spPr>
        </p:pic>
        <p:sp>
          <p:nvSpPr>
            <p:cNvPr id="238" name="사각형: 둥근 모서리 237">
              <a:extLst>
                <a:ext uri="{FF2B5EF4-FFF2-40B4-BE49-F238E27FC236}">
                  <a16:creationId xmlns:a16="http://schemas.microsoft.com/office/drawing/2014/main" id="{5941229F-A849-2E9E-B364-81EA6A064F4A}"/>
                </a:ext>
              </a:extLst>
            </p:cNvPr>
            <p:cNvSpPr/>
            <p:nvPr/>
          </p:nvSpPr>
          <p:spPr>
            <a:xfrm>
              <a:off x="3916358" y="5828629"/>
              <a:ext cx="523875" cy="289596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L4</a:t>
              </a:r>
            </a:p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S/W</a:t>
              </a:r>
              <a:r>
                <a:rPr lang="ko-KR" altLang="en-US" sz="9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존</a:t>
              </a:r>
            </a:p>
          </p:txBody>
        </p:sp>
      </p:grpSp>
      <p:grpSp>
        <p:nvGrpSpPr>
          <p:cNvPr id="240" name="그룹 239">
            <a:extLst>
              <a:ext uri="{FF2B5EF4-FFF2-40B4-BE49-F238E27FC236}">
                <a16:creationId xmlns:a16="http://schemas.microsoft.com/office/drawing/2014/main" id="{79C0257B-306E-6E8D-6001-605186718A06}"/>
              </a:ext>
            </a:extLst>
          </p:cNvPr>
          <p:cNvGrpSpPr/>
          <p:nvPr/>
        </p:nvGrpSpPr>
        <p:grpSpPr>
          <a:xfrm>
            <a:off x="5307708" y="5773987"/>
            <a:ext cx="1480642" cy="391001"/>
            <a:chOff x="3916358" y="5756910"/>
            <a:chExt cx="1436692" cy="391001"/>
          </a:xfrm>
        </p:grpSpPr>
        <p:sp>
          <p:nvSpPr>
            <p:cNvPr id="241" name="사각형: 둥근 모서리 240">
              <a:extLst>
                <a:ext uri="{FF2B5EF4-FFF2-40B4-BE49-F238E27FC236}">
                  <a16:creationId xmlns:a16="http://schemas.microsoft.com/office/drawing/2014/main" id="{CFDA02E9-EF81-3794-C4B4-3A085CDD23B5}"/>
                </a:ext>
              </a:extLst>
            </p:cNvPr>
            <p:cNvSpPr/>
            <p:nvPr/>
          </p:nvSpPr>
          <p:spPr>
            <a:xfrm>
              <a:off x="4462211" y="5756910"/>
              <a:ext cx="890839" cy="391001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rtlCol="0" anchor="ctr"/>
            <a:lstStyle/>
            <a:p>
              <a:pPr algn="ctr"/>
              <a:endParaRPr lang="en-US" altLang="ko-KR" sz="900" b="1" dirty="0">
                <a:solidFill>
                  <a:schemeClr val="tx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endParaRPr>
            </a:p>
            <a:p>
              <a:pPr algn="ctr"/>
              <a:r>
                <a:rPr lang="ko-KR" altLang="en-US" sz="700" b="1" dirty="0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rPr>
                <a:t>컨테이너 </a:t>
              </a:r>
              <a:r>
                <a:rPr lang="en-US" altLang="ko-KR" sz="700" b="1" dirty="0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rPr>
                <a:t>(Docker)</a:t>
              </a:r>
            </a:p>
          </p:txBody>
        </p:sp>
        <p:pic>
          <p:nvPicPr>
            <p:cNvPr id="242" name="그림 241">
              <a:extLst>
                <a:ext uri="{FF2B5EF4-FFF2-40B4-BE49-F238E27FC236}">
                  <a16:creationId xmlns:a16="http://schemas.microsoft.com/office/drawing/2014/main" id="{153BB20B-13A0-A134-9455-87397DD7223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4484316" y="5782758"/>
              <a:ext cx="807774" cy="145703"/>
            </a:xfrm>
            <a:prstGeom prst="rect">
              <a:avLst/>
            </a:prstGeom>
          </p:spPr>
        </p:pic>
        <p:sp>
          <p:nvSpPr>
            <p:cNvPr id="243" name="사각형: 둥근 모서리 242">
              <a:extLst>
                <a:ext uri="{FF2B5EF4-FFF2-40B4-BE49-F238E27FC236}">
                  <a16:creationId xmlns:a16="http://schemas.microsoft.com/office/drawing/2014/main" id="{09CC0B6A-73BF-F79A-3259-52B4B96C6F67}"/>
                </a:ext>
              </a:extLst>
            </p:cNvPr>
            <p:cNvSpPr/>
            <p:nvPr/>
          </p:nvSpPr>
          <p:spPr>
            <a:xfrm>
              <a:off x="3916358" y="5828629"/>
              <a:ext cx="523875" cy="289596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9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AI</a:t>
              </a:r>
              <a:r>
                <a:rPr lang="ko-KR" altLang="en-US" sz="900" dirty="0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망</a:t>
              </a:r>
            </a:p>
          </p:txBody>
        </p:sp>
      </p:grpSp>
      <p:grpSp>
        <p:nvGrpSpPr>
          <p:cNvPr id="244" name="그룹 243">
            <a:extLst>
              <a:ext uri="{FF2B5EF4-FFF2-40B4-BE49-F238E27FC236}">
                <a16:creationId xmlns:a16="http://schemas.microsoft.com/office/drawing/2014/main" id="{5B99051A-1F9D-773C-191B-7FD576DE6397}"/>
              </a:ext>
            </a:extLst>
          </p:cNvPr>
          <p:cNvGrpSpPr/>
          <p:nvPr/>
        </p:nvGrpSpPr>
        <p:grpSpPr>
          <a:xfrm>
            <a:off x="6873416" y="5773987"/>
            <a:ext cx="1480642" cy="391001"/>
            <a:chOff x="3916358" y="5756910"/>
            <a:chExt cx="1436692" cy="391001"/>
          </a:xfrm>
        </p:grpSpPr>
        <p:sp>
          <p:nvSpPr>
            <p:cNvPr id="245" name="사각형: 둥근 모서리 244">
              <a:extLst>
                <a:ext uri="{FF2B5EF4-FFF2-40B4-BE49-F238E27FC236}">
                  <a16:creationId xmlns:a16="http://schemas.microsoft.com/office/drawing/2014/main" id="{ED1A9E09-AC0B-B9F2-4E0A-AE1681284333}"/>
                </a:ext>
              </a:extLst>
            </p:cNvPr>
            <p:cNvSpPr/>
            <p:nvPr/>
          </p:nvSpPr>
          <p:spPr>
            <a:xfrm>
              <a:off x="4462211" y="5756910"/>
              <a:ext cx="890839" cy="391001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rtlCol="0" anchor="ctr"/>
            <a:lstStyle/>
            <a:p>
              <a:pPr algn="ctr"/>
              <a:endParaRPr lang="en-US" altLang="ko-KR" sz="900" b="1" dirty="0">
                <a:solidFill>
                  <a:schemeClr val="tx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endParaRPr>
            </a:p>
            <a:p>
              <a:pPr algn="ctr"/>
              <a:r>
                <a:rPr lang="ko-KR" altLang="en-US" sz="700" b="1" dirty="0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rPr>
                <a:t>컨테이너 </a:t>
              </a:r>
              <a:r>
                <a:rPr lang="en-US" altLang="ko-KR" sz="700" b="1" dirty="0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rPr>
                <a:t>(Docker)</a:t>
              </a:r>
            </a:p>
          </p:txBody>
        </p:sp>
        <p:pic>
          <p:nvPicPr>
            <p:cNvPr id="246" name="그림 245">
              <a:extLst>
                <a:ext uri="{FF2B5EF4-FFF2-40B4-BE49-F238E27FC236}">
                  <a16:creationId xmlns:a16="http://schemas.microsoft.com/office/drawing/2014/main" id="{9C0A53A6-0339-AA01-A020-B25055D31E1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4484316" y="5782758"/>
              <a:ext cx="807774" cy="145703"/>
            </a:xfrm>
            <a:prstGeom prst="rect">
              <a:avLst/>
            </a:prstGeom>
          </p:spPr>
        </p:pic>
        <p:sp>
          <p:nvSpPr>
            <p:cNvPr id="247" name="사각형: 둥근 모서리 246">
              <a:extLst>
                <a:ext uri="{FF2B5EF4-FFF2-40B4-BE49-F238E27FC236}">
                  <a16:creationId xmlns:a16="http://schemas.microsoft.com/office/drawing/2014/main" id="{6E8BB5DA-FA70-A94C-2893-C1FC784EEFC0}"/>
                </a:ext>
              </a:extLst>
            </p:cNvPr>
            <p:cNvSpPr/>
            <p:nvPr/>
          </p:nvSpPr>
          <p:spPr>
            <a:xfrm>
              <a:off x="3916358" y="5828629"/>
              <a:ext cx="523875" cy="289596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900" dirty="0" err="1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서버팜</a:t>
              </a:r>
              <a:endParaRPr lang="ko-KR" altLang="en-US" sz="9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grpSp>
        <p:nvGrpSpPr>
          <p:cNvPr id="248" name="그룹 247">
            <a:extLst>
              <a:ext uri="{FF2B5EF4-FFF2-40B4-BE49-F238E27FC236}">
                <a16:creationId xmlns:a16="http://schemas.microsoft.com/office/drawing/2014/main" id="{15B712C3-C8DB-E9C8-A62F-FEAF0680BF23}"/>
              </a:ext>
            </a:extLst>
          </p:cNvPr>
          <p:cNvGrpSpPr/>
          <p:nvPr/>
        </p:nvGrpSpPr>
        <p:grpSpPr>
          <a:xfrm>
            <a:off x="8524664" y="5773987"/>
            <a:ext cx="1480642" cy="391001"/>
            <a:chOff x="3916358" y="5756910"/>
            <a:chExt cx="1436692" cy="391001"/>
          </a:xfrm>
        </p:grpSpPr>
        <p:sp>
          <p:nvSpPr>
            <p:cNvPr id="249" name="사각형: 둥근 모서리 248">
              <a:extLst>
                <a:ext uri="{FF2B5EF4-FFF2-40B4-BE49-F238E27FC236}">
                  <a16:creationId xmlns:a16="http://schemas.microsoft.com/office/drawing/2014/main" id="{25EB8D98-BD4E-3CDF-22C1-169F2E737936}"/>
                </a:ext>
              </a:extLst>
            </p:cNvPr>
            <p:cNvSpPr/>
            <p:nvPr/>
          </p:nvSpPr>
          <p:spPr>
            <a:xfrm>
              <a:off x="4462211" y="5756910"/>
              <a:ext cx="890839" cy="391001"/>
            </a:xfrm>
            <a:prstGeom prst="round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36000" rIns="0" bIns="0" rtlCol="0" anchor="ctr"/>
            <a:lstStyle/>
            <a:p>
              <a:pPr algn="ctr"/>
              <a:endParaRPr lang="en-US" altLang="ko-KR" sz="900" b="1" dirty="0">
                <a:solidFill>
                  <a:schemeClr val="tx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endParaRPr>
            </a:p>
            <a:p>
              <a:pPr algn="ctr"/>
              <a:r>
                <a:rPr lang="ko-KR" altLang="en-US" sz="700" b="1" dirty="0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rPr>
                <a:t>컨테이너 </a:t>
              </a:r>
              <a:r>
                <a:rPr lang="en-US" altLang="ko-KR" sz="700" b="1" dirty="0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rPr>
                <a:t>(Docker)</a:t>
              </a:r>
            </a:p>
          </p:txBody>
        </p:sp>
        <p:pic>
          <p:nvPicPr>
            <p:cNvPr id="250" name="그림 249">
              <a:extLst>
                <a:ext uri="{FF2B5EF4-FFF2-40B4-BE49-F238E27FC236}">
                  <a16:creationId xmlns:a16="http://schemas.microsoft.com/office/drawing/2014/main" id="{94FDD59D-F1A4-5283-ABC8-90C8F3BEC41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4484316" y="5782758"/>
              <a:ext cx="807774" cy="145703"/>
            </a:xfrm>
            <a:prstGeom prst="rect">
              <a:avLst/>
            </a:prstGeom>
          </p:spPr>
        </p:pic>
        <p:sp>
          <p:nvSpPr>
            <p:cNvPr id="251" name="사각형: 둥근 모서리 250">
              <a:extLst>
                <a:ext uri="{FF2B5EF4-FFF2-40B4-BE49-F238E27FC236}">
                  <a16:creationId xmlns:a16="http://schemas.microsoft.com/office/drawing/2014/main" id="{0F62F128-0970-0229-5212-6DE10F55BB21}"/>
                </a:ext>
              </a:extLst>
            </p:cNvPr>
            <p:cNvSpPr/>
            <p:nvPr/>
          </p:nvSpPr>
          <p:spPr>
            <a:xfrm>
              <a:off x="3916358" y="5828629"/>
              <a:ext cx="523875" cy="289596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900" dirty="0" err="1">
                  <a:solidFill>
                    <a:schemeClr val="tx1"/>
                  </a:solidFill>
                  <a:latin typeface="나눔스퀘어 Bold" panose="020B0600000101010101" pitchFamily="50" charset="-127"/>
                  <a:ea typeface="나눔스퀘어 Bold" panose="020B0600000101010101" pitchFamily="50" charset="-127"/>
                </a:rPr>
                <a:t>개발망</a:t>
              </a:r>
              <a:endParaRPr lang="ko-KR" altLang="en-US" sz="900" dirty="0">
                <a:solidFill>
                  <a:schemeClr val="tx1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endParaRPr>
            </a:p>
          </p:txBody>
        </p:sp>
      </p:grpSp>
      <p:pic>
        <p:nvPicPr>
          <p:cNvPr id="255" name="그림 254">
            <a:extLst>
              <a:ext uri="{FF2B5EF4-FFF2-40B4-BE49-F238E27FC236}">
                <a16:creationId xmlns:a16="http://schemas.microsoft.com/office/drawing/2014/main" id="{5A1E9683-CC73-BF87-9240-DCA40A7E620E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79393"/>
          <a:stretch>
            <a:fillRect/>
          </a:stretch>
        </p:blipFill>
        <p:spPr>
          <a:xfrm>
            <a:off x="5309335" y="4801167"/>
            <a:ext cx="312170" cy="137550"/>
          </a:xfrm>
          <a:prstGeom prst="rect">
            <a:avLst/>
          </a:prstGeom>
        </p:spPr>
      </p:pic>
      <p:pic>
        <p:nvPicPr>
          <p:cNvPr id="256" name="그림 255">
            <a:extLst>
              <a:ext uri="{FF2B5EF4-FFF2-40B4-BE49-F238E27FC236}">
                <a16:creationId xmlns:a16="http://schemas.microsoft.com/office/drawing/2014/main" id="{BA2B2613-F6E0-96EA-42E7-2B141BB7B462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8030" r="48838"/>
          <a:stretch>
            <a:fillRect/>
          </a:stretch>
        </p:blipFill>
        <p:spPr>
          <a:xfrm>
            <a:off x="5956804" y="4793563"/>
            <a:ext cx="144630" cy="137117"/>
          </a:xfrm>
          <a:prstGeom prst="rect">
            <a:avLst/>
          </a:prstGeom>
        </p:spPr>
      </p:pic>
      <p:pic>
        <p:nvPicPr>
          <p:cNvPr id="257" name="그림 256">
            <a:extLst>
              <a:ext uri="{FF2B5EF4-FFF2-40B4-BE49-F238E27FC236}">
                <a16:creationId xmlns:a16="http://schemas.microsoft.com/office/drawing/2014/main" id="{03968C46-B3F4-C235-1C6E-FC7B62984089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3435" t="78030"/>
          <a:stretch>
            <a:fillRect/>
          </a:stretch>
        </p:blipFill>
        <p:spPr>
          <a:xfrm>
            <a:off x="6109139" y="4788384"/>
            <a:ext cx="140328" cy="146172"/>
          </a:xfrm>
          <a:prstGeom prst="rect">
            <a:avLst/>
          </a:prstGeom>
        </p:spPr>
      </p:pic>
      <p:pic>
        <p:nvPicPr>
          <p:cNvPr id="259" name="그림 258">
            <a:extLst>
              <a:ext uri="{FF2B5EF4-FFF2-40B4-BE49-F238E27FC236}">
                <a16:creationId xmlns:a16="http://schemas.microsoft.com/office/drawing/2014/main" id="{83D8BAC2-A2F1-4D37-752D-408D9C07173E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611" b="57541"/>
          <a:stretch>
            <a:fillRect/>
          </a:stretch>
        </p:blipFill>
        <p:spPr>
          <a:xfrm>
            <a:off x="5629211" y="4788382"/>
            <a:ext cx="312170" cy="139161"/>
          </a:xfrm>
          <a:prstGeom prst="rect">
            <a:avLst/>
          </a:prstGeom>
        </p:spPr>
      </p:pic>
      <p:sp>
        <p:nvSpPr>
          <p:cNvPr id="260" name="사각형: 둥근 모서리 259">
            <a:extLst>
              <a:ext uri="{FF2B5EF4-FFF2-40B4-BE49-F238E27FC236}">
                <a16:creationId xmlns:a16="http://schemas.microsoft.com/office/drawing/2014/main" id="{818FAFDE-8562-71CC-664C-E5320AFA44FE}"/>
              </a:ext>
            </a:extLst>
          </p:cNvPr>
          <p:cNvSpPr/>
          <p:nvPr/>
        </p:nvSpPr>
        <p:spPr>
          <a:xfrm>
            <a:off x="6588904" y="4760119"/>
            <a:ext cx="420313" cy="1040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AI</a:t>
            </a:r>
            <a:r>
              <a: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기반</a:t>
            </a:r>
          </a:p>
        </p:txBody>
      </p:sp>
      <p:sp>
        <p:nvSpPr>
          <p:cNvPr id="261" name="사각형: 둥근 모서리 260">
            <a:extLst>
              <a:ext uri="{FF2B5EF4-FFF2-40B4-BE49-F238E27FC236}">
                <a16:creationId xmlns:a16="http://schemas.microsoft.com/office/drawing/2014/main" id="{65476E37-348B-E286-2EEB-71FD9DF8A75F}"/>
              </a:ext>
            </a:extLst>
          </p:cNvPr>
          <p:cNvSpPr/>
          <p:nvPr/>
        </p:nvSpPr>
        <p:spPr>
          <a:xfrm>
            <a:off x="7055178" y="4760119"/>
            <a:ext cx="420313" cy="1040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OCR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62" name="사각형: 둥근 모서리 261">
            <a:extLst>
              <a:ext uri="{FF2B5EF4-FFF2-40B4-BE49-F238E27FC236}">
                <a16:creationId xmlns:a16="http://schemas.microsoft.com/office/drawing/2014/main" id="{5660503F-B8BE-1BBF-4376-750B1CF87915}"/>
              </a:ext>
            </a:extLst>
          </p:cNvPr>
          <p:cNvSpPr/>
          <p:nvPr/>
        </p:nvSpPr>
        <p:spPr>
          <a:xfrm>
            <a:off x="6590797" y="4883025"/>
            <a:ext cx="420313" cy="1040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STT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63" name="사각형: 둥근 모서리 262">
            <a:extLst>
              <a:ext uri="{FF2B5EF4-FFF2-40B4-BE49-F238E27FC236}">
                <a16:creationId xmlns:a16="http://schemas.microsoft.com/office/drawing/2014/main" id="{5D550DFE-D0E9-5E51-0E25-BE666EBDAE11}"/>
              </a:ext>
            </a:extLst>
          </p:cNvPr>
          <p:cNvSpPr/>
          <p:nvPr/>
        </p:nvSpPr>
        <p:spPr>
          <a:xfrm>
            <a:off x="7057071" y="4883025"/>
            <a:ext cx="420313" cy="1040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TA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66" name="사각형: 둥근 모서리 265">
            <a:extLst>
              <a:ext uri="{FF2B5EF4-FFF2-40B4-BE49-F238E27FC236}">
                <a16:creationId xmlns:a16="http://schemas.microsoft.com/office/drawing/2014/main" id="{4653EA53-2DE2-B47F-EDB0-BA388D35A0F2}"/>
              </a:ext>
            </a:extLst>
          </p:cNvPr>
          <p:cNvSpPr/>
          <p:nvPr/>
        </p:nvSpPr>
        <p:spPr>
          <a:xfrm>
            <a:off x="5311779" y="5006307"/>
            <a:ext cx="2181689" cy="116965"/>
          </a:xfrm>
          <a:prstGeom prst="roundRect">
            <a:avLst>
              <a:gd name="adj" fmla="val 23983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000"/>
              </a:lnSpc>
            </a:pPr>
            <a:r>
              <a:rPr lang="ko-KR" altLang="en-US" sz="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anumSquare Bold" panose="020B0600000101010101" pitchFamily="34" charset="-127"/>
                <a:ea typeface="NanumSquare Bold" panose="020B0600000101010101" pitchFamily="34" charset="-127"/>
              </a:rPr>
              <a:t>업무자동화 </a:t>
            </a:r>
            <a:r>
              <a:rPr lang="en-US" altLang="ko-KR" sz="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anumSquare Bold" panose="020B0600000101010101" pitchFamily="34" charset="-127"/>
                <a:ea typeface="NanumSquare Bold" panose="020B0600000101010101" pitchFamily="34" charset="-127"/>
              </a:rPr>
              <a:t>(</a:t>
            </a:r>
            <a:r>
              <a:rPr lang="ko-KR" altLang="en-US" sz="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anumSquare Bold" panose="020B0600000101010101" pitchFamily="34" charset="-127"/>
                <a:ea typeface="NanumSquare Bold" panose="020B0600000101010101" pitchFamily="34" charset="-127"/>
              </a:rPr>
              <a:t>기반 파이프라인</a:t>
            </a:r>
            <a:r>
              <a:rPr lang="en-US" altLang="ko-KR" sz="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anumSquare Bold" panose="020B0600000101010101" pitchFamily="34" charset="-127"/>
                <a:ea typeface="NanumSquare Bold" panose="020B0600000101010101" pitchFamily="34" charset="-127"/>
              </a:rPr>
              <a:t>)</a:t>
            </a:r>
            <a:endParaRPr lang="ko-GY" altLang="ko-KR" sz="7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267" name="사각형: 둥근 모서리 266">
            <a:extLst>
              <a:ext uri="{FF2B5EF4-FFF2-40B4-BE49-F238E27FC236}">
                <a16:creationId xmlns:a16="http://schemas.microsoft.com/office/drawing/2014/main" id="{F0C3C78A-D0D6-8E1C-835B-94234D81F16E}"/>
              </a:ext>
            </a:extLst>
          </p:cNvPr>
          <p:cNvSpPr/>
          <p:nvPr/>
        </p:nvSpPr>
        <p:spPr>
          <a:xfrm>
            <a:off x="5311779" y="5133938"/>
            <a:ext cx="2181689" cy="116965"/>
          </a:xfrm>
          <a:prstGeom prst="roundRect">
            <a:avLst>
              <a:gd name="adj" fmla="val 23983"/>
            </a:avLst>
          </a:prstGeom>
          <a:solidFill>
            <a:srgbClr val="F7742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ts val="1000"/>
              </a:lnSpc>
            </a:pPr>
            <a:r>
              <a:rPr lang="ko-KR" altLang="en-US" sz="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anumSquare Bold" panose="020B0600000101010101" pitchFamily="34" charset="-127"/>
                <a:ea typeface="NanumSquare Bold" panose="020B0600000101010101" pitchFamily="34" charset="-127"/>
              </a:rPr>
              <a:t>빅데이터화 </a:t>
            </a:r>
            <a:r>
              <a:rPr lang="en-US" altLang="ko-KR" sz="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anumSquare Bold" panose="020B0600000101010101" pitchFamily="34" charset="-127"/>
                <a:ea typeface="NanumSquare Bold" panose="020B0600000101010101" pitchFamily="34" charset="-127"/>
              </a:rPr>
              <a:t>(</a:t>
            </a:r>
            <a:r>
              <a:rPr lang="ko-KR" altLang="en-US" sz="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anumSquare Bold" panose="020B0600000101010101" pitchFamily="34" charset="-127"/>
                <a:ea typeface="NanumSquare Bold" panose="020B0600000101010101" pitchFamily="34" charset="-127"/>
              </a:rPr>
              <a:t>공통 파이프라인</a:t>
            </a:r>
            <a:r>
              <a:rPr lang="en-US" altLang="ko-KR" sz="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anumSquare Bold" panose="020B0600000101010101" pitchFamily="34" charset="-127"/>
                <a:ea typeface="NanumSquare Bold" panose="020B0600000101010101" pitchFamily="34" charset="-127"/>
              </a:rPr>
              <a:t>)</a:t>
            </a:r>
            <a:endParaRPr lang="ko-GY" altLang="ko-KR" sz="7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268" name="사각형: 둥근 모서리 267">
            <a:extLst>
              <a:ext uri="{FF2B5EF4-FFF2-40B4-BE49-F238E27FC236}">
                <a16:creationId xmlns:a16="http://schemas.microsoft.com/office/drawing/2014/main" id="{2C36ED48-ACBD-7168-015D-F8B1174587F8}"/>
              </a:ext>
            </a:extLst>
          </p:cNvPr>
          <p:cNvSpPr/>
          <p:nvPr/>
        </p:nvSpPr>
        <p:spPr>
          <a:xfrm>
            <a:off x="7796983" y="4773061"/>
            <a:ext cx="947281" cy="1040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RDB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69" name="사각형: 둥근 모서리 268">
            <a:extLst>
              <a:ext uri="{FF2B5EF4-FFF2-40B4-BE49-F238E27FC236}">
                <a16:creationId xmlns:a16="http://schemas.microsoft.com/office/drawing/2014/main" id="{9A348B18-1177-DD27-6CB6-13C307516A82}"/>
              </a:ext>
            </a:extLst>
          </p:cNvPr>
          <p:cNvSpPr/>
          <p:nvPr/>
        </p:nvSpPr>
        <p:spPr>
          <a:xfrm>
            <a:off x="7796983" y="4888826"/>
            <a:ext cx="947281" cy="1040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NoSQL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70" name="사각형: 둥근 모서리 269">
            <a:extLst>
              <a:ext uri="{FF2B5EF4-FFF2-40B4-BE49-F238E27FC236}">
                <a16:creationId xmlns:a16="http://schemas.microsoft.com/office/drawing/2014/main" id="{7E2501B5-B854-07F7-5818-E3F0B741C50F}"/>
              </a:ext>
            </a:extLst>
          </p:cNvPr>
          <p:cNvSpPr/>
          <p:nvPr/>
        </p:nvSpPr>
        <p:spPr>
          <a:xfrm>
            <a:off x="7796983" y="5004591"/>
            <a:ext cx="947281" cy="1040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HDFS</a:t>
            </a:r>
            <a:endParaRPr lang="ko-KR" altLang="en-US" sz="600" dirty="0">
              <a:solidFill>
                <a:schemeClr val="tx1"/>
              </a:solidFill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271" name="사각형: 둥근 모서리 270">
            <a:extLst>
              <a:ext uri="{FF2B5EF4-FFF2-40B4-BE49-F238E27FC236}">
                <a16:creationId xmlns:a16="http://schemas.microsoft.com/office/drawing/2014/main" id="{4CDD97B0-F95E-2877-7B32-60E63357AF96}"/>
              </a:ext>
            </a:extLst>
          </p:cNvPr>
          <p:cNvSpPr/>
          <p:nvPr/>
        </p:nvSpPr>
        <p:spPr>
          <a:xfrm>
            <a:off x="7796983" y="5120355"/>
            <a:ext cx="947281" cy="104013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저장소</a:t>
            </a:r>
          </a:p>
        </p:txBody>
      </p:sp>
      <p:sp>
        <p:nvSpPr>
          <p:cNvPr id="272" name="사각형: 둥근 모서리 271">
            <a:extLst>
              <a:ext uri="{FF2B5EF4-FFF2-40B4-BE49-F238E27FC236}">
                <a16:creationId xmlns:a16="http://schemas.microsoft.com/office/drawing/2014/main" id="{ECD2D724-FAB9-564A-2E34-A3CD61487B65}"/>
              </a:ext>
            </a:extLst>
          </p:cNvPr>
          <p:cNvSpPr/>
          <p:nvPr/>
        </p:nvSpPr>
        <p:spPr>
          <a:xfrm>
            <a:off x="9042222" y="4773061"/>
            <a:ext cx="947281" cy="13891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accent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지능형 검색</a:t>
            </a:r>
          </a:p>
        </p:txBody>
      </p:sp>
      <p:sp>
        <p:nvSpPr>
          <p:cNvPr id="273" name="사각형: 둥근 모서리 272">
            <a:extLst>
              <a:ext uri="{FF2B5EF4-FFF2-40B4-BE49-F238E27FC236}">
                <a16:creationId xmlns:a16="http://schemas.microsoft.com/office/drawing/2014/main" id="{17ED3595-12DD-6A54-F68E-49B3AECFC100}"/>
              </a:ext>
            </a:extLst>
          </p:cNvPr>
          <p:cNvSpPr/>
          <p:nvPr/>
        </p:nvSpPr>
        <p:spPr>
          <a:xfrm>
            <a:off x="9042222" y="4930497"/>
            <a:ext cx="947281" cy="13891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ko-KR" sz="600" dirty="0">
                <a:solidFill>
                  <a:schemeClr val="accent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AI </a:t>
            </a:r>
            <a:r>
              <a:rPr lang="ko-KR" altLang="en-US" sz="600" dirty="0">
                <a:solidFill>
                  <a:schemeClr val="accent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기반 분석</a:t>
            </a:r>
          </a:p>
        </p:txBody>
      </p:sp>
      <p:sp>
        <p:nvSpPr>
          <p:cNvPr id="274" name="사각형: 둥근 모서리 273">
            <a:extLst>
              <a:ext uri="{FF2B5EF4-FFF2-40B4-BE49-F238E27FC236}">
                <a16:creationId xmlns:a16="http://schemas.microsoft.com/office/drawing/2014/main" id="{D5109657-73D7-D698-1F6D-DC4BF321FD71}"/>
              </a:ext>
            </a:extLst>
          </p:cNvPr>
          <p:cNvSpPr/>
          <p:nvPr/>
        </p:nvSpPr>
        <p:spPr>
          <a:xfrm>
            <a:off x="9042222" y="5087932"/>
            <a:ext cx="947281" cy="138912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ko-KR" altLang="en-US" sz="600" dirty="0">
                <a:solidFill>
                  <a:schemeClr val="accent1">
                    <a:lumMod val="50000"/>
                  </a:schemeClr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rPr>
              <a:t>분석 시각화</a:t>
            </a:r>
          </a:p>
        </p:txBody>
      </p:sp>
      <p:sp>
        <p:nvSpPr>
          <p:cNvPr id="280" name="사각형: 둥근 모서리 279">
            <a:extLst>
              <a:ext uri="{FF2B5EF4-FFF2-40B4-BE49-F238E27FC236}">
                <a16:creationId xmlns:a16="http://schemas.microsoft.com/office/drawing/2014/main" id="{2AA22034-A413-0683-382F-0C3DAF4CE691}"/>
              </a:ext>
            </a:extLst>
          </p:cNvPr>
          <p:cNvSpPr/>
          <p:nvPr/>
        </p:nvSpPr>
        <p:spPr>
          <a:xfrm>
            <a:off x="3610193" y="2769617"/>
            <a:ext cx="6505910" cy="936000"/>
          </a:xfrm>
          <a:prstGeom prst="roundRect">
            <a:avLst>
              <a:gd name="adj" fmla="val 9164"/>
            </a:avLst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900" b="1">
              <a:solidFill>
                <a:schemeClr val="tx1"/>
              </a:solidFill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grpSp>
        <p:nvGrpSpPr>
          <p:cNvPr id="389" name="그룹 388">
            <a:extLst>
              <a:ext uri="{FF2B5EF4-FFF2-40B4-BE49-F238E27FC236}">
                <a16:creationId xmlns:a16="http://schemas.microsoft.com/office/drawing/2014/main" id="{A5F2F0FA-528A-BF48-543C-3EA2A8B63260}"/>
              </a:ext>
            </a:extLst>
          </p:cNvPr>
          <p:cNvGrpSpPr/>
          <p:nvPr/>
        </p:nvGrpSpPr>
        <p:grpSpPr>
          <a:xfrm>
            <a:off x="3610193" y="3757244"/>
            <a:ext cx="6505910" cy="494716"/>
            <a:chOff x="3628609" y="3829050"/>
            <a:chExt cx="6487493" cy="422910"/>
          </a:xfrm>
        </p:grpSpPr>
        <p:sp>
          <p:nvSpPr>
            <p:cNvPr id="275" name="사각형: 둥근 모서리 274">
              <a:extLst>
                <a:ext uri="{FF2B5EF4-FFF2-40B4-BE49-F238E27FC236}">
                  <a16:creationId xmlns:a16="http://schemas.microsoft.com/office/drawing/2014/main" id="{AD7471EF-EFCE-E390-ADA6-45EEB4DFA902}"/>
                </a:ext>
              </a:extLst>
            </p:cNvPr>
            <p:cNvSpPr/>
            <p:nvPr/>
          </p:nvSpPr>
          <p:spPr>
            <a:xfrm>
              <a:off x="3628609" y="3829050"/>
              <a:ext cx="6487493" cy="422910"/>
            </a:xfrm>
            <a:prstGeom prst="roundRect">
              <a:avLst>
                <a:gd name="adj" fmla="val 9164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900" b="1">
                <a:solidFill>
                  <a:schemeClr val="tx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endParaRPr>
            </a:p>
          </p:txBody>
        </p:sp>
        <p:grpSp>
          <p:nvGrpSpPr>
            <p:cNvPr id="291" name="그룹 290">
              <a:extLst>
                <a:ext uri="{FF2B5EF4-FFF2-40B4-BE49-F238E27FC236}">
                  <a16:creationId xmlns:a16="http://schemas.microsoft.com/office/drawing/2014/main" id="{FC62A5F1-3197-F8FF-CF7F-E9FB4E89DEF6}"/>
                </a:ext>
              </a:extLst>
            </p:cNvPr>
            <p:cNvGrpSpPr/>
            <p:nvPr/>
          </p:nvGrpSpPr>
          <p:grpSpPr>
            <a:xfrm>
              <a:off x="3727276" y="3878071"/>
              <a:ext cx="3065381" cy="329512"/>
              <a:chOff x="5027354" y="3871721"/>
              <a:chExt cx="3386706" cy="329512"/>
            </a:xfrm>
          </p:grpSpPr>
          <p:grpSp>
            <p:nvGrpSpPr>
              <p:cNvPr id="284" name="그룹 283">
                <a:extLst>
                  <a:ext uri="{FF2B5EF4-FFF2-40B4-BE49-F238E27FC236}">
                    <a16:creationId xmlns:a16="http://schemas.microsoft.com/office/drawing/2014/main" id="{ED3A725D-90CF-1A95-2445-85103665E37A}"/>
                  </a:ext>
                </a:extLst>
              </p:cNvPr>
              <p:cNvGrpSpPr/>
              <p:nvPr/>
            </p:nvGrpSpPr>
            <p:grpSpPr>
              <a:xfrm>
                <a:off x="5027354" y="3871721"/>
                <a:ext cx="771783" cy="329512"/>
                <a:chOff x="5027354" y="3876648"/>
                <a:chExt cx="771783" cy="329512"/>
              </a:xfrm>
            </p:grpSpPr>
            <p:sp>
              <p:nvSpPr>
                <p:cNvPr id="278" name="사각형: 둥근 모서리 277">
                  <a:extLst>
                    <a:ext uri="{FF2B5EF4-FFF2-40B4-BE49-F238E27FC236}">
                      <a16:creationId xmlns:a16="http://schemas.microsoft.com/office/drawing/2014/main" id="{6F7C3497-A62E-7AB4-C2DC-42CF1071EFDC}"/>
                    </a:ext>
                  </a:extLst>
                </p:cNvPr>
                <p:cNvSpPr/>
                <p:nvPr/>
              </p:nvSpPr>
              <p:spPr>
                <a:xfrm>
                  <a:off x="5027354" y="3876648"/>
                  <a:ext cx="771783" cy="14524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700" dirty="0">
                      <a:solidFill>
                        <a:schemeClr val="tx1"/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LLM</a:t>
                  </a:r>
                  <a:endParaRPr lang="ko-KR" altLang="en-US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  <p:sp>
              <p:nvSpPr>
                <p:cNvPr id="279" name="사각형: 둥근 모서리 278">
                  <a:extLst>
                    <a:ext uri="{FF2B5EF4-FFF2-40B4-BE49-F238E27FC236}">
                      <a16:creationId xmlns:a16="http://schemas.microsoft.com/office/drawing/2014/main" id="{11D8830C-82BD-39E9-4BE6-84454535A90F}"/>
                    </a:ext>
                  </a:extLst>
                </p:cNvPr>
                <p:cNvSpPr/>
                <p:nvPr/>
              </p:nvSpPr>
              <p:spPr>
                <a:xfrm>
                  <a:off x="5027354" y="4060919"/>
                  <a:ext cx="771783" cy="14524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700" dirty="0" err="1">
                      <a:solidFill>
                        <a:schemeClr val="tx1"/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PyTorch</a:t>
                  </a:r>
                  <a:endParaRPr lang="ko-KR" altLang="en-US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p:grpSp>
          <p:grpSp>
            <p:nvGrpSpPr>
              <p:cNvPr id="283" name="그룹 282">
                <a:extLst>
                  <a:ext uri="{FF2B5EF4-FFF2-40B4-BE49-F238E27FC236}">
                    <a16:creationId xmlns:a16="http://schemas.microsoft.com/office/drawing/2014/main" id="{44E7EAD3-E604-6657-31FC-2B97B1312BA2}"/>
                  </a:ext>
                </a:extLst>
              </p:cNvPr>
              <p:cNvGrpSpPr/>
              <p:nvPr/>
            </p:nvGrpSpPr>
            <p:grpSpPr>
              <a:xfrm>
                <a:off x="5898995" y="3871721"/>
                <a:ext cx="771783" cy="329512"/>
                <a:chOff x="5908416" y="3871941"/>
                <a:chExt cx="771783" cy="329512"/>
              </a:xfrm>
            </p:grpSpPr>
            <p:sp>
              <p:nvSpPr>
                <p:cNvPr id="281" name="사각형: 둥근 모서리 280">
                  <a:extLst>
                    <a:ext uri="{FF2B5EF4-FFF2-40B4-BE49-F238E27FC236}">
                      <a16:creationId xmlns:a16="http://schemas.microsoft.com/office/drawing/2014/main" id="{FF5E554D-044E-D597-C6D1-E385A0272B28}"/>
                    </a:ext>
                  </a:extLst>
                </p:cNvPr>
                <p:cNvSpPr/>
                <p:nvPr/>
              </p:nvSpPr>
              <p:spPr>
                <a:xfrm>
                  <a:off x="5908416" y="3871941"/>
                  <a:ext cx="771783" cy="14524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700" dirty="0">
                      <a:solidFill>
                        <a:schemeClr val="tx1"/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On Prem. LLM</a:t>
                  </a:r>
                  <a:endParaRPr lang="ko-KR" altLang="en-US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  <p:sp>
              <p:nvSpPr>
                <p:cNvPr id="282" name="사각형: 둥근 모서리 281">
                  <a:extLst>
                    <a:ext uri="{FF2B5EF4-FFF2-40B4-BE49-F238E27FC236}">
                      <a16:creationId xmlns:a16="http://schemas.microsoft.com/office/drawing/2014/main" id="{AB33EAA5-DB52-1381-17CF-55D1BCF969EA}"/>
                    </a:ext>
                  </a:extLst>
                </p:cNvPr>
                <p:cNvSpPr/>
                <p:nvPr/>
              </p:nvSpPr>
              <p:spPr>
                <a:xfrm>
                  <a:off x="5908416" y="4056212"/>
                  <a:ext cx="771783" cy="14524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700" dirty="0">
                      <a:solidFill>
                        <a:schemeClr val="tx1"/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TensorFlow</a:t>
                  </a:r>
                  <a:endParaRPr lang="ko-KR" altLang="en-US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p:grpSp>
          <p:grpSp>
            <p:nvGrpSpPr>
              <p:cNvPr id="285" name="그룹 284">
                <a:extLst>
                  <a:ext uri="{FF2B5EF4-FFF2-40B4-BE49-F238E27FC236}">
                    <a16:creationId xmlns:a16="http://schemas.microsoft.com/office/drawing/2014/main" id="{A677C1D6-DB76-B453-7C26-3F19EEE05A8A}"/>
                  </a:ext>
                </a:extLst>
              </p:cNvPr>
              <p:cNvGrpSpPr/>
              <p:nvPr/>
            </p:nvGrpSpPr>
            <p:grpSpPr>
              <a:xfrm>
                <a:off x="6770636" y="3871721"/>
                <a:ext cx="771783" cy="329512"/>
                <a:chOff x="5027354" y="3876648"/>
                <a:chExt cx="771783" cy="329512"/>
              </a:xfrm>
            </p:grpSpPr>
            <p:sp>
              <p:nvSpPr>
                <p:cNvPr id="286" name="사각형: 둥근 모서리 285">
                  <a:extLst>
                    <a:ext uri="{FF2B5EF4-FFF2-40B4-BE49-F238E27FC236}">
                      <a16:creationId xmlns:a16="http://schemas.microsoft.com/office/drawing/2014/main" id="{C7412DE5-ACBC-D57E-D2B9-2B2775BACF78}"/>
                    </a:ext>
                  </a:extLst>
                </p:cNvPr>
                <p:cNvSpPr/>
                <p:nvPr/>
              </p:nvSpPr>
              <p:spPr>
                <a:xfrm>
                  <a:off x="5027354" y="3876648"/>
                  <a:ext cx="771783" cy="14524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700" dirty="0">
                      <a:solidFill>
                        <a:schemeClr val="tx1"/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Vision LLM</a:t>
                  </a:r>
                  <a:endParaRPr lang="ko-KR" altLang="en-US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  <p:sp>
              <p:nvSpPr>
                <p:cNvPr id="287" name="사각형: 둥근 모서리 286">
                  <a:extLst>
                    <a:ext uri="{FF2B5EF4-FFF2-40B4-BE49-F238E27FC236}">
                      <a16:creationId xmlns:a16="http://schemas.microsoft.com/office/drawing/2014/main" id="{7E10DEA4-7803-5590-F38F-75C151514992}"/>
                    </a:ext>
                  </a:extLst>
                </p:cNvPr>
                <p:cNvSpPr/>
                <p:nvPr/>
              </p:nvSpPr>
              <p:spPr>
                <a:xfrm>
                  <a:off x="5027354" y="4060919"/>
                  <a:ext cx="771783" cy="14524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700" dirty="0" err="1">
                      <a:solidFill>
                        <a:schemeClr val="tx1"/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LangChain</a:t>
                  </a:r>
                  <a:endParaRPr lang="ko-KR" altLang="en-US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p:grpSp>
          <p:grpSp>
            <p:nvGrpSpPr>
              <p:cNvPr id="288" name="그룹 287">
                <a:extLst>
                  <a:ext uri="{FF2B5EF4-FFF2-40B4-BE49-F238E27FC236}">
                    <a16:creationId xmlns:a16="http://schemas.microsoft.com/office/drawing/2014/main" id="{B67031C4-B93B-ED98-5B17-EF33AC876D3B}"/>
                  </a:ext>
                </a:extLst>
              </p:cNvPr>
              <p:cNvGrpSpPr/>
              <p:nvPr/>
            </p:nvGrpSpPr>
            <p:grpSpPr>
              <a:xfrm>
                <a:off x="7642277" y="3871721"/>
                <a:ext cx="771783" cy="329512"/>
                <a:chOff x="5908416" y="3871941"/>
                <a:chExt cx="771783" cy="329512"/>
              </a:xfrm>
            </p:grpSpPr>
            <p:sp>
              <p:nvSpPr>
                <p:cNvPr id="289" name="사각형: 둥근 모서리 288">
                  <a:extLst>
                    <a:ext uri="{FF2B5EF4-FFF2-40B4-BE49-F238E27FC236}">
                      <a16:creationId xmlns:a16="http://schemas.microsoft.com/office/drawing/2014/main" id="{D46C8A32-0AF3-3C6F-833B-C837A42DF775}"/>
                    </a:ext>
                  </a:extLst>
                </p:cNvPr>
                <p:cNvSpPr/>
                <p:nvPr/>
              </p:nvSpPr>
              <p:spPr>
                <a:xfrm>
                  <a:off x="5908416" y="3871941"/>
                  <a:ext cx="771783" cy="14524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700" dirty="0">
                      <a:solidFill>
                        <a:schemeClr val="tx1"/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BGE-M3</a:t>
                  </a:r>
                  <a:endParaRPr lang="ko-KR" altLang="en-US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  <p:sp>
              <p:nvSpPr>
                <p:cNvPr id="290" name="사각형: 둥근 모서리 289">
                  <a:extLst>
                    <a:ext uri="{FF2B5EF4-FFF2-40B4-BE49-F238E27FC236}">
                      <a16:creationId xmlns:a16="http://schemas.microsoft.com/office/drawing/2014/main" id="{33BE0D2E-CF67-A877-D85E-447246965B4D}"/>
                    </a:ext>
                  </a:extLst>
                </p:cNvPr>
                <p:cNvSpPr/>
                <p:nvPr/>
              </p:nvSpPr>
              <p:spPr>
                <a:xfrm>
                  <a:off x="5908416" y="4056212"/>
                  <a:ext cx="771783" cy="14524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700" dirty="0" err="1">
                      <a:solidFill>
                        <a:schemeClr val="tx1"/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vLLM</a:t>
                  </a:r>
                  <a:endParaRPr lang="ko-KR" altLang="en-US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p:grpSp>
        </p:grpSp>
        <p:grpSp>
          <p:nvGrpSpPr>
            <p:cNvPr id="292" name="그룹 291">
              <a:extLst>
                <a:ext uri="{FF2B5EF4-FFF2-40B4-BE49-F238E27FC236}">
                  <a16:creationId xmlns:a16="http://schemas.microsoft.com/office/drawing/2014/main" id="{6AD0A95E-CA87-0F50-09CB-3CECE13AB5AA}"/>
                </a:ext>
              </a:extLst>
            </p:cNvPr>
            <p:cNvGrpSpPr/>
            <p:nvPr/>
          </p:nvGrpSpPr>
          <p:grpSpPr>
            <a:xfrm>
              <a:off x="6931125" y="3878071"/>
              <a:ext cx="3065381" cy="329512"/>
              <a:chOff x="5027354" y="3871721"/>
              <a:chExt cx="3386706" cy="329512"/>
            </a:xfrm>
          </p:grpSpPr>
          <p:grpSp>
            <p:nvGrpSpPr>
              <p:cNvPr id="293" name="그룹 292">
                <a:extLst>
                  <a:ext uri="{FF2B5EF4-FFF2-40B4-BE49-F238E27FC236}">
                    <a16:creationId xmlns:a16="http://schemas.microsoft.com/office/drawing/2014/main" id="{1BB21E7A-3D5D-AC98-73B3-F6B67ABEE133}"/>
                  </a:ext>
                </a:extLst>
              </p:cNvPr>
              <p:cNvGrpSpPr/>
              <p:nvPr/>
            </p:nvGrpSpPr>
            <p:grpSpPr>
              <a:xfrm>
                <a:off x="5027354" y="3871721"/>
                <a:ext cx="771783" cy="329512"/>
                <a:chOff x="5027354" y="3876648"/>
                <a:chExt cx="771783" cy="329512"/>
              </a:xfrm>
            </p:grpSpPr>
            <p:sp>
              <p:nvSpPr>
                <p:cNvPr id="303" name="사각형: 둥근 모서리 302">
                  <a:extLst>
                    <a:ext uri="{FF2B5EF4-FFF2-40B4-BE49-F238E27FC236}">
                      <a16:creationId xmlns:a16="http://schemas.microsoft.com/office/drawing/2014/main" id="{3FD2769A-E69B-402D-89E0-8EB688F6548C}"/>
                    </a:ext>
                  </a:extLst>
                </p:cNvPr>
                <p:cNvSpPr/>
                <p:nvPr/>
              </p:nvSpPr>
              <p:spPr>
                <a:xfrm>
                  <a:off x="5027354" y="3876648"/>
                  <a:ext cx="771783" cy="14524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700" dirty="0">
                      <a:solidFill>
                        <a:schemeClr val="tx1"/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OCR</a:t>
                  </a:r>
                  <a:endParaRPr lang="ko-KR" altLang="en-US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  <p:sp>
              <p:nvSpPr>
                <p:cNvPr id="304" name="사각형: 둥근 모서리 303">
                  <a:extLst>
                    <a:ext uri="{FF2B5EF4-FFF2-40B4-BE49-F238E27FC236}">
                      <a16:creationId xmlns:a16="http://schemas.microsoft.com/office/drawing/2014/main" id="{C670A20A-1BD3-D3E9-589E-DDB0538C4ED6}"/>
                    </a:ext>
                  </a:extLst>
                </p:cNvPr>
                <p:cNvSpPr/>
                <p:nvPr/>
              </p:nvSpPr>
              <p:spPr>
                <a:xfrm>
                  <a:off x="5027354" y="4060919"/>
                  <a:ext cx="771783" cy="14524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700" dirty="0" err="1">
                      <a:solidFill>
                        <a:schemeClr val="tx1"/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LangGraph</a:t>
                  </a:r>
                  <a:endParaRPr lang="ko-KR" altLang="en-US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p:grpSp>
          <p:grpSp>
            <p:nvGrpSpPr>
              <p:cNvPr id="294" name="그룹 293">
                <a:extLst>
                  <a:ext uri="{FF2B5EF4-FFF2-40B4-BE49-F238E27FC236}">
                    <a16:creationId xmlns:a16="http://schemas.microsoft.com/office/drawing/2014/main" id="{C317594C-3421-A0CF-A159-08E66AC2E457}"/>
                  </a:ext>
                </a:extLst>
              </p:cNvPr>
              <p:cNvGrpSpPr/>
              <p:nvPr/>
            </p:nvGrpSpPr>
            <p:grpSpPr>
              <a:xfrm>
                <a:off x="5898995" y="3871721"/>
                <a:ext cx="771783" cy="329512"/>
                <a:chOff x="5908416" y="3871941"/>
                <a:chExt cx="771783" cy="329512"/>
              </a:xfrm>
            </p:grpSpPr>
            <p:sp>
              <p:nvSpPr>
                <p:cNvPr id="301" name="사각형: 둥근 모서리 300">
                  <a:extLst>
                    <a:ext uri="{FF2B5EF4-FFF2-40B4-BE49-F238E27FC236}">
                      <a16:creationId xmlns:a16="http://schemas.microsoft.com/office/drawing/2014/main" id="{A9FEE04C-4C43-E68B-DEB1-A9604032F88B}"/>
                    </a:ext>
                  </a:extLst>
                </p:cNvPr>
                <p:cNvSpPr/>
                <p:nvPr/>
              </p:nvSpPr>
              <p:spPr>
                <a:xfrm>
                  <a:off x="5908416" y="3871941"/>
                  <a:ext cx="771783" cy="14524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700" dirty="0">
                      <a:solidFill>
                        <a:schemeClr val="tx1"/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Random Forest</a:t>
                  </a:r>
                  <a:endParaRPr lang="ko-KR" altLang="en-US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  <p:sp>
              <p:nvSpPr>
                <p:cNvPr id="302" name="사각형: 둥근 모서리 301">
                  <a:extLst>
                    <a:ext uri="{FF2B5EF4-FFF2-40B4-BE49-F238E27FC236}">
                      <a16:creationId xmlns:a16="http://schemas.microsoft.com/office/drawing/2014/main" id="{D3261A79-FAA1-4D23-9F89-A8F06F66EAE5}"/>
                    </a:ext>
                  </a:extLst>
                </p:cNvPr>
                <p:cNvSpPr/>
                <p:nvPr/>
              </p:nvSpPr>
              <p:spPr>
                <a:xfrm>
                  <a:off x="5908416" y="4056212"/>
                  <a:ext cx="771783" cy="14524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700" dirty="0" err="1">
                      <a:solidFill>
                        <a:schemeClr val="tx1"/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Qdrant</a:t>
                  </a:r>
                  <a:endParaRPr lang="ko-KR" altLang="en-US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p:grpSp>
          <p:grpSp>
            <p:nvGrpSpPr>
              <p:cNvPr id="295" name="그룹 294">
                <a:extLst>
                  <a:ext uri="{FF2B5EF4-FFF2-40B4-BE49-F238E27FC236}">
                    <a16:creationId xmlns:a16="http://schemas.microsoft.com/office/drawing/2014/main" id="{B16C6B83-8A50-A91A-E990-28BD0A77A674}"/>
                  </a:ext>
                </a:extLst>
              </p:cNvPr>
              <p:cNvGrpSpPr/>
              <p:nvPr/>
            </p:nvGrpSpPr>
            <p:grpSpPr>
              <a:xfrm>
                <a:off x="6770636" y="3871721"/>
                <a:ext cx="771783" cy="329512"/>
                <a:chOff x="5027354" y="3876648"/>
                <a:chExt cx="771783" cy="329512"/>
              </a:xfrm>
            </p:grpSpPr>
            <p:sp>
              <p:nvSpPr>
                <p:cNvPr id="299" name="사각형: 둥근 모서리 298">
                  <a:extLst>
                    <a:ext uri="{FF2B5EF4-FFF2-40B4-BE49-F238E27FC236}">
                      <a16:creationId xmlns:a16="http://schemas.microsoft.com/office/drawing/2014/main" id="{14440E9C-0F26-E775-DF73-3F9413680A52}"/>
                    </a:ext>
                  </a:extLst>
                </p:cNvPr>
                <p:cNvSpPr/>
                <p:nvPr/>
              </p:nvSpPr>
              <p:spPr>
                <a:xfrm>
                  <a:off x="5027354" y="3876648"/>
                  <a:ext cx="771783" cy="14524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700" dirty="0" err="1">
                      <a:solidFill>
                        <a:schemeClr val="tx1"/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XGBoost</a:t>
                  </a:r>
                  <a:endParaRPr lang="ko-KR" altLang="en-US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  <p:sp>
              <p:nvSpPr>
                <p:cNvPr id="300" name="사각형: 둥근 모서리 299">
                  <a:extLst>
                    <a:ext uri="{FF2B5EF4-FFF2-40B4-BE49-F238E27FC236}">
                      <a16:creationId xmlns:a16="http://schemas.microsoft.com/office/drawing/2014/main" id="{C8B9F34F-0202-3762-D7FC-E3BFA85D3387}"/>
                    </a:ext>
                  </a:extLst>
                </p:cNvPr>
                <p:cNvSpPr/>
                <p:nvPr/>
              </p:nvSpPr>
              <p:spPr>
                <a:xfrm>
                  <a:off x="5027354" y="4060919"/>
                  <a:ext cx="771783" cy="14524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700" dirty="0">
                      <a:solidFill>
                        <a:schemeClr val="tx1"/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BERT(NER)</a:t>
                  </a:r>
                  <a:endParaRPr lang="ko-KR" altLang="en-US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p:grpSp>
          <p:grpSp>
            <p:nvGrpSpPr>
              <p:cNvPr id="296" name="그룹 295">
                <a:extLst>
                  <a:ext uri="{FF2B5EF4-FFF2-40B4-BE49-F238E27FC236}">
                    <a16:creationId xmlns:a16="http://schemas.microsoft.com/office/drawing/2014/main" id="{6F69055E-4BC7-C31E-BDF0-274D708D00D9}"/>
                  </a:ext>
                </a:extLst>
              </p:cNvPr>
              <p:cNvGrpSpPr/>
              <p:nvPr/>
            </p:nvGrpSpPr>
            <p:grpSpPr>
              <a:xfrm>
                <a:off x="7642277" y="3871721"/>
                <a:ext cx="771783" cy="329512"/>
                <a:chOff x="5908416" y="3871941"/>
                <a:chExt cx="771783" cy="329512"/>
              </a:xfrm>
            </p:grpSpPr>
            <p:sp>
              <p:nvSpPr>
                <p:cNvPr id="297" name="사각형: 둥근 모서리 296">
                  <a:extLst>
                    <a:ext uri="{FF2B5EF4-FFF2-40B4-BE49-F238E27FC236}">
                      <a16:creationId xmlns:a16="http://schemas.microsoft.com/office/drawing/2014/main" id="{4C2EDD55-1C9B-CF1E-2C62-211E959CD1ED}"/>
                    </a:ext>
                  </a:extLst>
                </p:cNvPr>
                <p:cNvSpPr/>
                <p:nvPr/>
              </p:nvSpPr>
              <p:spPr>
                <a:xfrm>
                  <a:off x="5908416" y="3871941"/>
                  <a:ext cx="771783" cy="14524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600" dirty="0">
                      <a:solidFill>
                        <a:schemeClr val="tx1"/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Whisper large V3</a:t>
                  </a:r>
                  <a:endParaRPr lang="ko-KR" altLang="en-US" sz="6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  <p:sp>
              <p:nvSpPr>
                <p:cNvPr id="298" name="사각형: 둥근 모서리 297">
                  <a:extLst>
                    <a:ext uri="{FF2B5EF4-FFF2-40B4-BE49-F238E27FC236}">
                      <a16:creationId xmlns:a16="http://schemas.microsoft.com/office/drawing/2014/main" id="{F944403A-E91E-AAC2-F8C8-381D64A916A7}"/>
                    </a:ext>
                  </a:extLst>
                </p:cNvPr>
                <p:cNvSpPr/>
                <p:nvPr/>
              </p:nvSpPr>
              <p:spPr>
                <a:xfrm>
                  <a:off x="5908416" y="4056212"/>
                  <a:ext cx="771783" cy="145241"/>
                </a:xfrm>
                <a:prstGeom prst="round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altLang="ko-KR" sz="700" dirty="0">
                      <a:solidFill>
                        <a:schemeClr val="tx1"/>
                      </a:solidFill>
                      <a:latin typeface="나눔스퀘어" panose="020B0600000101010101" pitchFamily="50" charset="-127"/>
                      <a:ea typeface="나눔스퀘어" panose="020B0600000101010101" pitchFamily="50" charset="-127"/>
                    </a:rPr>
                    <a:t>YOLOv12</a:t>
                  </a:r>
                  <a:endParaRPr lang="ko-KR" altLang="en-US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endParaRPr>
                </a:p>
              </p:txBody>
            </p:sp>
          </p:grpSp>
        </p:grpSp>
      </p:grpSp>
      <p:sp>
        <p:nvSpPr>
          <p:cNvPr id="305" name="사각형: 둥근 모서리 304">
            <a:extLst>
              <a:ext uri="{FF2B5EF4-FFF2-40B4-BE49-F238E27FC236}">
                <a16:creationId xmlns:a16="http://schemas.microsoft.com/office/drawing/2014/main" id="{41C75703-45B6-934D-595E-9DB2B5DBDB47}"/>
              </a:ext>
            </a:extLst>
          </p:cNvPr>
          <p:cNvSpPr/>
          <p:nvPr/>
        </p:nvSpPr>
        <p:spPr>
          <a:xfrm>
            <a:off x="3691427" y="2835659"/>
            <a:ext cx="866152" cy="364390"/>
          </a:xfrm>
          <a:prstGeom prst="roundRect">
            <a:avLst>
              <a:gd name="adj" fmla="val 16141"/>
            </a:avLst>
          </a:prstGeom>
          <a:solidFill>
            <a:srgbClr val="FF99CC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>
              <a:lnSpc>
                <a:spcPts val="1000"/>
              </a:lnSpc>
            </a:pPr>
            <a:r>
              <a:rPr lang="ko-KR" altLang="en-US" sz="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anumSquare Bold" panose="020B0600000101010101" pitchFamily="34" charset="-127"/>
                <a:ea typeface="NanumSquare Bold" panose="020B0600000101010101" pitchFamily="34" charset="-127"/>
              </a:rPr>
              <a:t>응급안전업무</a:t>
            </a:r>
            <a:br>
              <a:rPr lang="en-US" altLang="ko-KR" sz="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anumSquare Bold" panose="020B0600000101010101" pitchFamily="34" charset="-127"/>
                <a:ea typeface="NanumSquare Bold" panose="020B0600000101010101" pitchFamily="34" charset="-127"/>
              </a:rPr>
            </a:br>
            <a:r>
              <a:rPr lang="ko-KR" altLang="en-US" sz="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anumSquare Bold" panose="020B0600000101010101" pitchFamily="34" charset="-127"/>
                <a:ea typeface="NanumSquare Bold" panose="020B0600000101010101" pitchFamily="34" charset="-127"/>
              </a:rPr>
              <a:t>파이프라인</a:t>
            </a:r>
            <a:endParaRPr lang="ko-GY" altLang="ko-KR" sz="7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sp>
        <p:nvSpPr>
          <p:cNvPr id="306" name="사각형: 둥근 모서리 305">
            <a:extLst>
              <a:ext uri="{FF2B5EF4-FFF2-40B4-BE49-F238E27FC236}">
                <a16:creationId xmlns:a16="http://schemas.microsoft.com/office/drawing/2014/main" id="{D3EA2143-F88B-CFE2-7AC5-8A10DCC56709}"/>
              </a:ext>
            </a:extLst>
          </p:cNvPr>
          <p:cNvSpPr/>
          <p:nvPr/>
        </p:nvSpPr>
        <p:spPr>
          <a:xfrm>
            <a:off x="3691427" y="3263048"/>
            <a:ext cx="866152" cy="364390"/>
          </a:xfrm>
          <a:prstGeom prst="roundRect">
            <a:avLst>
              <a:gd name="adj" fmla="val 14181"/>
            </a:avLst>
          </a:prstGeom>
          <a:solidFill>
            <a:srgbClr val="F7742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0" rIns="36000" bIns="0" rtlCol="0" anchor="ctr"/>
          <a:lstStyle/>
          <a:p>
            <a:pPr algn="ctr">
              <a:lnSpc>
                <a:spcPts val="1000"/>
              </a:lnSpc>
            </a:pPr>
            <a:r>
              <a:rPr lang="ko-KR" altLang="en-US" sz="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anumSquare Bold" panose="020B0600000101010101" pitchFamily="34" charset="-127"/>
                <a:ea typeface="NanumSquare Bold" panose="020B0600000101010101" pitchFamily="34" charset="-127"/>
              </a:rPr>
              <a:t>일반업무</a:t>
            </a:r>
            <a:r>
              <a:rPr lang="en-US" altLang="ko-KR" sz="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anumSquare Bold" panose="020B0600000101010101" pitchFamily="34" charset="-127"/>
                <a:ea typeface="NanumSquare Bold" panose="020B0600000101010101" pitchFamily="34" charset="-127"/>
              </a:rPr>
              <a:t>(</a:t>
            </a:r>
            <a:r>
              <a:rPr lang="ko-KR" altLang="en-US" sz="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anumSquare Bold" panose="020B0600000101010101" pitchFamily="34" charset="-127"/>
                <a:ea typeface="NanumSquare Bold" panose="020B0600000101010101" pitchFamily="34" charset="-127"/>
              </a:rPr>
              <a:t>공통</a:t>
            </a:r>
            <a:r>
              <a:rPr lang="en-US" altLang="ko-KR" sz="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anumSquare Bold" panose="020B0600000101010101" pitchFamily="34" charset="-127"/>
                <a:ea typeface="NanumSquare Bold" panose="020B0600000101010101" pitchFamily="34" charset="-127"/>
              </a:rPr>
              <a:t>)</a:t>
            </a:r>
            <a:r>
              <a:rPr lang="ko-KR" altLang="en-US" sz="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anumSquare Bold" panose="020B0600000101010101" pitchFamily="34" charset="-127"/>
                <a:ea typeface="NanumSquare Bold" panose="020B0600000101010101" pitchFamily="34" charset="-127"/>
              </a:rPr>
              <a:t> </a:t>
            </a:r>
            <a:br>
              <a:rPr lang="en-US" altLang="ko-KR" sz="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anumSquare Bold" panose="020B0600000101010101" pitchFamily="34" charset="-127"/>
                <a:ea typeface="NanumSquare Bold" panose="020B0600000101010101" pitchFamily="34" charset="-127"/>
              </a:rPr>
            </a:br>
            <a:r>
              <a:rPr lang="ko-KR" altLang="en-US" sz="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NanumSquare Bold" panose="020B0600000101010101" pitchFamily="34" charset="-127"/>
                <a:ea typeface="NanumSquare Bold" panose="020B0600000101010101" pitchFamily="34" charset="-127"/>
              </a:rPr>
              <a:t>파이프라인</a:t>
            </a:r>
            <a:endParaRPr lang="ko-GY" altLang="ko-KR" sz="7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NanumSquare Bold" panose="020B0600000101010101" pitchFamily="34" charset="-127"/>
              <a:ea typeface="NanumSquare Bold" panose="020B0600000101010101" pitchFamily="34" charset="-127"/>
            </a:endParaRPr>
          </a:p>
        </p:txBody>
      </p:sp>
      <p:grpSp>
        <p:nvGrpSpPr>
          <p:cNvPr id="377" name="그룹 376">
            <a:extLst>
              <a:ext uri="{FF2B5EF4-FFF2-40B4-BE49-F238E27FC236}">
                <a16:creationId xmlns:a16="http://schemas.microsoft.com/office/drawing/2014/main" id="{4CD61E07-1E8F-45A5-464C-23B068DAA5F5}"/>
              </a:ext>
            </a:extLst>
          </p:cNvPr>
          <p:cNvGrpSpPr/>
          <p:nvPr/>
        </p:nvGrpSpPr>
        <p:grpSpPr>
          <a:xfrm>
            <a:off x="4672254" y="2850347"/>
            <a:ext cx="5321812" cy="758801"/>
            <a:chOff x="4861867" y="2857967"/>
            <a:chExt cx="5072470" cy="758801"/>
          </a:xfrm>
        </p:grpSpPr>
        <p:grpSp>
          <p:nvGrpSpPr>
            <p:cNvPr id="313" name="그룹 312">
              <a:extLst>
                <a:ext uri="{FF2B5EF4-FFF2-40B4-BE49-F238E27FC236}">
                  <a16:creationId xmlns:a16="http://schemas.microsoft.com/office/drawing/2014/main" id="{9B71696B-DCD0-A49D-D2E0-B855ACAE3F74}"/>
                </a:ext>
              </a:extLst>
            </p:cNvPr>
            <p:cNvGrpSpPr/>
            <p:nvPr/>
          </p:nvGrpSpPr>
          <p:grpSpPr>
            <a:xfrm>
              <a:off x="4861867" y="2857967"/>
              <a:ext cx="2499805" cy="339846"/>
              <a:chOff x="4861867" y="2873842"/>
              <a:chExt cx="3122518" cy="339846"/>
            </a:xfrm>
          </p:grpSpPr>
          <p:sp>
            <p:nvSpPr>
              <p:cNvPr id="309" name="사각형: 둥근 모서리 308">
                <a:extLst>
                  <a:ext uri="{FF2B5EF4-FFF2-40B4-BE49-F238E27FC236}">
                    <a16:creationId xmlns:a16="http://schemas.microsoft.com/office/drawing/2014/main" id="{37B58057-674B-47CC-87C2-798F3F95CD8E}"/>
                  </a:ext>
                </a:extLst>
              </p:cNvPr>
              <p:cNvSpPr/>
              <p:nvPr/>
            </p:nvSpPr>
            <p:spPr>
              <a:xfrm>
                <a:off x="4861867" y="2873842"/>
                <a:ext cx="719780" cy="339846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프롬프트</a:t>
                </a:r>
                <a:endParaRPr lang="en-US" altLang="ko-KR" sz="7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algn="ctr"/>
                <a:r>
                  <a:rPr lang="ko-KR" altLang="en-US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튜닝</a:t>
                </a:r>
              </a:p>
            </p:txBody>
          </p:sp>
          <p:sp>
            <p:nvSpPr>
              <p:cNvPr id="310" name="사각형: 둥근 모서리 309">
                <a:extLst>
                  <a:ext uri="{FF2B5EF4-FFF2-40B4-BE49-F238E27FC236}">
                    <a16:creationId xmlns:a16="http://schemas.microsoft.com/office/drawing/2014/main" id="{A5C65DCA-E70B-D23E-2DAC-E012B370AFB7}"/>
                  </a:ext>
                </a:extLst>
              </p:cNvPr>
              <p:cNvSpPr/>
              <p:nvPr/>
            </p:nvSpPr>
            <p:spPr>
              <a:xfrm>
                <a:off x="5662779" y="2873842"/>
                <a:ext cx="719780" cy="339846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LLM</a:t>
                </a:r>
                <a:r>
                  <a:rPr lang="ko-KR" altLang="en-US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결과</a:t>
                </a:r>
                <a:endParaRPr lang="en-US" altLang="ko-KR" sz="7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algn="ctr"/>
                <a:r>
                  <a:rPr lang="ko-KR" altLang="en-US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문서화</a:t>
                </a:r>
              </a:p>
            </p:txBody>
          </p:sp>
          <p:sp>
            <p:nvSpPr>
              <p:cNvPr id="311" name="사각형: 둥근 모서리 310">
                <a:extLst>
                  <a:ext uri="{FF2B5EF4-FFF2-40B4-BE49-F238E27FC236}">
                    <a16:creationId xmlns:a16="http://schemas.microsoft.com/office/drawing/2014/main" id="{575DFA46-0B7B-C099-1DEB-87F08769D01F}"/>
                  </a:ext>
                </a:extLst>
              </p:cNvPr>
              <p:cNvSpPr/>
              <p:nvPr/>
            </p:nvSpPr>
            <p:spPr>
              <a:xfrm>
                <a:off x="6463689" y="2873842"/>
                <a:ext cx="719780" cy="339846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전자서명</a:t>
                </a:r>
              </a:p>
            </p:txBody>
          </p:sp>
          <p:sp>
            <p:nvSpPr>
              <p:cNvPr id="312" name="사각형: 둥근 모서리 311">
                <a:extLst>
                  <a:ext uri="{FF2B5EF4-FFF2-40B4-BE49-F238E27FC236}">
                    <a16:creationId xmlns:a16="http://schemas.microsoft.com/office/drawing/2014/main" id="{3CF0B7F9-678F-9CC1-F0A5-BD78652D7315}"/>
                  </a:ext>
                </a:extLst>
              </p:cNvPr>
              <p:cNvSpPr/>
              <p:nvPr/>
            </p:nvSpPr>
            <p:spPr>
              <a:xfrm>
                <a:off x="7264605" y="2873842"/>
                <a:ext cx="719780" cy="339846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RAG</a:t>
                </a:r>
                <a:r>
                  <a:rPr lang="ko-KR" altLang="en-US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검색</a:t>
                </a:r>
              </a:p>
            </p:txBody>
          </p:sp>
        </p:grpSp>
        <p:grpSp>
          <p:nvGrpSpPr>
            <p:cNvPr id="321" name="그룹 320">
              <a:extLst>
                <a:ext uri="{FF2B5EF4-FFF2-40B4-BE49-F238E27FC236}">
                  <a16:creationId xmlns:a16="http://schemas.microsoft.com/office/drawing/2014/main" id="{15578B8F-5E0B-8E81-DCA4-45E22E3F25CB}"/>
                </a:ext>
              </a:extLst>
            </p:cNvPr>
            <p:cNvGrpSpPr/>
            <p:nvPr/>
          </p:nvGrpSpPr>
          <p:grpSpPr>
            <a:xfrm>
              <a:off x="7429136" y="2857967"/>
              <a:ext cx="2499805" cy="339846"/>
              <a:chOff x="4861867" y="2873842"/>
              <a:chExt cx="3122518" cy="339846"/>
            </a:xfrm>
          </p:grpSpPr>
          <p:sp>
            <p:nvSpPr>
              <p:cNvPr id="322" name="사각형: 둥근 모서리 321">
                <a:extLst>
                  <a:ext uri="{FF2B5EF4-FFF2-40B4-BE49-F238E27FC236}">
                    <a16:creationId xmlns:a16="http://schemas.microsoft.com/office/drawing/2014/main" id="{C9E35FE9-E008-BD33-F34C-48F4BD26CC5B}"/>
                  </a:ext>
                </a:extLst>
              </p:cNvPr>
              <p:cNvSpPr/>
              <p:nvPr/>
            </p:nvSpPr>
            <p:spPr>
              <a:xfrm>
                <a:off x="4861867" y="2873842"/>
                <a:ext cx="719780" cy="339846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700" dirty="0" err="1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리스크관리</a:t>
                </a:r>
                <a:endParaRPr lang="ko-KR" altLang="en-US" sz="7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323" name="사각형: 둥근 모서리 322">
                <a:extLst>
                  <a:ext uri="{FF2B5EF4-FFF2-40B4-BE49-F238E27FC236}">
                    <a16:creationId xmlns:a16="http://schemas.microsoft.com/office/drawing/2014/main" id="{5649573B-BCF9-D0B6-9BC3-57BE486A7BCE}"/>
                  </a:ext>
                </a:extLst>
              </p:cNvPr>
              <p:cNvSpPr/>
              <p:nvPr/>
            </p:nvSpPr>
            <p:spPr>
              <a:xfrm>
                <a:off x="5662779" y="2873842"/>
                <a:ext cx="719780" cy="339846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700" dirty="0" err="1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배점표</a:t>
                </a:r>
                <a:r>
                  <a:rPr lang="ko-KR" altLang="en-US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속성</a:t>
                </a:r>
                <a:endParaRPr lang="en-US" altLang="ko-KR" sz="7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algn="ctr"/>
                <a:r>
                  <a:rPr lang="ko-KR" altLang="en-US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추출</a:t>
                </a:r>
              </a:p>
            </p:txBody>
          </p:sp>
          <p:sp>
            <p:nvSpPr>
              <p:cNvPr id="324" name="사각형: 둥근 모서리 323">
                <a:extLst>
                  <a:ext uri="{FF2B5EF4-FFF2-40B4-BE49-F238E27FC236}">
                    <a16:creationId xmlns:a16="http://schemas.microsoft.com/office/drawing/2014/main" id="{EE951CE3-E4C3-5608-07DA-CB177189E4F4}"/>
                  </a:ext>
                </a:extLst>
              </p:cNvPr>
              <p:cNvSpPr/>
              <p:nvPr/>
            </p:nvSpPr>
            <p:spPr>
              <a:xfrm>
                <a:off x="6463689" y="2873842"/>
                <a:ext cx="719780" cy="339846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기회</a:t>
                </a:r>
                <a:endParaRPr lang="en-US" altLang="ko-KR" sz="7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algn="ctr"/>
                <a:r>
                  <a:rPr lang="ko-KR" altLang="en-US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스코어링</a:t>
                </a:r>
              </a:p>
            </p:txBody>
          </p:sp>
          <p:sp>
            <p:nvSpPr>
              <p:cNvPr id="325" name="사각형: 둥근 모서리 324">
                <a:extLst>
                  <a:ext uri="{FF2B5EF4-FFF2-40B4-BE49-F238E27FC236}">
                    <a16:creationId xmlns:a16="http://schemas.microsoft.com/office/drawing/2014/main" id="{178DE21A-5ABD-589F-32A3-AC56ADD596FA}"/>
                  </a:ext>
                </a:extLst>
              </p:cNvPr>
              <p:cNvSpPr/>
              <p:nvPr/>
            </p:nvSpPr>
            <p:spPr>
              <a:xfrm>
                <a:off x="7264605" y="2873842"/>
                <a:ext cx="719780" cy="339846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RAG</a:t>
                </a:r>
                <a:r>
                  <a:rPr lang="ko-KR" altLang="en-US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연계</a:t>
                </a:r>
              </a:p>
            </p:txBody>
          </p:sp>
        </p:grpSp>
        <p:grpSp>
          <p:nvGrpSpPr>
            <p:cNvPr id="326" name="그룹 325">
              <a:extLst>
                <a:ext uri="{FF2B5EF4-FFF2-40B4-BE49-F238E27FC236}">
                  <a16:creationId xmlns:a16="http://schemas.microsoft.com/office/drawing/2014/main" id="{1D8BD4EF-E2A8-7D8D-3275-437E37D920FA}"/>
                </a:ext>
              </a:extLst>
            </p:cNvPr>
            <p:cNvGrpSpPr/>
            <p:nvPr/>
          </p:nvGrpSpPr>
          <p:grpSpPr>
            <a:xfrm>
              <a:off x="4867263" y="3276922"/>
              <a:ext cx="2499805" cy="339846"/>
              <a:chOff x="4861867" y="2873842"/>
              <a:chExt cx="3122518" cy="339846"/>
            </a:xfrm>
          </p:grpSpPr>
          <p:sp>
            <p:nvSpPr>
              <p:cNvPr id="327" name="사각형: 둥근 모서리 326">
                <a:extLst>
                  <a:ext uri="{FF2B5EF4-FFF2-40B4-BE49-F238E27FC236}">
                    <a16:creationId xmlns:a16="http://schemas.microsoft.com/office/drawing/2014/main" id="{0362F3B3-88C7-DFE4-592E-BA0712DE34C4}"/>
                  </a:ext>
                </a:extLst>
              </p:cNvPr>
              <p:cNvSpPr/>
              <p:nvPr/>
            </p:nvSpPr>
            <p:spPr>
              <a:xfrm>
                <a:off x="4861867" y="2873842"/>
                <a:ext cx="719780" cy="339846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데이터</a:t>
                </a:r>
                <a:endParaRPr lang="en-US" altLang="ko-KR" sz="7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algn="ctr"/>
                <a:r>
                  <a:rPr lang="ko-KR" altLang="en-US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수집 </a:t>
                </a:r>
                <a:r>
                  <a:rPr lang="en-US" altLang="ko-KR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· </a:t>
                </a:r>
                <a:r>
                  <a:rPr lang="ko-KR" altLang="en-US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검증</a:t>
                </a:r>
              </a:p>
            </p:txBody>
          </p:sp>
          <p:sp>
            <p:nvSpPr>
              <p:cNvPr id="328" name="사각형: 둥근 모서리 327">
                <a:extLst>
                  <a:ext uri="{FF2B5EF4-FFF2-40B4-BE49-F238E27FC236}">
                    <a16:creationId xmlns:a16="http://schemas.microsoft.com/office/drawing/2014/main" id="{F26969BD-1127-D37B-30BB-EBFB2BDAD19D}"/>
                  </a:ext>
                </a:extLst>
              </p:cNvPr>
              <p:cNvSpPr/>
              <p:nvPr/>
            </p:nvSpPr>
            <p:spPr>
              <a:xfrm>
                <a:off x="5662779" y="2873842"/>
                <a:ext cx="719780" cy="339846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700" dirty="0" err="1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개체명</a:t>
                </a:r>
                <a:endParaRPr lang="en-US" altLang="ko-KR" sz="7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algn="ctr"/>
                <a:r>
                  <a:rPr lang="ko-KR" altLang="en-US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시설분석</a:t>
                </a:r>
              </a:p>
            </p:txBody>
          </p:sp>
          <p:sp>
            <p:nvSpPr>
              <p:cNvPr id="329" name="사각형: 둥근 모서리 328">
                <a:extLst>
                  <a:ext uri="{FF2B5EF4-FFF2-40B4-BE49-F238E27FC236}">
                    <a16:creationId xmlns:a16="http://schemas.microsoft.com/office/drawing/2014/main" id="{2D4FE39C-EE8D-B695-4D2C-3B78D1EDBCC9}"/>
                  </a:ext>
                </a:extLst>
              </p:cNvPr>
              <p:cNvSpPr/>
              <p:nvPr/>
            </p:nvSpPr>
            <p:spPr>
              <a:xfrm>
                <a:off x="6463689" y="2873842"/>
                <a:ext cx="719780" cy="339846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이미지벡터</a:t>
                </a:r>
                <a:endParaRPr lang="en-US" altLang="ko-KR" sz="7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algn="ctr"/>
                <a:r>
                  <a:rPr lang="ko-KR" altLang="en-US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추출</a:t>
                </a:r>
              </a:p>
            </p:txBody>
          </p:sp>
          <p:sp>
            <p:nvSpPr>
              <p:cNvPr id="330" name="사각형: 둥근 모서리 329">
                <a:extLst>
                  <a:ext uri="{FF2B5EF4-FFF2-40B4-BE49-F238E27FC236}">
                    <a16:creationId xmlns:a16="http://schemas.microsoft.com/office/drawing/2014/main" id="{31AC30D7-75F5-B530-D285-E7B04210BAE6}"/>
                  </a:ext>
                </a:extLst>
              </p:cNvPr>
              <p:cNvSpPr/>
              <p:nvPr/>
            </p:nvSpPr>
            <p:spPr>
              <a:xfrm>
                <a:off x="7264605" y="2873842"/>
                <a:ext cx="719780" cy="339846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OCR</a:t>
                </a:r>
                <a:r>
                  <a:rPr lang="ko-KR" altLang="en-US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텍스트</a:t>
                </a:r>
                <a:endParaRPr lang="en-US" altLang="ko-KR" sz="7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algn="ctr"/>
                <a:r>
                  <a:rPr lang="ko-KR" altLang="en-US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저장</a:t>
                </a:r>
              </a:p>
            </p:txBody>
          </p:sp>
        </p:grpSp>
        <p:grpSp>
          <p:nvGrpSpPr>
            <p:cNvPr id="331" name="그룹 330">
              <a:extLst>
                <a:ext uri="{FF2B5EF4-FFF2-40B4-BE49-F238E27FC236}">
                  <a16:creationId xmlns:a16="http://schemas.microsoft.com/office/drawing/2014/main" id="{7224DBF8-21CB-86F9-F381-F3803FFC9725}"/>
                </a:ext>
              </a:extLst>
            </p:cNvPr>
            <p:cNvGrpSpPr/>
            <p:nvPr/>
          </p:nvGrpSpPr>
          <p:grpSpPr>
            <a:xfrm>
              <a:off x="7434532" y="3276922"/>
              <a:ext cx="2499805" cy="339846"/>
              <a:chOff x="4861867" y="2873842"/>
              <a:chExt cx="3122518" cy="339846"/>
            </a:xfrm>
          </p:grpSpPr>
          <p:sp>
            <p:nvSpPr>
              <p:cNvPr id="332" name="사각형: 둥근 모서리 331">
                <a:extLst>
                  <a:ext uri="{FF2B5EF4-FFF2-40B4-BE49-F238E27FC236}">
                    <a16:creationId xmlns:a16="http://schemas.microsoft.com/office/drawing/2014/main" id="{AE32088C-DFC3-E7BC-7168-6689112158B5}"/>
                  </a:ext>
                </a:extLst>
              </p:cNvPr>
              <p:cNvSpPr/>
              <p:nvPr/>
            </p:nvSpPr>
            <p:spPr>
              <a:xfrm>
                <a:off x="4861867" y="2873842"/>
                <a:ext cx="719780" cy="339846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일반문서</a:t>
                </a:r>
                <a:endParaRPr lang="en-US" altLang="ko-KR" sz="7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algn="ctr"/>
                <a:r>
                  <a:rPr lang="ko-KR" altLang="en-US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이미지 변환</a:t>
                </a:r>
              </a:p>
            </p:txBody>
          </p:sp>
          <p:sp>
            <p:nvSpPr>
              <p:cNvPr id="333" name="사각형: 둥근 모서리 332">
                <a:extLst>
                  <a:ext uri="{FF2B5EF4-FFF2-40B4-BE49-F238E27FC236}">
                    <a16:creationId xmlns:a16="http://schemas.microsoft.com/office/drawing/2014/main" id="{7CBCCD89-2403-99CD-D324-092E89AA2D5E}"/>
                  </a:ext>
                </a:extLst>
              </p:cNvPr>
              <p:cNvSpPr/>
              <p:nvPr/>
            </p:nvSpPr>
            <p:spPr>
              <a:xfrm>
                <a:off x="5662779" y="2873842"/>
                <a:ext cx="719780" cy="339846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700" dirty="0" err="1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연관어</a:t>
                </a:r>
                <a:r>
                  <a:rPr lang="ko-KR" altLang="en-US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</a:t>
                </a:r>
                <a:endParaRPr lang="en-US" altLang="ko-KR" sz="7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algn="ctr"/>
                <a:r>
                  <a:rPr lang="ko-KR" altLang="en-US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분석</a:t>
                </a:r>
                <a:r>
                  <a:rPr lang="en-US" altLang="ko-KR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 · </a:t>
                </a:r>
                <a:r>
                  <a:rPr lang="ko-KR" altLang="en-US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색인</a:t>
                </a:r>
              </a:p>
            </p:txBody>
          </p:sp>
          <p:sp>
            <p:nvSpPr>
              <p:cNvPr id="334" name="사각형: 둥근 모서리 333">
                <a:extLst>
                  <a:ext uri="{FF2B5EF4-FFF2-40B4-BE49-F238E27FC236}">
                    <a16:creationId xmlns:a16="http://schemas.microsoft.com/office/drawing/2014/main" id="{7723B6FA-A26F-EF51-06B2-AC25BCC4540A}"/>
                  </a:ext>
                </a:extLst>
              </p:cNvPr>
              <p:cNvSpPr/>
              <p:nvPr/>
            </p:nvSpPr>
            <p:spPr>
              <a:xfrm>
                <a:off x="6463689" y="2873842"/>
                <a:ext cx="719780" cy="339846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altLang="ko-KR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PDF</a:t>
                </a:r>
                <a:r>
                  <a:rPr lang="ko-KR" altLang="en-US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벡터</a:t>
                </a:r>
                <a:endParaRPr lang="en-US" altLang="ko-KR" sz="7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algn="ctr"/>
                <a:r>
                  <a:rPr lang="ko-KR" altLang="en-US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스토어 저장</a:t>
                </a:r>
              </a:p>
            </p:txBody>
          </p:sp>
          <p:sp>
            <p:nvSpPr>
              <p:cNvPr id="335" name="사각형: 둥근 모서리 334">
                <a:extLst>
                  <a:ext uri="{FF2B5EF4-FFF2-40B4-BE49-F238E27FC236}">
                    <a16:creationId xmlns:a16="http://schemas.microsoft.com/office/drawing/2014/main" id="{9A86DBE4-2587-1FC5-4525-C0859F3551B2}"/>
                  </a:ext>
                </a:extLst>
              </p:cNvPr>
              <p:cNvSpPr/>
              <p:nvPr/>
            </p:nvSpPr>
            <p:spPr>
              <a:xfrm>
                <a:off x="7264605" y="2873842"/>
                <a:ext cx="719780" cy="339846"/>
              </a:xfrm>
              <a:prstGeom prst="round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700" dirty="0" err="1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임베딩</a:t>
                </a:r>
                <a:endParaRPr lang="en-US" altLang="ko-KR" sz="7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endParaRPr>
              </a:p>
              <a:p>
                <a:pPr algn="ctr"/>
                <a:r>
                  <a:rPr lang="ko-KR" altLang="en-US" sz="700" dirty="0">
                    <a:solidFill>
                      <a:schemeClr val="tx1"/>
                    </a:solidFill>
                    <a:latin typeface="나눔스퀘어" panose="020B0600000101010101" pitchFamily="50" charset="-127"/>
                    <a:ea typeface="나눔스퀘어" panose="020B0600000101010101" pitchFamily="50" charset="-127"/>
                  </a:rPr>
                  <a:t>결과 색인</a:t>
                </a:r>
              </a:p>
            </p:txBody>
          </p:sp>
        </p:grpSp>
      </p:grpSp>
      <p:grpSp>
        <p:nvGrpSpPr>
          <p:cNvPr id="378" name="그룹 377">
            <a:extLst>
              <a:ext uri="{FF2B5EF4-FFF2-40B4-BE49-F238E27FC236}">
                <a16:creationId xmlns:a16="http://schemas.microsoft.com/office/drawing/2014/main" id="{70E9E46C-4D79-E996-E5F7-8F05AF12E672}"/>
              </a:ext>
            </a:extLst>
          </p:cNvPr>
          <p:cNvGrpSpPr/>
          <p:nvPr/>
        </p:nvGrpSpPr>
        <p:grpSpPr>
          <a:xfrm>
            <a:off x="3691427" y="1686808"/>
            <a:ext cx="6288102" cy="968761"/>
            <a:chOff x="3952280" y="1717289"/>
            <a:chExt cx="6059325" cy="873124"/>
          </a:xfrm>
        </p:grpSpPr>
        <p:grpSp>
          <p:nvGrpSpPr>
            <p:cNvPr id="341" name="그룹 340">
              <a:extLst>
                <a:ext uri="{FF2B5EF4-FFF2-40B4-BE49-F238E27FC236}">
                  <a16:creationId xmlns:a16="http://schemas.microsoft.com/office/drawing/2014/main" id="{1DCDA48D-818D-38EC-21E4-90D35D9F7C04}"/>
                </a:ext>
              </a:extLst>
            </p:cNvPr>
            <p:cNvGrpSpPr/>
            <p:nvPr/>
          </p:nvGrpSpPr>
          <p:grpSpPr>
            <a:xfrm>
              <a:off x="3952280" y="1717289"/>
              <a:ext cx="979508" cy="873124"/>
              <a:chOff x="4848916" y="1730805"/>
              <a:chExt cx="1014545" cy="873124"/>
            </a:xfrm>
          </p:grpSpPr>
          <p:sp>
            <p:nvSpPr>
              <p:cNvPr id="307" name="양쪽 모서리가 둥근 사각형 50">
                <a:extLst>
                  <a:ext uri="{FF2B5EF4-FFF2-40B4-BE49-F238E27FC236}">
                    <a16:creationId xmlns:a16="http://schemas.microsoft.com/office/drawing/2014/main" id="{DA5AE8AB-0984-B408-1BD1-5D997E5344F1}"/>
                  </a:ext>
                </a:extLst>
              </p:cNvPr>
              <p:cNvSpPr/>
              <p:nvPr/>
            </p:nvSpPr>
            <p:spPr>
              <a:xfrm>
                <a:off x="4848916" y="1730805"/>
                <a:ext cx="1014545" cy="196850"/>
              </a:xfrm>
              <a:prstGeom prst="round2SameRect">
                <a:avLst/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000"/>
                  </a:lnSpc>
                </a:pPr>
                <a:r>
                  <a:rPr lang="ko-KR" altLang="en-US" sz="9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NanumSquare Bold" panose="020B0600000101010101" pitchFamily="34" charset="-127"/>
                    <a:ea typeface="NanumSquare Bold" panose="020B0600000101010101" pitchFamily="34" charset="-127"/>
                  </a:rPr>
                  <a:t>사고예측</a:t>
                </a:r>
                <a:endParaRPr lang="ko-GY" sz="9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NanumSquare Bold" panose="020B0600000101010101" pitchFamily="34" charset="-127"/>
                  <a:ea typeface="NanumSquare Bold" panose="020B0600000101010101" pitchFamily="34" charset="-127"/>
                </a:endParaRPr>
              </a:p>
            </p:txBody>
          </p:sp>
          <p:sp>
            <p:nvSpPr>
              <p:cNvPr id="308" name="직사각형 307">
                <a:extLst>
                  <a:ext uri="{FF2B5EF4-FFF2-40B4-BE49-F238E27FC236}">
                    <a16:creationId xmlns:a16="http://schemas.microsoft.com/office/drawing/2014/main" id="{C5B33483-64AB-40B2-11D5-7BD74282C595}"/>
                  </a:ext>
                </a:extLst>
              </p:cNvPr>
              <p:cNvSpPr/>
              <p:nvPr/>
            </p:nvSpPr>
            <p:spPr>
              <a:xfrm>
                <a:off x="4848916" y="1927655"/>
                <a:ext cx="1014545" cy="67627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b="1" dirty="0" err="1">
                    <a:solidFill>
                      <a:schemeClr val="tx1"/>
                    </a:solidFill>
                    <a:latin typeface="NanumSquare Bold" panose="020B0600000101010101" pitchFamily="34" charset="-127"/>
                    <a:ea typeface="NanumSquare Bold" panose="020B0600000101010101" pitchFamily="34" charset="-127"/>
                  </a:rPr>
                  <a:t>라이프시그널</a:t>
                </a:r>
                <a:r>
                  <a:rPr lang="ko-KR" altLang="en-US" sz="800" b="1" dirty="0">
                    <a:solidFill>
                      <a:schemeClr val="tx1"/>
                    </a:solidFill>
                    <a:latin typeface="NanumSquare Bold" panose="020B0600000101010101" pitchFamily="34" charset="-127"/>
                    <a:ea typeface="NanumSquare Bold" panose="020B0600000101010101" pitchFamily="34" charset="-127"/>
                  </a:rPr>
                  <a:t> </a:t>
                </a:r>
                <a:r>
                  <a:rPr lang="en-US" altLang="ko-KR" sz="800" b="1" dirty="0">
                    <a:solidFill>
                      <a:schemeClr val="tx1"/>
                    </a:solidFill>
                    <a:latin typeface="NanumSquare Bold" panose="020B0600000101010101" pitchFamily="34" charset="-127"/>
                    <a:ea typeface="NanumSquare Bold" panose="020B0600000101010101" pitchFamily="34" charset="-127"/>
                  </a:rPr>
                  <a:t>AI</a:t>
                </a:r>
              </a:p>
              <a:p>
                <a:pPr algn="ctr"/>
                <a:endParaRPr lang="en-US" sz="800" b="1" dirty="0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endParaRPr>
              </a:p>
              <a:p>
                <a:pPr algn="ctr"/>
                <a:endParaRPr lang="en-US" sz="800" b="1" dirty="0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endParaRPr>
              </a:p>
              <a:p>
                <a:pPr algn="ctr"/>
                <a:endParaRPr lang="ko-GY" sz="800" b="1" dirty="0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endParaRPr>
              </a:p>
            </p:txBody>
          </p:sp>
        </p:grpSp>
        <p:grpSp>
          <p:nvGrpSpPr>
            <p:cNvPr id="340" name="그룹 339">
              <a:extLst>
                <a:ext uri="{FF2B5EF4-FFF2-40B4-BE49-F238E27FC236}">
                  <a16:creationId xmlns:a16="http://schemas.microsoft.com/office/drawing/2014/main" id="{155B1007-2716-57A8-2FAD-13667EDBF045}"/>
                </a:ext>
              </a:extLst>
            </p:cNvPr>
            <p:cNvGrpSpPr/>
            <p:nvPr/>
          </p:nvGrpSpPr>
          <p:grpSpPr>
            <a:xfrm>
              <a:off x="4968242" y="1717289"/>
              <a:ext cx="979508" cy="873124"/>
              <a:chOff x="5973769" y="1730805"/>
              <a:chExt cx="1014545" cy="873124"/>
            </a:xfrm>
          </p:grpSpPr>
          <p:sp>
            <p:nvSpPr>
              <p:cNvPr id="336" name="양쪽 모서리가 둥근 사각형 50">
                <a:extLst>
                  <a:ext uri="{FF2B5EF4-FFF2-40B4-BE49-F238E27FC236}">
                    <a16:creationId xmlns:a16="http://schemas.microsoft.com/office/drawing/2014/main" id="{DFD9B793-F1BB-D966-B3C9-E97618A981C0}"/>
                  </a:ext>
                </a:extLst>
              </p:cNvPr>
              <p:cNvSpPr/>
              <p:nvPr/>
            </p:nvSpPr>
            <p:spPr>
              <a:xfrm>
                <a:off x="5973769" y="1730805"/>
                <a:ext cx="1014545" cy="196850"/>
              </a:xfrm>
              <a:prstGeom prst="round2SameRect">
                <a:avLst/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000"/>
                  </a:lnSpc>
                </a:pPr>
                <a:r>
                  <a:rPr lang="ko-KR" altLang="en-US" sz="9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NanumSquare Bold" panose="020B0600000101010101" pitchFamily="34" charset="-127"/>
                    <a:ea typeface="NanumSquare Bold" panose="020B0600000101010101" pitchFamily="34" charset="-127"/>
                  </a:rPr>
                  <a:t>사고감지</a:t>
                </a:r>
                <a:endParaRPr lang="ko-GY" sz="9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NanumSquare Bold" panose="020B0600000101010101" pitchFamily="34" charset="-127"/>
                  <a:ea typeface="NanumSquare Bold" panose="020B0600000101010101" pitchFamily="34" charset="-127"/>
                </a:endParaRPr>
              </a:p>
            </p:txBody>
          </p:sp>
          <p:sp>
            <p:nvSpPr>
              <p:cNvPr id="337" name="직사각형 336">
                <a:extLst>
                  <a:ext uri="{FF2B5EF4-FFF2-40B4-BE49-F238E27FC236}">
                    <a16:creationId xmlns:a16="http://schemas.microsoft.com/office/drawing/2014/main" id="{7218A907-ABE1-9065-4145-424BE41E80AB}"/>
                  </a:ext>
                </a:extLst>
              </p:cNvPr>
              <p:cNvSpPr/>
              <p:nvPr/>
            </p:nvSpPr>
            <p:spPr>
              <a:xfrm>
                <a:off x="5973769" y="1927655"/>
                <a:ext cx="1014545" cy="67627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800" b="1" dirty="0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endParaRPr>
              </a:p>
              <a:p>
                <a:pPr algn="ctr"/>
                <a:r>
                  <a:rPr lang="ko-KR" altLang="en-US" sz="800" b="1" dirty="0" err="1">
                    <a:solidFill>
                      <a:schemeClr val="tx1"/>
                    </a:solidFill>
                    <a:latin typeface="NanumSquare Bold" panose="020B0600000101010101" pitchFamily="34" charset="-127"/>
                    <a:ea typeface="NanumSquare Bold" panose="020B0600000101010101" pitchFamily="34" charset="-127"/>
                  </a:rPr>
                  <a:t>골든타임</a:t>
                </a:r>
                <a:r>
                  <a:rPr lang="ko-KR" altLang="en-US" sz="800" b="1" dirty="0">
                    <a:solidFill>
                      <a:schemeClr val="tx1"/>
                    </a:solidFill>
                    <a:latin typeface="NanumSquare Bold" panose="020B0600000101010101" pitchFamily="34" charset="-127"/>
                    <a:ea typeface="NanumSquare Bold" panose="020B0600000101010101" pitchFamily="34" charset="-127"/>
                  </a:rPr>
                  <a:t> </a:t>
                </a:r>
                <a:r>
                  <a:rPr lang="en-US" altLang="ko-KR" sz="800" b="1" dirty="0">
                    <a:solidFill>
                      <a:schemeClr val="tx1"/>
                    </a:solidFill>
                    <a:latin typeface="NanumSquare Bold" panose="020B0600000101010101" pitchFamily="34" charset="-127"/>
                    <a:ea typeface="NanumSquare Bold" panose="020B0600000101010101" pitchFamily="34" charset="-127"/>
                  </a:rPr>
                  <a:t>AI</a:t>
                </a:r>
              </a:p>
              <a:p>
                <a:pPr algn="ctr"/>
                <a:endParaRPr lang="en-US" sz="800" b="1" dirty="0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endParaRPr>
              </a:p>
              <a:p>
                <a:pPr algn="ctr"/>
                <a:endParaRPr lang="en-US" sz="800" b="1" dirty="0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endParaRPr>
              </a:p>
              <a:p>
                <a:pPr algn="ctr"/>
                <a:endParaRPr lang="en-US" sz="800" b="1" dirty="0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endParaRPr>
              </a:p>
              <a:p>
                <a:pPr algn="ctr"/>
                <a:endParaRPr lang="ko-GY" sz="800" b="1" dirty="0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endParaRPr>
              </a:p>
            </p:txBody>
          </p:sp>
        </p:grpSp>
        <p:grpSp>
          <p:nvGrpSpPr>
            <p:cNvPr id="342" name="그룹 341">
              <a:extLst>
                <a:ext uri="{FF2B5EF4-FFF2-40B4-BE49-F238E27FC236}">
                  <a16:creationId xmlns:a16="http://schemas.microsoft.com/office/drawing/2014/main" id="{19BD4233-E6C5-5669-DC1B-361B2A401C69}"/>
                </a:ext>
              </a:extLst>
            </p:cNvPr>
            <p:cNvGrpSpPr/>
            <p:nvPr/>
          </p:nvGrpSpPr>
          <p:grpSpPr>
            <a:xfrm>
              <a:off x="5984204" y="1717289"/>
              <a:ext cx="979508" cy="873124"/>
              <a:chOff x="7080365" y="1730805"/>
              <a:chExt cx="1014545" cy="873124"/>
            </a:xfrm>
          </p:grpSpPr>
          <p:sp>
            <p:nvSpPr>
              <p:cNvPr id="338" name="양쪽 모서리가 둥근 사각형 50">
                <a:extLst>
                  <a:ext uri="{FF2B5EF4-FFF2-40B4-BE49-F238E27FC236}">
                    <a16:creationId xmlns:a16="http://schemas.microsoft.com/office/drawing/2014/main" id="{31E5E402-FF51-D47F-E038-7C50D22F474B}"/>
                  </a:ext>
                </a:extLst>
              </p:cNvPr>
              <p:cNvSpPr/>
              <p:nvPr/>
            </p:nvSpPr>
            <p:spPr>
              <a:xfrm>
                <a:off x="7080365" y="1730805"/>
                <a:ext cx="1014545" cy="196850"/>
              </a:xfrm>
              <a:prstGeom prst="round2SameRect">
                <a:avLst/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000"/>
                  </a:lnSpc>
                </a:pPr>
                <a:r>
                  <a:rPr lang="ko-KR" altLang="en-US" sz="9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NanumSquare Bold" panose="020B0600000101010101" pitchFamily="34" charset="-127"/>
                    <a:ea typeface="NanumSquare Bold" panose="020B0600000101010101" pitchFamily="34" charset="-127"/>
                  </a:rPr>
                  <a:t>사고대응</a:t>
                </a:r>
                <a:endParaRPr lang="ko-GY" sz="9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NanumSquare Bold" panose="020B0600000101010101" pitchFamily="34" charset="-127"/>
                  <a:ea typeface="NanumSquare Bold" panose="020B0600000101010101" pitchFamily="34" charset="-127"/>
                </a:endParaRPr>
              </a:p>
            </p:txBody>
          </p:sp>
          <p:sp>
            <p:nvSpPr>
              <p:cNvPr id="339" name="직사각형 338">
                <a:extLst>
                  <a:ext uri="{FF2B5EF4-FFF2-40B4-BE49-F238E27FC236}">
                    <a16:creationId xmlns:a16="http://schemas.microsoft.com/office/drawing/2014/main" id="{89CDA063-C84F-CAF7-9F18-A4426D388859}"/>
                  </a:ext>
                </a:extLst>
              </p:cNvPr>
              <p:cNvSpPr/>
              <p:nvPr/>
            </p:nvSpPr>
            <p:spPr>
              <a:xfrm>
                <a:off x="7080365" y="1927655"/>
                <a:ext cx="1014545" cy="67627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b="1" dirty="0" err="1">
                    <a:solidFill>
                      <a:schemeClr val="tx1"/>
                    </a:solidFill>
                    <a:latin typeface="NanumSquare Bold" panose="020B0600000101010101" pitchFamily="34" charset="-127"/>
                    <a:ea typeface="NanumSquare Bold" panose="020B0600000101010101" pitchFamily="34" charset="-127"/>
                  </a:rPr>
                  <a:t>세이트루트</a:t>
                </a:r>
                <a:r>
                  <a:rPr lang="ko-KR" altLang="en-US" sz="800" b="1" dirty="0">
                    <a:solidFill>
                      <a:schemeClr val="tx1"/>
                    </a:solidFill>
                    <a:latin typeface="NanumSquare Bold" panose="020B0600000101010101" pitchFamily="34" charset="-127"/>
                    <a:ea typeface="NanumSquare Bold" panose="020B0600000101010101" pitchFamily="34" charset="-127"/>
                  </a:rPr>
                  <a:t> </a:t>
                </a:r>
                <a:r>
                  <a:rPr lang="en-US" sz="800" b="1" dirty="0">
                    <a:solidFill>
                      <a:schemeClr val="tx1"/>
                    </a:solidFill>
                    <a:latin typeface="NanumSquare Bold" panose="020B0600000101010101" pitchFamily="34" charset="-127"/>
                    <a:ea typeface="NanumSquare Bold" panose="020B0600000101010101" pitchFamily="34" charset="-127"/>
                  </a:rPr>
                  <a:t>AI</a:t>
                </a:r>
              </a:p>
              <a:p>
                <a:pPr algn="ctr"/>
                <a:endParaRPr lang="en-US" sz="800" b="1" dirty="0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endParaRPr>
              </a:p>
              <a:p>
                <a:pPr algn="ctr"/>
                <a:endParaRPr lang="en-US" sz="800" b="1" dirty="0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endParaRPr>
              </a:p>
              <a:p>
                <a:pPr algn="ctr"/>
                <a:endParaRPr lang="ko-GY" sz="800" b="1" dirty="0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endParaRPr>
              </a:p>
            </p:txBody>
          </p:sp>
        </p:grpSp>
        <p:grpSp>
          <p:nvGrpSpPr>
            <p:cNvPr id="343" name="그룹 342">
              <a:extLst>
                <a:ext uri="{FF2B5EF4-FFF2-40B4-BE49-F238E27FC236}">
                  <a16:creationId xmlns:a16="http://schemas.microsoft.com/office/drawing/2014/main" id="{C97E0AAE-0B1B-0C11-5376-F965DE9330BA}"/>
                </a:ext>
              </a:extLst>
            </p:cNvPr>
            <p:cNvGrpSpPr/>
            <p:nvPr/>
          </p:nvGrpSpPr>
          <p:grpSpPr>
            <a:xfrm>
              <a:off x="7000166" y="1717289"/>
              <a:ext cx="979511" cy="873124"/>
              <a:chOff x="7080365" y="1730805"/>
              <a:chExt cx="1014549" cy="873124"/>
            </a:xfrm>
          </p:grpSpPr>
          <p:sp>
            <p:nvSpPr>
              <p:cNvPr id="344" name="양쪽 모서리가 둥근 사각형 50">
                <a:extLst>
                  <a:ext uri="{FF2B5EF4-FFF2-40B4-BE49-F238E27FC236}">
                    <a16:creationId xmlns:a16="http://schemas.microsoft.com/office/drawing/2014/main" id="{2CBD69CE-17B2-0939-6396-7AD5EF1375A0}"/>
                  </a:ext>
                </a:extLst>
              </p:cNvPr>
              <p:cNvSpPr/>
              <p:nvPr/>
            </p:nvSpPr>
            <p:spPr>
              <a:xfrm>
                <a:off x="7080369" y="1730805"/>
                <a:ext cx="1014545" cy="196850"/>
              </a:xfrm>
              <a:prstGeom prst="round2SameRect">
                <a:avLst/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000"/>
                  </a:lnSpc>
                </a:pPr>
                <a:r>
                  <a:rPr lang="ko-KR" altLang="en-US" sz="900" b="1" dirty="0" err="1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NanumSquare Bold" panose="020B0600000101010101" pitchFamily="34" charset="-127"/>
                    <a:ea typeface="NanumSquare Bold" panose="020B0600000101010101" pitchFamily="34" charset="-127"/>
                  </a:rPr>
                  <a:t>감성케어</a:t>
                </a:r>
                <a:endParaRPr lang="ko-GY" sz="9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NanumSquare Bold" panose="020B0600000101010101" pitchFamily="34" charset="-127"/>
                  <a:ea typeface="NanumSquare Bold" panose="020B0600000101010101" pitchFamily="34" charset="-127"/>
                </a:endParaRPr>
              </a:p>
            </p:txBody>
          </p:sp>
          <p:sp>
            <p:nvSpPr>
              <p:cNvPr id="345" name="직사각형 344">
                <a:extLst>
                  <a:ext uri="{FF2B5EF4-FFF2-40B4-BE49-F238E27FC236}">
                    <a16:creationId xmlns:a16="http://schemas.microsoft.com/office/drawing/2014/main" id="{0D63705F-9BD1-D4F2-6413-E01888256E55}"/>
                  </a:ext>
                </a:extLst>
              </p:cNvPr>
              <p:cNvSpPr/>
              <p:nvPr/>
            </p:nvSpPr>
            <p:spPr>
              <a:xfrm>
                <a:off x="7080365" y="1927655"/>
                <a:ext cx="1014545" cy="67627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800" b="1" dirty="0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endParaRPr>
              </a:p>
              <a:p>
                <a:pPr algn="ctr"/>
                <a:r>
                  <a:rPr lang="ko-KR" altLang="en-US" sz="800" b="1" dirty="0">
                    <a:solidFill>
                      <a:schemeClr val="tx1"/>
                    </a:solidFill>
                    <a:latin typeface="NanumSquare Bold" panose="020B0600000101010101" pitchFamily="34" charset="-127"/>
                    <a:ea typeface="NanumSquare Bold" panose="020B0600000101010101" pitchFamily="34" charset="-127"/>
                  </a:rPr>
                  <a:t>마음친구 </a:t>
                </a:r>
                <a:r>
                  <a:rPr lang="en-US" altLang="ko-KR" sz="800" b="1" dirty="0">
                    <a:solidFill>
                      <a:schemeClr val="tx1"/>
                    </a:solidFill>
                    <a:latin typeface="NanumSquare Bold" panose="020B0600000101010101" pitchFamily="34" charset="-127"/>
                    <a:ea typeface="NanumSquare Bold" panose="020B0600000101010101" pitchFamily="34" charset="-127"/>
                  </a:rPr>
                  <a:t>AI</a:t>
                </a:r>
              </a:p>
              <a:p>
                <a:pPr algn="ctr"/>
                <a:endParaRPr lang="en-US" altLang="ko-KR" sz="800" b="1" dirty="0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endParaRPr>
              </a:p>
              <a:p>
                <a:pPr algn="ctr"/>
                <a:endParaRPr lang="en-US" sz="800" b="1" dirty="0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endParaRPr>
              </a:p>
              <a:p>
                <a:pPr algn="ctr"/>
                <a:endParaRPr lang="en-US" sz="800" b="1" dirty="0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endParaRPr>
              </a:p>
              <a:p>
                <a:pPr algn="ctr"/>
                <a:endParaRPr lang="en-US" sz="800" b="1" dirty="0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endParaRPr>
              </a:p>
              <a:p>
                <a:pPr algn="ctr"/>
                <a:endParaRPr lang="ko-GY" sz="800" b="1" dirty="0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endParaRPr>
              </a:p>
            </p:txBody>
          </p:sp>
        </p:grpSp>
        <p:grpSp>
          <p:nvGrpSpPr>
            <p:cNvPr id="347" name="그룹 346">
              <a:extLst>
                <a:ext uri="{FF2B5EF4-FFF2-40B4-BE49-F238E27FC236}">
                  <a16:creationId xmlns:a16="http://schemas.microsoft.com/office/drawing/2014/main" id="{4B616A01-1A26-EE42-E35F-F188CE30D9D2}"/>
                </a:ext>
              </a:extLst>
            </p:cNvPr>
            <p:cNvGrpSpPr/>
            <p:nvPr/>
          </p:nvGrpSpPr>
          <p:grpSpPr>
            <a:xfrm>
              <a:off x="8016131" y="1717289"/>
              <a:ext cx="979508" cy="873124"/>
              <a:chOff x="7080365" y="1730805"/>
              <a:chExt cx="1014545" cy="873124"/>
            </a:xfrm>
          </p:grpSpPr>
          <p:sp>
            <p:nvSpPr>
              <p:cNvPr id="348" name="양쪽 모서리가 둥근 사각형 50">
                <a:extLst>
                  <a:ext uri="{FF2B5EF4-FFF2-40B4-BE49-F238E27FC236}">
                    <a16:creationId xmlns:a16="http://schemas.microsoft.com/office/drawing/2014/main" id="{8F6D35A9-7B6A-DDC2-B2F9-10C69645EDF4}"/>
                  </a:ext>
                </a:extLst>
              </p:cNvPr>
              <p:cNvSpPr/>
              <p:nvPr/>
            </p:nvSpPr>
            <p:spPr>
              <a:xfrm>
                <a:off x="7080365" y="1730805"/>
                <a:ext cx="1014545" cy="196850"/>
              </a:xfrm>
              <a:prstGeom prst="round2SameRect">
                <a:avLst/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000"/>
                  </a:lnSpc>
                </a:pPr>
                <a:r>
                  <a:rPr lang="ko-KR" altLang="en-US" sz="9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NanumSquare Bold" panose="020B0600000101010101" pitchFamily="34" charset="-127"/>
                    <a:ea typeface="NanumSquare Bold" panose="020B0600000101010101" pitchFamily="34" charset="-127"/>
                  </a:rPr>
                  <a:t>건강</a:t>
                </a:r>
                <a:r>
                  <a:rPr lang="en-US" altLang="ko-KR" sz="9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NanumSquare Bold" panose="020B0600000101010101" pitchFamily="34" charset="-127"/>
                    <a:ea typeface="NanumSquare Bold" panose="020B0600000101010101" pitchFamily="34" charset="-127"/>
                  </a:rPr>
                  <a:t>/</a:t>
                </a:r>
                <a:r>
                  <a:rPr lang="ko-KR" altLang="en-US" sz="9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NanumSquare Bold" panose="020B0600000101010101" pitchFamily="34" charset="-127"/>
                    <a:ea typeface="NanumSquare Bold" panose="020B0600000101010101" pitchFamily="34" charset="-127"/>
                  </a:rPr>
                  <a:t>복약관리</a:t>
                </a:r>
                <a:endParaRPr lang="ko-GY" sz="9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NanumSquare Bold" panose="020B0600000101010101" pitchFamily="34" charset="-127"/>
                  <a:ea typeface="NanumSquare Bold" panose="020B0600000101010101" pitchFamily="34" charset="-127"/>
                </a:endParaRPr>
              </a:p>
            </p:txBody>
          </p:sp>
          <p:sp>
            <p:nvSpPr>
              <p:cNvPr id="349" name="직사각형 348">
                <a:extLst>
                  <a:ext uri="{FF2B5EF4-FFF2-40B4-BE49-F238E27FC236}">
                    <a16:creationId xmlns:a16="http://schemas.microsoft.com/office/drawing/2014/main" id="{4D91F3AA-DCD1-BF37-C2B6-060CD792B6A8}"/>
                  </a:ext>
                </a:extLst>
              </p:cNvPr>
              <p:cNvSpPr/>
              <p:nvPr/>
            </p:nvSpPr>
            <p:spPr>
              <a:xfrm>
                <a:off x="7080365" y="1927655"/>
                <a:ext cx="1014545" cy="67627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800" b="1" dirty="0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endParaRPr>
              </a:p>
              <a:p>
                <a:pPr algn="ctr"/>
                <a:r>
                  <a:rPr lang="en-US" altLang="ko-KR" sz="800" b="1" dirty="0">
                    <a:solidFill>
                      <a:schemeClr val="tx1"/>
                    </a:solidFill>
                    <a:latin typeface="NanumSquare Bold" panose="020B0600000101010101" pitchFamily="34" charset="-127"/>
                    <a:ea typeface="NanumSquare Bold" panose="020B0600000101010101" pitchFamily="34" charset="-127"/>
                  </a:rPr>
                  <a:t>AI</a:t>
                </a:r>
                <a:r>
                  <a:rPr lang="ko-KR" altLang="en-US" sz="800" b="1" dirty="0" err="1">
                    <a:solidFill>
                      <a:schemeClr val="tx1"/>
                    </a:solidFill>
                    <a:latin typeface="NanumSquare Bold" panose="020B0600000101010101" pitchFamily="34" charset="-127"/>
                    <a:ea typeface="NanumSquare Bold" panose="020B0600000101010101" pitchFamily="34" charset="-127"/>
                  </a:rPr>
                  <a:t>닥터케어</a:t>
                </a:r>
                <a:endParaRPr lang="en-US" altLang="ko-KR" sz="800" b="1" dirty="0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endParaRPr>
              </a:p>
              <a:p>
                <a:pPr algn="ctr"/>
                <a:endParaRPr lang="en-US" altLang="ko-KR" sz="800" b="1" dirty="0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endParaRPr>
              </a:p>
              <a:p>
                <a:pPr algn="ctr"/>
                <a:endParaRPr lang="en-US" sz="800" b="1" dirty="0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endParaRPr>
              </a:p>
              <a:p>
                <a:pPr algn="ctr"/>
                <a:endParaRPr lang="en-US" sz="800" b="1" dirty="0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endParaRPr>
              </a:p>
              <a:p>
                <a:pPr algn="ctr"/>
                <a:endParaRPr lang="en-US" sz="800" b="1" dirty="0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endParaRPr>
              </a:p>
              <a:p>
                <a:pPr algn="ctr"/>
                <a:endParaRPr lang="ko-GY" sz="800" b="1" dirty="0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endParaRPr>
              </a:p>
            </p:txBody>
          </p:sp>
        </p:grpSp>
        <p:grpSp>
          <p:nvGrpSpPr>
            <p:cNvPr id="350" name="그룹 349">
              <a:extLst>
                <a:ext uri="{FF2B5EF4-FFF2-40B4-BE49-F238E27FC236}">
                  <a16:creationId xmlns:a16="http://schemas.microsoft.com/office/drawing/2014/main" id="{DEDA245B-7AB5-200E-1EF3-51B29F7F0AE5}"/>
                </a:ext>
              </a:extLst>
            </p:cNvPr>
            <p:cNvGrpSpPr/>
            <p:nvPr/>
          </p:nvGrpSpPr>
          <p:grpSpPr>
            <a:xfrm>
              <a:off x="9032094" y="1717289"/>
              <a:ext cx="979511" cy="873124"/>
              <a:chOff x="7080365" y="1730805"/>
              <a:chExt cx="1014549" cy="873124"/>
            </a:xfrm>
          </p:grpSpPr>
          <p:sp>
            <p:nvSpPr>
              <p:cNvPr id="351" name="양쪽 모서리가 둥근 사각형 50">
                <a:extLst>
                  <a:ext uri="{FF2B5EF4-FFF2-40B4-BE49-F238E27FC236}">
                    <a16:creationId xmlns:a16="http://schemas.microsoft.com/office/drawing/2014/main" id="{22224BA8-F8BB-BCBA-004D-6F7EBA78AC2E}"/>
                  </a:ext>
                </a:extLst>
              </p:cNvPr>
              <p:cNvSpPr/>
              <p:nvPr/>
            </p:nvSpPr>
            <p:spPr>
              <a:xfrm>
                <a:off x="7080369" y="1730805"/>
                <a:ext cx="1014545" cy="196850"/>
              </a:xfrm>
              <a:prstGeom prst="round2SameRect">
                <a:avLst/>
              </a:prstGeom>
              <a:solidFill>
                <a:schemeClr val="accent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ts val="1000"/>
                  </a:lnSpc>
                </a:pPr>
                <a:r>
                  <a:rPr lang="ko-KR" altLang="en-US" sz="900" b="1" dirty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NanumSquare Bold" panose="020B0600000101010101" pitchFamily="34" charset="-127"/>
                    <a:ea typeface="NanumSquare Bold" panose="020B0600000101010101" pitchFamily="34" charset="-127"/>
                  </a:rPr>
                  <a:t>응급안전행정</a:t>
                </a:r>
                <a:endParaRPr lang="ko-GY" sz="9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NanumSquare Bold" panose="020B0600000101010101" pitchFamily="34" charset="-127"/>
                  <a:ea typeface="NanumSquare Bold" panose="020B0600000101010101" pitchFamily="34" charset="-127"/>
                </a:endParaRPr>
              </a:p>
            </p:txBody>
          </p:sp>
          <p:sp>
            <p:nvSpPr>
              <p:cNvPr id="352" name="직사각형 351">
                <a:extLst>
                  <a:ext uri="{FF2B5EF4-FFF2-40B4-BE49-F238E27FC236}">
                    <a16:creationId xmlns:a16="http://schemas.microsoft.com/office/drawing/2014/main" id="{0C507A6E-325A-93C4-2C3A-A85F2218FE29}"/>
                  </a:ext>
                </a:extLst>
              </p:cNvPr>
              <p:cNvSpPr/>
              <p:nvPr/>
            </p:nvSpPr>
            <p:spPr>
              <a:xfrm>
                <a:off x="7080365" y="1927655"/>
                <a:ext cx="1014545" cy="67627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800" b="1" dirty="0" err="1">
                    <a:solidFill>
                      <a:schemeClr val="tx1"/>
                    </a:solidFill>
                    <a:latin typeface="NanumSquare Bold" panose="020B0600000101010101" pitchFamily="34" charset="-127"/>
                    <a:ea typeface="NanumSquare Bold" panose="020B0600000101010101" pitchFamily="34" charset="-127"/>
                  </a:rPr>
                  <a:t>안전복지맵</a:t>
                </a:r>
                <a:endParaRPr lang="en-US" altLang="ko-KR" sz="800" b="1" dirty="0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endParaRPr>
              </a:p>
              <a:p>
                <a:pPr algn="ctr"/>
                <a:endParaRPr lang="en-US" altLang="ko-KR" sz="800" b="1" dirty="0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endParaRPr>
              </a:p>
              <a:p>
                <a:pPr algn="ctr"/>
                <a:endParaRPr lang="en-US" sz="800" b="1" dirty="0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endParaRPr>
              </a:p>
              <a:p>
                <a:pPr algn="ctr"/>
                <a:endParaRPr lang="en-US" sz="800" b="1" dirty="0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endParaRPr>
              </a:p>
              <a:p>
                <a:pPr algn="ctr"/>
                <a:endParaRPr lang="ko-GY" sz="800" b="1" dirty="0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endParaRPr>
              </a:p>
            </p:txBody>
          </p:sp>
        </p:grpSp>
        <p:sp>
          <p:nvSpPr>
            <p:cNvPr id="353" name="사각형: 둥근 모서리 352">
              <a:extLst>
                <a:ext uri="{FF2B5EF4-FFF2-40B4-BE49-F238E27FC236}">
                  <a16:creationId xmlns:a16="http://schemas.microsoft.com/office/drawing/2014/main" id="{0E98F3E4-E660-31F3-A86D-B1B1D6596621}"/>
                </a:ext>
              </a:extLst>
            </p:cNvPr>
            <p:cNvSpPr/>
            <p:nvPr/>
          </p:nvSpPr>
          <p:spPr>
            <a:xfrm>
              <a:off x="4008438" y="2216784"/>
              <a:ext cx="890587" cy="113377"/>
            </a:xfrm>
            <a:prstGeom prst="roundRect">
              <a:avLst/>
            </a:prstGeom>
            <a:solidFill>
              <a:srgbClr val="DEEBF7">
                <a:alpha val="76863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60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응급상황 발생도 예측</a:t>
              </a:r>
              <a:endPara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354" name="사각형: 둥근 모서리 353">
              <a:extLst>
                <a:ext uri="{FF2B5EF4-FFF2-40B4-BE49-F238E27FC236}">
                  <a16:creationId xmlns:a16="http://schemas.microsoft.com/office/drawing/2014/main" id="{9E79502B-C054-FC6C-AEB8-89EFE57C88FA}"/>
                </a:ext>
              </a:extLst>
            </p:cNvPr>
            <p:cNvSpPr/>
            <p:nvPr/>
          </p:nvSpPr>
          <p:spPr>
            <a:xfrm>
              <a:off x="4003676" y="2365945"/>
              <a:ext cx="890587" cy="113377"/>
            </a:xfrm>
            <a:prstGeom prst="roundRect">
              <a:avLst/>
            </a:prstGeom>
            <a:solidFill>
              <a:srgbClr val="DEEBF7">
                <a:alpha val="76863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위험징후 감지</a:t>
              </a:r>
              <a:r>
                <a:rPr lang="en-US" altLang="ko-KR" sz="6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</a:t>
              </a:r>
              <a:r>
                <a:rPr lang="ko-KR" altLang="en-US" sz="600" dirty="0" err="1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예방돌봄</a:t>
              </a:r>
              <a:endPara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355" name="사각형: 둥근 모서리 354">
              <a:extLst>
                <a:ext uri="{FF2B5EF4-FFF2-40B4-BE49-F238E27FC236}">
                  <a16:creationId xmlns:a16="http://schemas.microsoft.com/office/drawing/2014/main" id="{6771A1F0-9D9D-7A3F-FA80-C1133B6C95E3}"/>
                </a:ext>
              </a:extLst>
            </p:cNvPr>
            <p:cNvSpPr/>
            <p:nvPr/>
          </p:nvSpPr>
          <p:spPr>
            <a:xfrm>
              <a:off x="5015802" y="2222337"/>
              <a:ext cx="890587" cy="113377"/>
            </a:xfrm>
            <a:prstGeom prst="roundRect">
              <a:avLst/>
            </a:prstGeom>
            <a:solidFill>
              <a:srgbClr val="DEEBF7">
                <a:alpha val="76863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센서</a:t>
              </a:r>
              <a:r>
                <a:rPr lang="en-US" altLang="ko-KR" sz="6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/</a:t>
              </a:r>
              <a:r>
                <a:rPr lang="ko-KR" altLang="en-US" sz="6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게이트웨이 정보분석</a:t>
              </a:r>
            </a:p>
          </p:txBody>
        </p:sp>
        <p:sp>
          <p:nvSpPr>
            <p:cNvPr id="356" name="사각형: 둥근 모서리 355">
              <a:extLst>
                <a:ext uri="{FF2B5EF4-FFF2-40B4-BE49-F238E27FC236}">
                  <a16:creationId xmlns:a16="http://schemas.microsoft.com/office/drawing/2014/main" id="{39B0B3B9-93A0-4879-3367-7946D0520915}"/>
                </a:ext>
              </a:extLst>
            </p:cNvPr>
            <p:cNvSpPr/>
            <p:nvPr/>
          </p:nvSpPr>
          <p:spPr>
            <a:xfrm>
              <a:off x="5011040" y="2371498"/>
              <a:ext cx="890587" cy="113377"/>
            </a:xfrm>
            <a:prstGeom prst="roundRect">
              <a:avLst/>
            </a:prstGeom>
            <a:solidFill>
              <a:srgbClr val="DEEBF7">
                <a:alpha val="76863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긴급도 판정</a:t>
              </a:r>
              <a:r>
                <a:rPr lang="en-US" altLang="ko-KR" sz="6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</a:t>
              </a:r>
              <a:r>
                <a:rPr lang="ko-KR" altLang="en-US" sz="6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자동신고</a:t>
              </a:r>
            </a:p>
          </p:txBody>
        </p:sp>
        <p:sp>
          <p:nvSpPr>
            <p:cNvPr id="357" name="사각형: 둥근 모서리 356">
              <a:extLst>
                <a:ext uri="{FF2B5EF4-FFF2-40B4-BE49-F238E27FC236}">
                  <a16:creationId xmlns:a16="http://schemas.microsoft.com/office/drawing/2014/main" id="{9C94E6DF-E15B-5D6D-35C1-9AE1A457D13E}"/>
                </a:ext>
              </a:extLst>
            </p:cNvPr>
            <p:cNvSpPr/>
            <p:nvPr/>
          </p:nvSpPr>
          <p:spPr>
            <a:xfrm>
              <a:off x="6054910" y="2230773"/>
              <a:ext cx="890587" cy="113377"/>
            </a:xfrm>
            <a:prstGeom prst="roundRect">
              <a:avLst/>
            </a:prstGeom>
            <a:solidFill>
              <a:srgbClr val="DEEBF7">
                <a:alpha val="76863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최적 병원</a:t>
              </a:r>
              <a:r>
                <a:rPr lang="en-US" altLang="ko-KR" sz="6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</a:t>
              </a:r>
              <a:r>
                <a:rPr lang="ko-KR" altLang="en-US" sz="6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이송경로 추천</a:t>
              </a:r>
            </a:p>
          </p:txBody>
        </p:sp>
        <p:sp>
          <p:nvSpPr>
            <p:cNvPr id="358" name="사각형: 둥근 모서리 357">
              <a:extLst>
                <a:ext uri="{FF2B5EF4-FFF2-40B4-BE49-F238E27FC236}">
                  <a16:creationId xmlns:a16="http://schemas.microsoft.com/office/drawing/2014/main" id="{7B0365B8-2A25-0B9E-2BD8-348EC0B44EAE}"/>
                </a:ext>
              </a:extLst>
            </p:cNvPr>
            <p:cNvSpPr/>
            <p:nvPr/>
          </p:nvSpPr>
          <p:spPr>
            <a:xfrm>
              <a:off x="6050148" y="2379934"/>
              <a:ext cx="890587" cy="113377"/>
            </a:xfrm>
            <a:prstGeom prst="roundRect">
              <a:avLst/>
            </a:prstGeom>
            <a:solidFill>
              <a:srgbClr val="DEEBF7">
                <a:alpha val="76863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출동대원 지원 리포트</a:t>
              </a:r>
            </a:p>
          </p:txBody>
        </p:sp>
        <p:sp>
          <p:nvSpPr>
            <p:cNvPr id="360" name="사각형: 둥근 모서리 359">
              <a:extLst>
                <a:ext uri="{FF2B5EF4-FFF2-40B4-BE49-F238E27FC236}">
                  <a16:creationId xmlns:a16="http://schemas.microsoft.com/office/drawing/2014/main" id="{9D22065D-C8D7-83BA-7AA0-AA620A414102}"/>
                </a:ext>
              </a:extLst>
            </p:cNvPr>
            <p:cNvSpPr/>
            <p:nvPr/>
          </p:nvSpPr>
          <p:spPr>
            <a:xfrm>
              <a:off x="7050066" y="2104180"/>
              <a:ext cx="890587" cy="113377"/>
            </a:xfrm>
            <a:prstGeom prst="roundRect">
              <a:avLst/>
            </a:prstGeom>
            <a:solidFill>
              <a:srgbClr val="DEEBF7">
                <a:alpha val="76863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감정기반 맞춤형 대화</a:t>
              </a:r>
            </a:p>
          </p:txBody>
        </p:sp>
        <p:sp>
          <p:nvSpPr>
            <p:cNvPr id="361" name="사각형: 둥근 모서리 360">
              <a:extLst>
                <a:ext uri="{FF2B5EF4-FFF2-40B4-BE49-F238E27FC236}">
                  <a16:creationId xmlns:a16="http://schemas.microsoft.com/office/drawing/2014/main" id="{DF6C0BCE-277D-F951-025D-1711E5E91593}"/>
                </a:ext>
              </a:extLst>
            </p:cNvPr>
            <p:cNvSpPr/>
            <p:nvPr/>
          </p:nvSpPr>
          <p:spPr>
            <a:xfrm>
              <a:off x="7058720" y="2265552"/>
              <a:ext cx="853380" cy="120454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800" b="1" dirty="0" err="1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rPr>
                <a:t>가족이음</a:t>
              </a:r>
              <a:r>
                <a:rPr lang="ko-KR" altLang="en-US" sz="800" b="1" dirty="0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rPr>
                <a:t> </a:t>
              </a:r>
              <a:r>
                <a:rPr lang="en-US" altLang="ko-KR" sz="800" b="1" dirty="0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rPr>
                <a:t>AI</a:t>
              </a:r>
            </a:p>
          </p:txBody>
        </p:sp>
        <p:sp>
          <p:nvSpPr>
            <p:cNvPr id="362" name="사각형: 둥근 모서리 361">
              <a:extLst>
                <a:ext uri="{FF2B5EF4-FFF2-40B4-BE49-F238E27FC236}">
                  <a16:creationId xmlns:a16="http://schemas.microsoft.com/office/drawing/2014/main" id="{C96675FD-E5DE-7720-6ADB-7B7471A02D26}"/>
                </a:ext>
              </a:extLst>
            </p:cNvPr>
            <p:cNvSpPr/>
            <p:nvPr/>
          </p:nvSpPr>
          <p:spPr>
            <a:xfrm>
              <a:off x="7048524" y="2412195"/>
              <a:ext cx="890587" cy="113377"/>
            </a:xfrm>
            <a:prstGeom prst="roundRect">
              <a:avLst/>
            </a:prstGeom>
            <a:solidFill>
              <a:srgbClr val="DEEBF7">
                <a:alpha val="76863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대상자</a:t>
              </a:r>
              <a:r>
                <a:rPr lang="en-US" altLang="ko-KR" sz="6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-</a:t>
              </a:r>
              <a:r>
                <a:rPr lang="ko-KR" altLang="en-US" sz="6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가족간 </a:t>
              </a:r>
              <a:r>
                <a:rPr lang="en-US" altLang="ko-KR" sz="6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Comm.</a:t>
              </a:r>
              <a:endParaRPr lang="ko-KR" altLang="en-US" sz="600" dirty="0">
                <a:solidFill>
                  <a:schemeClr val="tx1"/>
                </a:solidFill>
                <a:latin typeface="나눔스퀘어" panose="020B0600000101010101" pitchFamily="50" charset="-127"/>
                <a:ea typeface="나눔스퀘어" panose="020B0600000101010101" pitchFamily="50" charset="-127"/>
              </a:endParaRPr>
            </a:p>
          </p:txBody>
        </p:sp>
        <p:sp>
          <p:nvSpPr>
            <p:cNvPr id="369" name="사각형: 둥근 모서리 368">
              <a:extLst>
                <a:ext uri="{FF2B5EF4-FFF2-40B4-BE49-F238E27FC236}">
                  <a16:creationId xmlns:a16="http://schemas.microsoft.com/office/drawing/2014/main" id="{0D553104-40B1-5486-AD22-5129571E1140}"/>
                </a:ext>
              </a:extLst>
            </p:cNvPr>
            <p:cNvSpPr/>
            <p:nvPr/>
          </p:nvSpPr>
          <p:spPr>
            <a:xfrm>
              <a:off x="8064379" y="2108177"/>
              <a:ext cx="890587" cy="113377"/>
            </a:xfrm>
            <a:prstGeom prst="roundRect">
              <a:avLst/>
            </a:prstGeom>
            <a:solidFill>
              <a:srgbClr val="DEEBF7">
                <a:alpha val="76863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만성질환관리</a:t>
              </a:r>
              <a:r>
                <a:rPr lang="en-US" altLang="ko-KR" sz="6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</a:t>
              </a:r>
              <a:r>
                <a:rPr lang="ko-KR" altLang="en-US" sz="6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복약지도</a:t>
              </a:r>
            </a:p>
          </p:txBody>
        </p:sp>
        <p:sp>
          <p:nvSpPr>
            <p:cNvPr id="370" name="사각형: 둥근 모서리 369">
              <a:extLst>
                <a:ext uri="{FF2B5EF4-FFF2-40B4-BE49-F238E27FC236}">
                  <a16:creationId xmlns:a16="http://schemas.microsoft.com/office/drawing/2014/main" id="{401D309B-6B83-C0E9-A227-C1765AD8E095}"/>
                </a:ext>
              </a:extLst>
            </p:cNvPr>
            <p:cNvSpPr/>
            <p:nvPr/>
          </p:nvSpPr>
          <p:spPr>
            <a:xfrm>
              <a:off x="8073033" y="2269549"/>
              <a:ext cx="853380" cy="120454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rPr>
                <a:t>AI</a:t>
              </a:r>
              <a:r>
                <a:rPr lang="ko-KR" altLang="en-US" sz="800" b="1" dirty="0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rPr>
                <a:t> </a:t>
              </a:r>
              <a:r>
                <a:rPr lang="ko-KR" altLang="en-US" sz="800" b="1" dirty="0" err="1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rPr>
                <a:t>두뇌튼튼</a:t>
              </a:r>
              <a:r>
                <a:rPr lang="en-US" altLang="ko-KR" sz="800" b="1" dirty="0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rPr>
                <a:t>, </a:t>
              </a:r>
              <a:r>
                <a:rPr lang="ko-KR" altLang="en-US" sz="800" b="1" dirty="0" err="1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rPr>
                <a:t>몸튼튼</a:t>
              </a:r>
              <a:endParaRPr lang="en-US" altLang="ko-KR" sz="800" b="1" dirty="0">
                <a:solidFill>
                  <a:schemeClr val="tx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endParaRPr>
            </a:p>
          </p:txBody>
        </p:sp>
        <p:sp>
          <p:nvSpPr>
            <p:cNvPr id="371" name="사각형: 둥근 모서리 370">
              <a:extLst>
                <a:ext uri="{FF2B5EF4-FFF2-40B4-BE49-F238E27FC236}">
                  <a16:creationId xmlns:a16="http://schemas.microsoft.com/office/drawing/2014/main" id="{62E87AF5-EDFF-7EB7-659C-95774F97669F}"/>
                </a:ext>
              </a:extLst>
            </p:cNvPr>
            <p:cNvSpPr/>
            <p:nvPr/>
          </p:nvSpPr>
          <p:spPr>
            <a:xfrm>
              <a:off x="8062837" y="2416192"/>
              <a:ext cx="890587" cy="113377"/>
            </a:xfrm>
            <a:prstGeom prst="roundRect">
              <a:avLst/>
            </a:prstGeom>
            <a:solidFill>
              <a:srgbClr val="DEEBF7">
                <a:alpha val="76863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치매</a:t>
              </a:r>
              <a:r>
                <a:rPr lang="en-US" altLang="ko-KR" sz="6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</a:t>
              </a:r>
              <a:r>
                <a:rPr lang="ko-KR" altLang="en-US" sz="6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근감소증 예방</a:t>
              </a:r>
            </a:p>
          </p:txBody>
        </p:sp>
        <p:sp>
          <p:nvSpPr>
            <p:cNvPr id="372" name="사각형: 둥근 모서리 371">
              <a:extLst>
                <a:ext uri="{FF2B5EF4-FFF2-40B4-BE49-F238E27FC236}">
                  <a16:creationId xmlns:a16="http://schemas.microsoft.com/office/drawing/2014/main" id="{B4DE1658-1660-F192-08A6-EEA5B55B5CB6}"/>
                </a:ext>
              </a:extLst>
            </p:cNvPr>
            <p:cNvSpPr/>
            <p:nvPr/>
          </p:nvSpPr>
          <p:spPr>
            <a:xfrm>
              <a:off x="9086091" y="2115351"/>
              <a:ext cx="890587" cy="113377"/>
            </a:xfrm>
            <a:prstGeom prst="roundRect">
              <a:avLst/>
            </a:prstGeom>
            <a:solidFill>
              <a:srgbClr val="DEEBF7">
                <a:alpha val="76863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600" dirty="0" err="1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통합대시보드</a:t>
              </a:r>
              <a:r>
                <a:rPr lang="en-US" altLang="ko-KR" sz="6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, </a:t>
              </a:r>
              <a:r>
                <a:rPr lang="ko-KR" altLang="en-US" sz="6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행정지원</a:t>
              </a:r>
            </a:p>
          </p:txBody>
        </p:sp>
        <p:sp>
          <p:nvSpPr>
            <p:cNvPr id="373" name="사각형: 둥근 모서리 372">
              <a:extLst>
                <a:ext uri="{FF2B5EF4-FFF2-40B4-BE49-F238E27FC236}">
                  <a16:creationId xmlns:a16="http://schemas.microsoft.com/office/drawing/2014/main" id="{BD47D8EE-B79F-043F-E62F-888FBDB3F8D6}"/>
                </a:ext>
              </a:extLst>
            </p:cNvPr>
            <p:cNvSpPr/>
            <p:nvPr/>
          </p:nvSpPr>
          <p:spPr>
            <a:xfrm>
              <a:off x="9094745" y="2276723"/>
              <a:ext cx="853380" cy="120454"/>
            </a:xfrm>
            <a:prstGeom prst="round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altLang="ko-KR" sz="800" b="1" dirty="0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rPr>
                <a:t>AI</a:t>
              </a:r>
              <a:r>
                <a:rPr lang="ko-KR" altLang="en-US" sz="800" b="1" dirty="0">
                  <a:solidFill>
                    <a:schemeClr val="tx1"/>
                  </a:solidFill>
                  <a:latin typeface="NanumSquare Bold" panose="020B0600000101010101" pitchFamily="34" charset="-127"/>
                  <a:ea typeface="NanumSquare Bold" panose="020B0600000101010101" pitchFamily="34" charset="-127"/>
                </a:rPr>
                <a:t>케어 어시스턴트</a:t>
              </a:r>
              <a:endParaRPr lang="en-US" altLang="ko-KR" sz="800" b="1" dirty="0">
                <a:solidFill>
                  <a:schemeClr val="tx1"/>
                </a:solidFill>
                <a:latin typeface="NanumSquare Bold" panose="020B0600000101010101" pitchFamily="34" charset="-127"/>
                <a:ea typeface="NanumSquare Bold" panose="020B0600000101010101" pitchFamily="34" charset="-127"/>
              </a:endParaRPr>
            </a:p>
          </p:txBody>
        </p:sp>
        <p:sp>
          <p:nvSpPr>
            <p:cNvPr id="374" name="사각형: 둥근 모서리 373">
              <a:extLst>
                <a:ext uri="{FF2B5EF4-FFF2-40B4-BE49-F238E27FC236}">
                  <a16:creationId xmlns:a16="http://schemas.microsoft.com/office/drawing/2014/main" id="{D95508D1-AF0D-BD93-A421-9A0FA8F2E1C2}"/>
                </a:ext>
              </a:extLst>
            </p:cNvPr>
            <p:cNvSpPr/>
            <p:nvPr/>
          </p:nvSpPr>
          <p:spPr>
            <a:xfrm>
              <a:off x="9084549" y="2423366"/>
              <a:ext cx="890587" cy="113377"/>
            </a:xfrm>
            <a:prstGeom prst="roundRect">
              <a:avLst/>
            </a:prstGeom>
            <a:solidFill>
              <a:srgbClr val="DEEBF7">
                <a:alpha val="76863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ko-KR" altLang="en-US" sz="600" dirty="0">
                  <a:solidFill>
                    <a:schemeClr val="tx1"/>
                  </a:solidFill>
                  <a:latin typeface="나눔스퀘어" panose="020B0600000101010101" pitchFamily="50" charset="-127"/>
                  <a:ea typeface="나눔스퀘어" panose="020B0600000101010101" pitchFamily="50" charset="-127"/>
                </a:rPr>
                <a:t>응급관리요원 지원</a:t>
              </a:r>
            </a:p>
          </p:txBody>
        </p:sp>
      </p:grpSp>
      <p:sp>
        <p:nvSpPr>
          <p:cNvPr id="4" name="제목 3">
            <a:extLst>
              <a:ext uri="{FF2B5EF4-FFF2-40B4-BE49-F238E27FC236}">
                <a16:creationId xmlns:a16="http://schemas.microsoft.com/office/drawing/2014/main" id="{816E30C8-CFD4-F9E1-003C-D8C5A9FBE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AI</a:t>
            </a:r>
            <a:r>
              <a:rPr lang="ko-KR" altLang="en-US" dirty="0"/>
              <a:t>서비스 구성</a:t>
            </a: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89709B20-4739-08C9-A9E7-F2E8898C53FD}"/>
              </a:ext>
            </a:extLst>
          </p:cNvPr>
          <p:cNvSpPr txBox="1">
            <a:spLocks/>
          </p:cNvSpPr>
          <p:nvPr/>
        </p:nvSpPr>
        <p:spPr>
          <a:xfrm>
            <a:off x="550069" y="343481"/>
            <a:ext cx="7886700" cy="529797"/>
          </a:xfrm>
          <a:prstGeom prst="rect">
            <a:avLst/>
          </a:prstGeom>
        </p:spPr>
        <p:txBody>
          <a:bodyPr>
            <a:normAutofit/>
            <a:scene3d>
              <a:camera prst="orthographicFront"/>
              <a:lightRig rig="threePt" dir="t"/>
            </a:scene3d>
            <a:sp3d>
              <a:bevelT w="1270" h="1270"/>
            </a:sp3d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b="1" kern="1200" spc="-50" baseline="0">
                <a:solidFill>
                  <a:srgbClr val="465C89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ko-KR" altLang="en-US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92494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2791</TotalTime>
  <Words>368</Words>
  <Application>Microsoft Office PowerPoint</Application>
  <PresentationFormat>와이드스크린</PresentationFormat>
  <Paragraphs>193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8" baseType="lpstr">
      <vt:lpstr>나눔스퀘어</vt:lpstr>
      <vt:lpstr>나눔스퀘어 Bold</vt:lpstr>
      <vt:lpstr>나눔스퀘어 Bold</vt:lpstr>
      <vt:lpstr>맑은 고딕</vt:lpstr>
      <vt:lpstr>Arial</vt:lpstr>
      <vt:lpstr>Office 테마</vt:lpstr>
      <vt:lpstr>AI기반 댁내응급안전안심서비스 </vt:lpstr>
      <vt:lpstr>AI서비스 구성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choiehsel</dc:creator>
  <cp:lastModifiedBy>대형 이</cp:lastModifiedBy>
  <cp:revision>244</cp:revision>
  <dcterms:created xsi:type="dcterms:W3CDTF">2024-09-04T05:02:41Z</dcterms:created>
  <dcterms:modified xsi:type="dcterms:W3CDTF">2025-10-26T04:15:23Z</dcterms:modified>
</cp:coreProperties>
</file>