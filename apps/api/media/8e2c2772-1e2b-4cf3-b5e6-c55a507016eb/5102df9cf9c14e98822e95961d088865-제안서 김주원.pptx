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9" r:id="rId1"/>
    <p:sldMasterId id="2147483714" r:id="rId2"/>
  </p:sldMasterIdLst>
  <p:notesMasterIdLst>
    <p:notesMasterId r:id="rId15"/>
  </p:notesMasterIdLst>
  <p:handoutMasterIdLst>
    <p:handoutMasterId r:id="rId16"/>
  </p:handoutMasterIdLst>
  <p:sldIdLst>
    <p:sldId id="403" r:id="rId3"/>
    <p:sldId id="412" r:id="rId4"/>
    <p:sldId id="419" r:id="rId5"/>
    <p:sldId id="418" r:id="rId6"/>
    <p:sldId id="414" r:id="rId7"/>
    <p:sldId id="416" r:id="rId8"/>
    <p:sldId id="420" r:id="rId9"/>
    <p:sldId id="421" r:id="rId10"/>
    <p:sldId id="422" r:id="rId11"/>
    <p:sldId id="423" r:id="rId12"/>
    <p:sldId id="424" r:id="rId13"/>
    <p:sldId id="425" r:id="rId14"/>
  </p:sldIdLst>
  <p:sldSz cx="6858000" cy="9906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7" pos="4110" userDrawn="1">
          <p15:clr>
            <a:srgbClr val="A4A3A4"/>
          </p15:clr>
        </p15:guide>
        <p15:guide id="28" pos="210" userDrawn="1">
          <p15:clr>
            <a:srgbClr val="A4A3A4"/>
          </p15:clr>
        </p15:guide>
        <p15:guide id="30" orient="horz" pos="58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31">
          <p15:clr>
            <a:srgbClr val="A4A3A4"/>
          </p15:clr>
        </p15:guide>
        <p15:guide id="4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3D4"/>
    <a:srgbClr val="F0F0F0"/>
    <a:srgbClr val="C1CDD5"/>
    <a:srgbClr val="E4EDF4"/>
    <a:srgbClr val="004C98"/>
    <a:srgbClr val="154194"/>
    <a:srgbClr val="EB6100"/>
    <a:srgbClr val="004B98"/>
    <a:srgbClr val="3973AF"/>
    <a:srgbClr val="237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48" autoAdjust="0"/>
    <p:restoredTop sz="97536" autoAdjust="0"/>
  </p:normalViewPr>
  <p:slideViewPr>
    <p:cSldViewPr showGuides="1">
      <p:cViewPr varScale="1">
        <p:scale>
          <a:sx n="118" d="100"/>
          <a:sy n="118" d="100"/>
        </p:scale>
        <p:origin x="450" y="102"/>
      </p:cViewPr>
      <p:guideLst>
        <p:guide pos="4110"/>
        <p:guide pos="210"/>
        <p:guide orient="horz" pos="588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howGuides="1">
      <p:cViewPr varScale="1">
        <p:scale>
          <a:sx n="121" d="100"/>
          <a:sy n="121" d="100"/>
        </p:scale>
        <p:origin x="1554" y="90"/>
      </p:cViewPr>
      <p:guideLst>
        <p:guide orient="horz" pos="2880"/>
        <p:guide pos="2160"/>
        <p:guide orient="horz" pos="3131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C8B23-FB1B-46E8-9FE4-8471FA68918A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C2694-8DDB-485E-9D78-E9B0620C7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162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B52A1-8621-4D4B-80CE-65D9ED3ED73F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3138" y="1243013"/>
            <a:ext cx="232092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3C954-1B42-4C2B-9142-24DCF7E4D5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64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F3C954-1B42-4C2B-9142-24DCF7E4D57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586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F3C954-1B42-4C2B-9142-24DCF7E4D57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34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F3C954-1B42-4C2B-9142-24DCF7E4D57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99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"/>
            <a:ext cx="6858000" cy="990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04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"/>
            <a:ext cx="6858000" cy="990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745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"/>
            <a:ext cx="6858000" cy="9902952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 bwMode="gray">
          <a:xfrm>
            <a:off x="2941114" y="2517871"/>
            <a:ext cx="1006046" cy="863503"/>
          </a:xfrm>
          <a:prstGeom prst="rect">
            <a:avLst/>
          </a:prstGeom>
          <a:solidFill>
            <a:srgbClr val="004B98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20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8659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 userDrawn="1"/>
        </p:nvSpPr>
        <p:spPr>
          <a:xfrm>
            <a:off x="0" y="-1"/>
            <a:ext cx="6858000" cy="781051"/>
          </a:xfrm>
          <a:prstGeom prst="rect">
            <a:avLst/>
          </a:prstGeom>
          <a:solidFill>
            <a:srgbClr val="E4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167640" y="441399"/>
            <a:ext cx="6522720" cy="15592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23" name="그룹 22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24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5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26" name="그룹 25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8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237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39" name="그림 3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21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242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3" name="그룹 2"/>
          <p:cNvGrpSpPr/>
          <p:nvPr userDrawn="1"/>
        </p:nvGrpSpPr>
        <p:grpSpPr>
          <a:xfrm>
            <a:off x="4263144" y="160337"/>
            <a:ext cx="2445396" cy="196926"/>
            <a:chOff x="4149080" y="160337"/>
            <a:chExt cx="2445396" cy="196926"/>
          </a:xfrm>
        </p:grpSpPr>
        <p:grpSp>
          <p:nvGrpSpPr>
            <p:cNvPr id="40" name="그룹 39"/>
            <p:cNvGrpSpPr/>
            <p:nvPr userDrawn="1"/>
          </p:nvGrpSpPr>
          <p:grpSpPr>
            <a:xfrm>
              <a:off x="6077534" y="160337"/>
              <a:ext cx="196926" cy="196926"/>
              <a:chOff x="6055184" y="668524"/>
              <a:chExt cx="196926" cy="196926"/>
            </a:xfrm>
          </p:grpSpPr>
          <p:sp>
            <p:nvSpPr>
              <p:cNvPr id="63" name="타원 62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6087468" y="697737"/>
                <a:ext cx="141882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5540958" y="160337"/>
              <a:ext cx="196926" cy="196926"/>
              <a:chOff x="5518608" y="668524"/>
              <a:chExt cx="196926" cy="196926"/>
            </a:xfrm>
          </p:grpSpPr>
          <p:sp>
            <p:nvSpPr>
              <p:cNvPr id="61" name="타원 60"/>
              <p:cNvSpPr/>
              <p:nvPr/>
            </p:nvSpPr>
            <p:spPr bwMode="gray">
              <a:xfrm>
                <a:off x="5518608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544352" y="697737"/>
                <a:ext cx="1454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5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2" name="그룹 41"/>
            <p:cNvGrpSpPr/>
            <p:nvPr userDrawn="1"/>
          </p:nvGrpSpPr>
          <p:grpSpPr>
            <a:xfrm>
              <a:off x="5809246" y="160337"/>
              <a:ext cx="196926" cy="196926"/>
              <a:chOff x="5786896" y="668524"/>
              <a:chExt cx="196926" cy="196926"/>
            </a:xfrm>
          </p:grpSpPr>
          <p:sp>
            <p:nvSpPr>
              <p:cNvPr id="59" name="타원 58"/>
              <p:cNvSpPr/>
              <p:nvPr/>
            </p:nvSpPr>
            <p:spPr bwMode="gray">
              <a:xfrm>
                <a:off x="5786896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816609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 latinLnBrk="0"/>
                <a:r>
                  <a:rPr kumimoji="1" lang="en-US" altLang="ko-KR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Ⅴ</a:t>
                </a:r>
                <a:endParaRPr kumimoji="1"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4" name="그룹 43"/>
            <p:cNvGrpSpPr/>
            <p:nvPr userDrawn="1"/>
          </p:nvGrpSpPr>
          <p:grpSpPr>
            <a:xfrm>
              <a:off x="5268443" y="160337"/>
              <a:ext cx="196926" cy="196926"/>
              <a:chOff x="5246093" y="668524"/>
              <a:chExt cx="196926" cy="196926"/>
            </a:xfrm>
          </p:grpSpPr>
          <p:sp>
            <p:nvSpPr>
              <p:cNvPr id="55" name="타원 54"/>
              <p:cNvSpPr/>
              <p:nvPr/>
            </p:nvSpPr>
            <p:spPr bwMode="gray">
              <a:xfrm>
                <a:off x="5246093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5286375" y="697737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5" name="그룹 44"/>
            <p:cNvGrpSpPr/>
            <p:nvPr userDrawn="1"/>
          </p:nvGrpSpPr>
          <p:grpSpPr>
            <a:xfrm>
              <a:off x="5000155" y="160337"/>
              <a:ext cx="196926" cy="196926"/>
              <a:chOff x="4977805" y="668524"/>
              <a:chExt cx="196926" cy="196926"/>
            </a:xfrm>
          </p:grpSpPr>
          <p:sp>
            <p:nvSpPr>
              <p:cNvPr id="53" name="타원 52"/>
              <p:cNvSpPr/>
              <p:nvPr/>
            </p:nvSpPr>
            <p:spPr bwMode="gray">
              <a:xfrm>
                <a:off x="4977805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007518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6" name="그룹 45"/>
            <p:cNvGrpSpPr/>
            <p:nvPr userDrawn="1"/>
          </p:nvGrpSpPr>
          <p:grpSpPr>
            <a:xfrm>
              <a:off x="4149080" y="160337"/>
              <a:ext cx="805113" cy="196926"/>
              <a:chOff x="3912592" y="1079157"/>
              <a:chExt cx="805113" cy="196926"/>
            </a:xfrm>
          </p:grpSpPr>
          <p:grpSp>
            <p:nvGrpSpPr>
              <p:cNvPr id="47" name="그룹 46"/>
              <p:cNvGrpSpPr/>
              <p:nvPr/>
            </p:nvGrpSpPr>
            <p:grpSpPr>
              <a:xfrm>
                <a:off x="3912592" y="1079157"/>
                <a:ext cx="196926" cy="196926"/>
                <a:chOff x="4709517" y="668524"/>
                <a:chExt cx="196926" cy="196926"/>
              </a:xfrm>
            </p:grpSpPr>
            <p:sp>
              <p:nvSpPr>
                <p:cNvPr id="51" name="타원 50"/>
                <p:cNvSpPr/>
                <p:nvPr/>
              </p:nvSpPr>
              <p:spPr bwMode="gray">
                <a:xfrm>
                  <a:off x="4709517" y="668524"/>
                  <a:ext cx="196926" cy="196926"/>
                </a:xfrm>
                <a:prstGeom prst="ellipse">
                  <a:avLst/>
                </a:prstGeom>
                <a:solidFill>
                  <a:srgbClr val="004B98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/>
                <a:p>
                  <a:pPr lvl="0" algn="ctr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ko-KR" altLang="en-US" sz="1200" dirty="0">
                    <a:ln>
                      <a:noFill/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4735261" y="697737"/>
                  <a:ext cx="145438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05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>
                          <a:lumMod val="95000"/>
                        </a:schemeClr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lvl="0"/>
                  <a:r>
                    <a:rPr lang="en-US" altLang="ko-KR" sz="900" spc="0" baseline="0" dirty="0" smtClean="0">
                      <a:ln>
                        <a:noFill/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</a:t>
                  </a:r>
                  <a:endParaRPr lang="ko-KR" altLang="en-US" sz="900" spc="0" baseline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48" name="그룹 47"/>
              <p:cNvGrpSpPr/>
              <p:nvPr/>
            </p:nvGrpSpPr>
            <p:grpSpPr>
              <a:xfrm>
                <a:off x="4094077" y="1092982"/>
                <a:ext cx="623628" cy="169277"/>
                <a:chOff x="4094077" y="1092982"/>
                <a:chExt cx="623628" cy="169277"/>
              </a:xfrm>
            </p:grpSpPr>
            <p:sp>
              <p:nvSpPr>
                <p:cNvPr id="49" name="Rectangle 19"/>
                <p:cNvSpPr>
                  <a:spLocks noChangeArrowheads="1"/>
                </p:cNvSpPr>
                <p:nvPr/>
              </p:nvSpPr>
              <p:spPr bwMode="gray">
                <a:xfrm>
                  <a:off x="4216710" y="1092982"/>
                  <a:ext cx="500995" cy="1692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DCDCD">
                          <a:alpha val="50195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7200" bIns="0" anchor="ctr">
                  <a:spAutoFit/>
                </a:bodyPr>
                <a:lstStyle/>
                <a:p>
                  <a:pPr fontAlgn="ctr" latinLnBrk="0">
                    <a:spcBef>
                      <a:spcPct val="0"/>
                    </a:spcBef>
                    <a:spcAft>
                      <a:spcPct val="0"/>
                    </a:spcAft>
                    <a:buFont typeface="Symbol" pitchFamily="18" charset="2"/>
                    <a:buNone/>
                  </a:pPr>
                  <a:r>
                    <a:rPr kumimoji="1" lang="ko-KR" altLang="en-US" sz="110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일반현황</a:t>
                  </a:r>
                </a:p>
              </p:txBody>
            </p:sp>
            <p:cxnSp>
              <p:nvCxnSpPr>
                <p:cNvPr id="50" name="직선 연결선 49"/>
                <p:cNvCxnSpPr/>
                <p:nvPr/>
              </p:nvCxnSpPr>
              <p:spPr>
                <a:xfrm>
                  <a:off x="4094077" y="1177620"/>
                  <a:ext cx="92729" cy="0"/>
                </a:xfrm>
                <a:prstGeom prst="line">
                  <a:avLst/>
                </a:prstGeom>
                <a:ln w="12700">
                  <a:solidFill>
                    <a:srgbClr val="004B98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3" name="그룹 42"/>
            <p:cNvGrpSpPr/>
            <p:nvPr userDrawn="1"/>
          </p:nvGrpSpPr>
          <p:grpSpPr>
            <a:xfrm>
              <a:off x="6284568" y="160337"/>
              <a:ext cx="309908" cy="196926"/>
              <a:chOff x="6003455" y="668524"/>
              <a:chExt cx="309908" cy="196926"/>
            </a:xfrm>
          </p:grpSpPr>
          <p:sp>
            <p:nvSpPr>
              <p:cNvPr id="57" name="타원 56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6003455" y="697737"/>
                <a:ext cx="3099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spc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33854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I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/>
          <p:cNvSpPr/>
          <p:nvPr userDrawn="1"/>
        </p:nvSpPr>
        <p:spPr>
          <a:xfrm>
            <a:off x="0" y="-1"/>
            <a:ext cx="6858000" cy="781051"/>
          </a:xfrm>
          <a:prstGeom prst="rect">
            <a:avLst/>
          </a:prstGeom>
          <a:solidFill>
            <a:srgbClr val="E4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n>
                <a:noFill/>
              </a:ln>
            </a:endParaRPr>
          </a:p>
        </p:txBody>
      </p:sp>
      <p:sp>
        <p:nvSpPr>
          <p:cNvPr id="59" name="직사각형 58"/>
          <p:cNvSpPr/>
          <p:nvPr userDrawn="1"/>
        </p:nvSpPr>
        <p:spPr>
          <a:xfrm>
            <a:off x="167640" y="441399"/>
            <a:ext cx="6522720" cy="15592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grpSp>
        <p:nvGrpSpPr>
          <p:cNvPr id="52" name="그룹 51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53" name="그룹 52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63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4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60" name="그룹 59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61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2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5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II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40" name="그룹 39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1" name="그림 4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2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3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2" name="그룹 1"/>
          <p:cNvGrpSpPr/>
          <p:nvPr userDrawn="1"/>
        </p:nvGrpSpPr>
        <p:grpSpPr>
          <a:xfrm>
            <a:off x="3933263" y="160337"/>
            <a:ext cx="2775277" cy="196926"/>
            <a:chOff x="3933263" y="160337"/>
            <a:chExt cx="2775277" cy="196926"/>
          </a:xfrm>
        </p:grpSpPr>
        <p:grpSp>
          <p:nvGrpSpPr>
            <p:cNvPr id="46" name="그룹 45"/>
            <p:cNvGrpSpPr/>
            <p:nvPr userDrawn="1"/>
          </p:nvGrpSpPr>
          <p:grpSpPr>
            <a:xfrm>
              <a:off x="6191598" y="160337"/>
              <a:ext cx="196926" cy="196926"/>
              <a:chOff x="6055184" y="668524"/>
              <a:chExt cx="196926" cy="196926"/>
            </a:xfrm>
          </p:grpSpPr>
          <p:sp>
            <p:nvSpPr>
              <p:cNvPr id="82" name="타원 81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6087468" y="697737"/>
                <a:ext cx="141882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8" name="그룹 47"/>
            <p:cNvGrpSpPr/>
            <p:nvPr userDrawn="1"/>
          </p:nvGrpSpPr>
          <p:grpSpPr>
            <a:xfrm>
              <a:off x="5655022" y="160337"/>
              <a:ext cx="196926" cy="196926"/>
              <a:chOff x="5518608" y="668524"/>
              <a:chExt cx="196926" cy="196926"/>
            </a:xfrm>
          </p:grpSpPr>
          <p:sp>
            <p:nvSpPr>
              <p:cNvPr id="80" name="타원 79"/>
              <p:cNvSpPr/>
              <p:nvPr/>
            </p:nvSpPr>
            <p:spPr bwMode="gray">
              <a:xfrm>
                <a:off x="5518608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5544352" y="697737"/>
                <a:ext cx="1454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5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>
              <a:off x="5923310" y="160337"/>
              <a:ext cx="196926" cy="196926"/>
              <a:chOff x="5786896" y="668524"/>
              <a:chExt cx="196926" cy="196926"/>
            </a:xfrm>
          </p:grpSpPr>
          <p:sp>
            <p:nvSpPr>
              <p:cNvPr id="78" name="타원 77"/>
              <p:cNvSpPr/>
              <p:nvPr/>
            </p:nvSpPr>
            <p:spPr bwMode="gray">
              <a:xfrm>
                <a:off x="5786896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5816609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 latinLnBrk="0"/>
                <a:r>
                  <a:rPr kumimoji="1" lang="en-US" altLang="ko-KR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Ⅴ</a:t>
                </a:r>
                <a:endParaRPr kumimoji="1"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50" name="그룹 49"/>
            <p:cNvGrpSpPr/>
            <p:nvPr userDrawn="1"/>
          </p:nvGrpSpPr>
          <p:grpSpPr>
            <a:xfrm>
              <a:off x="5382507" y="160337"/>
              <a:ext cx="196926" cy="196926"/>
              <a:chOff x="5246093" y="668524"/>
              <a:chExt cx="196926" cy="196926"/>
            </a:xfrm>
          </p:grpSpPr>
          <p:sp>
            <p:nvSpPr>
              <p:cNvPr id="76" name="타원 75"/>
              <p:cNvSpPr/>
              <p:nvPr/>
            </p:nvSpPr>
            <p:spPr bwMode="gray">
              <a:xfrm>
                <a:off x="5246093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5286375" y="697737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54" name="그룹 53"/>
            <p:cNvGrpSpPr/>
            <p:nvPr userDrawn="1"/>
          </p:nvGrpSpPr>
          <p:grpSpPr>
            <a:xfrm>
              <a:off x="4188676" y="160337"/>
              <a:ext cx="1135332" cy="196926"/>
              <a:chOff x="3912592" y="1079157"/>
              <a:chExt cx="1135332" cy="196926"/>
            </a:xfrm>
          </p:grpSpPr>
          <p:grpSp>
            <p:nvGrpSpPr>
              <p:cNvPr id="68" name="그룹 67"/>
              <p:cNvGrpSpPr/>
              <p:nvPr/>
            </p:nvGrpSpPr>
            <p:grpSpPr>
              <a:xfrm>
                <a:off x="3912592" y="1079157"/>
                <a:ext cx="196926" cy="196926"/>
                <a:chOff x="4709517" y="668524"/>
                <a:chExt cx="196926" cy="196926"/>
              </a:xfrm>
            </p:grpSpPr>
            <p:sp>
              <p:nvSpPr>
                <p:cNvPr id="72" name="타원 71"/>
                <p:cNvSpPr/>
                <p:nvPr/>
              </p:nvSpPr>
              <p:spPr bwMode="gray">
                <a:xfrm>
                  <a:off x="4709517" y="668524"/>
                  <a:ext cx="196926" cy="196926"/>
                </a:xfrm>
                <a:prstGeom prst="ellipse">
                  <a:avLst/>
                </a:prstGeom>
                <a:solidFill>
                  <a:srgbClr val="004B98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/>
                <a:p>
                  <a:pPr lvl="0" algn="ctr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ko-KR" altLang="en-US" sz="1200" dirty="0">
                    <a:ln>
                      <a:noFill/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4735261" y="697737"/>
                  <a:ext cx="145438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05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>
                          <a:lumMod val="95000"/>
                        </a:schemeClr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" name="그룹 68"/>
              <p:cNvGrpSpPr/>
              <p:nvPr/>
            </p:nvGrpSpPr>
            <p:grpSpPr>
              <a:xfrm>
                <a:off x="4094077" y="1092982"/>
                <a:ext cx="953847" cy="169277"/>
                <a:chOff x="4094077" y="1092982"/>
                <a:chExt cx="953847" cy="169277"/>
              </a:xfrm>
            </p:grpSpPr>
            <p:sp>
              <p:nvSpPr>
                <p:cNvPr id="70" name="Rectangle 19"/>
                <p:cNvSpPr>
                  <a:spLocks noChangeArrowheads="1"/>
                </p:cNvSpPr>
                <p:nvPr/>
              </p:nvSpPr>
              <p:spPr bwMode="gray">
                <a:xfrm>
                  <a:off x="4216710" y="1092982"/>
                  <a:ext cx="831214" cy="1692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DCDCD">
                          <a:alpha val="50195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7200" bIns="0" anchor="ctr">
                  <a:spAutoFit/>
                </a:bodyPr>
                <a:lstStyle/>
                <a:p>
                  <a:pPr fontAlgn="ctr" latinLnBrk="0">
                    <a:spcBef>
                      <a:spcPct val="0"/>
                    </a:spcBef>
                    <a:spcAft>
                      <a:spcPct val="0"/>
                    </a:spcAft>
                    <a:buFont typeface="Symbol" pitchFamily="18" charset="2"/>
                    <a:buNone/>
                  </a:pPr>
                  <a:r>
                    <a:rPr kumimoji="1" lang="ko-KR" altLang="en-US" sz="1100" dirty="0" smtClean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전략 및 방법론</a:t>
                  </a:r>
                  <a:endParaRPr kumimoji="1" lang="ko-KR" altLang="en-US" sz="110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cxnSp>
              <p:nvCxnSpPr>
                <p:cNvPr id="71" name="직선 연결선 70"/>
                <p:cNvCxnSpPr/>
                <p:nvPr/>
              </p:nvCxnSpPr>
              <p:spPr>
                <a:xfrm>
                  <a:off x="4094077" y="1177620"/>
                  <a:ext cx="92729" cy="0"/>
                </a:xfrm>
                <a:prstGeom prst="line">
                  <a:avLst/>
                </a:prstGeom>
                <a:ln w="12700">
                  <a:solidFill>
                    <a:srgbClr val="004B98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5" name="그룹 54"/>
            <p:cNvGrpSpPr/>
            <p:nvPr userDrawn="1"/>
          </p:nvGrpSpPr>
          <p:grpSpPr>
            <a:xfrm>
              <a:off x="6398632" y="160337"/>
              <a:ext cx="309908" cy="196926"/>
              <a:chOff x="6003455" y="668524"/>
              <a:chExt cx="309908" cy="196926"/>
            </a:xfrm>
          </p:grpSpPr>
          <p:sp>
            <p:nvSpPr>
              <p:cNvPr id="56" name="타원 55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6003455" y="697737"/>
                <a:ext cx="3099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spc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84" name="그룹 83"/>
            <p:cNvGrpSpPr/>
            <p:nvPr userDrawn="1"/>
          </p:nvGrpSpPr>
          <p:grpSpPr>
            <a:xfrm>
              <a:off x="3933263" y="160337"/>
              <a:ext cx="196926" cy="196926"/>
              <a:chOff x="4977805" y="668524"/>
              <a:chExt cx="196926" cy="196926"/>
            </a:xfrm>
          </p:grpSpPr>
          <p:sp>
            <p:nvSpPr>
              <p:cNvPr id="85" name="타원 84"/>
              <p:cNvSpPr/>
              <p:nvPr/>
            </p:nvSpPr>
            <p:spPr bwMode="gray">
              <a:xfrm>
                <a:off x="4977805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007518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4" name="그룹 43"/>
          <p:cNvGrpSpPr/>
          <p:nvPr userDrawn="1"/>
        </p:nvGrpSpPr>
        <p:grpSpPr>
          <a:xfrm>
            <a:off x="482600" y="9740846"/>
            <a:ext cx="6206305" cy="207211"/>
            <a:chOff x="330200" y="9588446"/>
            <a:chExt cx="6206305" cy="207211"/>
          </a:xfrm>
        </p:grpSpPr>
        <p:pic>
          <p:nvPicPr>
            <p:cNvPr id="45" name="그림 4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7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51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7140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II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9" name="직사각형 58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62" name="직사각형 61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47" name="그룹 46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50" name="그룹 49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58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0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2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7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1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III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40" name="그룹 39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1" name="그림 4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2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3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2" name="그룹 1"/>
          <p:cNvGrpSpPr/>
          <p:nvPr userDrawn="1"/>
        </p:nvGrpSpPr>
        <p:grpSpPr>
          <a:xfrm>
            <a:off x="4066034" y="160337"/>
            <a:ext cx="2642506" cy="196926"/>
            <a:chOff x="4066034" y="160337"/>
            <a:chExt cx="2642506" cy="196926"/>
          </a:xfrm>
        </p:grpSpPr>
        <p:grpSp>
          <p:nvGrpSpPr>
            <p:cNvPr id="48" name="그룹 47"/>
            <p:cNvGrpSpPr/>
            <p:nvPr userDrawn="1"/>
          </p:nvGrpSpPr>
          <p:grpSpPr>
            <a:xfrm>
              <a:off x="6191598" y="160337"/>
              <a:ext cx="196926" cy="196926"/>
              <a:chOff x="6055184" y="668524"/>
              <a:chExt cx="196926" cy="196926"/>
            </a:xfrm>
          </p:grpSpPr>
          <p:sp>
            <p:nvSpPr>
              <p:cNvPr id="82" name="타원 81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6087468" y="697737"/>
                <a:ext cx="141882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>
              <a:off x="5655022" y="160337"/>
              <a:ext cx="196926" cy="196926"/>
              <a:chOff x="5518608" y="668524"/>
              <a:chExt cx="196926" cy="196926"/>
            </a:xfrm>
          </p:grpSpPr>
          <p:sp>
            <p:nvSpPr>
              <p:cNvPr id="80" name="타원 79"/>
              <p:cNvSpPr/>
              <p:nvPr/>
            </p:nvSpPr>
            <p:spPr bwMode="gray">
              <a:xfrm>
                <a:off x="5518608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5544352" y="697737"/>
                <a:ext cx="1454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5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53" name="그룹 52"/>
            <p:cNvGrpSpPr/>
            <p:nvPr userDrawn="1"/>
          </p:nvGrpSpPr>
          <p:grpSpPr>
            <a:xfrm>
              <a:off x="5923310" y="160337"/>
              <a:ext cx="196926" cy="196926"/>
              <a:chOff x="5786896" y="668524"/>
              <a:chExt cx="196926" cy="196926"/>
            </a:xfrm>
          </p:grpSpPr>
          <p:sp>
            <p:nvSpPr>
              <p:cNvPr id="78" name="타원 77"/>
              <p:cNvSpPr/>
              <p:nvPr/>
            </p:nvSpPr>
            <p:spPr bwMode="gray">
              <a:xfrm>
                <a:off x="5786896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5816609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 latinLnBrk="0"/>
                <a:r>
                  <a:rPr kumimoji="1" lang="en-US" altLang="ko-KR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Ⅴ</a:t>
                </a:r>
                <a:endParaRPr kumimoji="1"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54" name="그룹 53"/>
            <p:cNvGrpSpPr/>
            <p:nvPr userDrawn="1"/>
          </p:nvGrpSpPr>
          <p:grpSpPr>
            <a:xfrm>
              <a:off x="4066034" y="160337"/>
              <a:ext cx="196926" cy="196926"/>
              <a:chOff x="5246093" y="668524"/>
              <a:chExt cx="196926" cy="196926"/>
            </a:xfrm>
          </p:grpSpPr>
          <p:sp>
            <p:nvSpPr>
              <p:cNvPr id="76" name="타원 75"/>
              <p:cNvSpPr/>
              <p:nvPr/>
            </p:nvSpPr>
            <p:spPr bwMode="gray">
              <a:xfrm>
                <a:off x="5246093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5286375" y="697737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그룹 54"/>
            <p:cNvGrpSpPr/>
            <p:nvPr userDrawn="1"/>
          </p:nvGrpSpPr>
          <p:grpSpPr>
            <a:xfrm>
              <a:off x="4575517" y="160337"/>
              <a:ext cx="1011901" cy="196926"/>
              <a:chOff x="3912592" y="1079157"/>
              <a:chExt cx="1011901" cy="196926"/>
            </a:xfrm>
          </p:grpSpPr>
          <p:grpSp>
            <p:nvGrpSpPr>
              <p:cNvPr id="70" name="그룹 69"/>
              <p:cNvGrpSpPr/>
              <p:nvPr/>
            </p:nvGrpSpPr>
            <p:grpSpPr>
              <a:xfrm>
                <a:off x="3912592" y="1079157"/>
                <a:ext cx="196926" cy="196926"/>
                <a:chOff x="4709517" y="668524"/>
                <a:chExt cx="196926" cy="196926"/>
              </a:xfrm>
            </p:grpSpPr>
            <p:sp>
              <p:nvSpPr>
                <p:cNvPr id="74" name="타원 73"/>
                <p:cNvSpPr/>
                <p:nvPr/>
              </p:nvSpPr>
              <p:spPr bwMode="gray">
                <a:xfrm>
                  <a:off x="4709517" y="668524"/>
                  <a:ext cx="196926" cy="196926"/>
                </a:xfrm>
                <a:prstGeom prst="ellipse">
                  <a:avLst/>
                </a:prstGeom>
                <a:solidFill>
                  <a:srgbClr val="004B98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/>
                <a:p>
                  <a:pPr lvl="0" algn="ctr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ko-KR" altLang="en-US" sz="1200" dirty="0">
                    <a:ln>
                      <a:noFill/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4735261" y="697737"/>
                  <a:ext cx="145438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05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>
                          <a:lumMod val="95000"/>
                        </a:schemeClr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lvl="0">
                    <a:defRPr/>
                  </a:pPr>
                  <a:r>
                    <a:rPr lang="en-US" altLang="ko-KR" sz="900" spc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III</a:t>
                  </a:r>
                  <a:endParaRPr lang="ko-KR" altLang="en-US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71" name="그룹 70"/>
              <p:cNvGrpSpPr/>
              <p:nvPr/>
            </p:nvGrpSpPr>
            <p:grpSpPr>
              <a:xfrm>
                <a:off x="4094077" y="1092982"/>
                <a:ext cx="830416" cy="169277"/>
                <a:chOff x="4094077" y="1092982"/>
                <a:chExt cx="830416" cy="169277"/>
              </a:xfrm>
            </p:grpSpPr>
            <p:sp>
              <p:nvSpPr>
                <p:cNvPr id="72" name="Rectangle 19"/>
                <p:cNvSpPr>
                  <a:spLocks noChangeArrowheads="1"/>
                </p:cNvSpPr>
                <p:nvPr/>
              </p:nvSpPr>
              <p:spPr bwMode="gray">
                <a:xfrm>
                  <a:off x="4216710" y="1092982"/>
                  <a:ext cx="707783" cy="1692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DCDCD">
                          <a:alpha val="50195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7200" bIns="0" anchor="ctr">
                  <a:spAutoFit/>
                </a:bodyPr>
                <a:lstStyle/>
                <a:p>
                  <a:pPr fontAlgn="ctr" latinLnBrk="0">
                    <a:spcBef>
                      <a:spcPct val="0"/>
                    </a:spcBef>
                    <a:spcAft>
                      <a:spcPct val="0"/>
                    </a:spcAft>
                    <a:buFont typeface="Symbol" pitchFamily="18" charset="2"/>
                    <a:buNone/>
                  </a:pPr>
                  <a:r>
                    <a:rPr kumimoji="1" lang="ko-KR" altLang="en-US" sz="1100" dirty="0" smtClean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기술 및 기능</a:t>
                  </a:r>
                  <a:endParaRPr kumimoji="1" lang="ko-KR" altLang="en-US" sz="110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cxnSp>
              <p:nvCxnSpPr>
                <p:cNvPr id="73" name="직선 연결선 72"/>
                <p:cNvCxnSpPr/>
                <p:nvPr/>
              </p:nvCxnSpPr>
              <p:spPr>
                <a:xfrm>
                  <a:off x="4094077" y="1177620"/>
                  <a:ext cx="92729" cy="0"/>
                </a:xfrm>
                <a:prstGeom prst="line">
                  <a:avLst/>
                </a:prstGeom>
                <a:ln w="12700">
                  <a:solidFill>
                    <a:srgbClr val="004B98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4" name="그룹 63"/>
            <p:cNvGrpSpPr/>
            <p:nvPr userDrawn="1"/>
          </p:nvGrpSpPr>
          <p:grpSpPr>
            <a:xfrm>
              <a:off x="6398632" y="160337"/>
              <a:ext cx="309908" cy="196926"/>
              <a:chOff x="6003455" y="668524"/>
              <a:chExt cx="309908" cy="196926"/>
            </a:xfrm>
          </p:grpSpPr>
          <p:sp>
            <p:nvSpPr>
              <p:cNvPr id="68" name="타원 67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6003455" y="697737"/>
                <a:ext cx="3099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spc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65" name="그룹 64"/>
            <p:cNvGrpSpPr/>
            <p:nvPr userDrawn="1"/>
          </p:nvGrpSpPr>
          <p:grpSpPr>
            <a:xfrm>
              <a:off x="4320104" y="160337"/>
              <a:ext cx="196926" cy="196926"/>
              <a:chOff x="4977805" y="668524"/>
              <a:chExt cx="196926" cy="196926"/>
            </a:xfrm>
          </p:grpSpPr>
          <p:sp>
            <p:nvSpPr>
              <p:cNvPr id="66" name="타원 65"/>
              <p:cNvSpPr/>
              <p:nvPr/>
            </p:nvSpPr>
            <p:spPr bwMode="gray">
              <a:xfrm>
                <a:off x="4977805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5007518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2981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IV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2" name="직사각형 51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3" name="직사각형 52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55" name="그룹 54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56" name="그룹 55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6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7" name="그룹 56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8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9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2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IV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0200" y="9588446"/>
            <a:ext cx="558801" cy="189133"/>
          </a:xfrm>
          <a:prstGeom prst="rect">
            <a:avLst/>
          </a:prstGeom>
        </p:spPr>
      </p:pic>
      <p:sp>
        <p:nvSpPr>
          <p:cNvPr id="42" name="Text Box 9"/>
          <p:cNvSpPr txBox="1">
            <a:spLocks noChangeArrowheads="1"/>
          </p:cNvSpPr>
          <p:nvPr userDrawn="1"/>
        </p:nvSpPr>
        <p:spPr bwMode="auto">
          <a:xfrm>
            <a:off x="3520061" y="9655363"/>
            <a:ext cx="3016444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ko-KR"/>
            </a:defPPr>
            <a:lvl1pPr marL="0" algn="r" defTabSz="957474" eaLnBrk="0" hangingPunct="0">
              <a:defRPr sz="7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028" defTabSz="914057" eaLnBrk="1" hangingPunct="1">
              <a:defRPr sz="1800">
                <a:latin typeface="+mn-lt"/>
                <a:ea typeface="+mn-ea"/>
              </a:defRPr>
            </a:lvl2pPr>
            <a:lvl3pPr marL="914057" defTabSz="914057" eaLnBrk="1" hangingPunct="1">
              <a:defRPr sz="1800">
                <a:latin typeface="+mn-lt"/>
                <a:ea typeface="+mn-ea"/>
              </a:defRPr>
            </a:lvl3pPr>
            <a:lvl4pPr marL="1371084" defTabSz="914057" eaLnBrk="1" hangingPunct="1">
              <a:defRPr sz="1800">
                <a:latin typeface="+mn-lt"/>
                <a:ea typeface="+mn-ea"/>
              </a:defRPr>
            </a:lvl4pPr>
            <a:lvl5pPr marL="1828109" defTabSz="914057" eaLnBrk="1" hangingPunct="1">
              <a:defRPr sz="1800">
                <a:latin typeface="+mn-lt"/>
                <a:ea typeface="+mn-ea"/>
              </a:defRPr>
            </a:lvl5pPr>
            <a:lvl6pPr marL="2285133" defTabSz="914057">
              <a:defRPr sz="1800">
                <a:latin typeface="+mn-lt"/>
                <a:ea typeface="+mn-ea"/>
              </a:defRPr>
            </a:lvl6pPr>
            <a:lvl7pPr marL="2742172" defTabSz="914057">
              <a:defRPr sz="1800">
                <a:latin typeface="+mn-lt"/>
                <a:ea typeface="+mn-ea"/>
              </a:defRPr>
            </a:lvl7pPr>
            <a:lvl8pPr marL="3199191" defTabSz="914057">
              <a:defRPr sz="1800">
                <a:latin typeface="+mn-lt"/>
                <a:ea typeface="+mn-ea"/>
              </a:defRPr>
            </a:lvl8pPr>
            <a:lvl9pPr marL="3656218" defTabSz="914057">
              <a:defRPr sz="1800">
                <a:latin typeface="+mn-lt"/>
                <a:ea typeface="+mn-ea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smtClean="0">
                <a:ln>
                  <a:noFill/>
                </a:ln>
              </a:rPr>
              <a:t>Copyright 2025. Samsung SDS Co., Ltd. All rights reserved.  |  Confidential</a:t>
            </a:r>
          </a:p>
        </p:txBody>
      </p:sp>
      <p:sp>
        <p:nvSpPr>
          <p:cNvPr id="43" name="Rectangle 4"/>
          <p:cNvSpPr>
            <a:spLocks noChangeArrowheads="1"/>
          </p:cNvSpPr>
          <p:nvPr userDrawn="1"/>
        </p:nvSpPr>
        <p:spPr bwMode="auto">
          <a:xfrm>
            <a:off x="947888" y="9595602"/>
            <a:ext cx="2481111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4E5F8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BBD6F3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/>
          <a:p>
            <a:pPr marL="217488" indent="-217488" algn="l" defTabSz="914400" rtl="0" eaLnBrk="1" latinLnBrk="0" hangingPunct="1"/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공공안녕 위험 예방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·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대응 강화를 위한 </a:t>
            </a:r>
            <a:endParaRPr lang="en-US" altLang="ko-KR" sz="650" kern="1200" spc="-30" baseline="0" dirty="0" smtClean="0">
              <a:ln>
                <a:noFill/>
              </a:ln>
              <a:solidFill>
                <a:srgbClr val="78787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  <a:p>
            <a:pPr marL="217488" indent="-217488" algn="l" defTabSz="914400" rtl="0" eaLnBrk="1" latinLnBrk="0" hangingPunct="1"/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인공지능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·</a:t>
            </a:r>
            <a:r>
              <a:rPr lang="ko-KR" altLang="en-US" sz="650" kern="1200" spc="-30" baseline="0" dirty="0" err="1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빅데이터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 기반 치안정보 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『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과학적 분석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·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예측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·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관리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』 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디지털 플랫폼 구축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114817" y="160337"/>
            <a:ext cx="2593723" cy="196926"/>
            <a:chOff x="4114817" y="160337"/>
            <a:chExt cx="2593723" cy="196926"/>
          </a:xfrm>
        </p:grpSpPr>
        <p:sp>
          <p:nvSpPr>
            <p:cNvPr id="45" name="타원 44"/>
            <p:cNvSpPr/>
            <p:nvPr/>
          </p:nvSpPr>
          <p:spPr bwMode="gray">
            <a:xfrm>
              <a:off x="6191598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23882" y="189550"/>
              <a:ext cx="141882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ko-KR" sz="900" spc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5" name="타원 64"/>
            <p:cNvSpPr/>
            <p:nvPr/>
          </p:nvSpPr>
          <p:spPr bwMode="gray">
            <a:xfrm>
              <a:off x="5923310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953023" y="189550"/>
              <a:ext cx="137500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lvl="0" algn="ctr">
                <a:defRPr sz="1200" b="0" spc="-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lvl="0" latinLnBrk="0"/>
              <a:r>
                <a:rPr kumimoji="1" lang="en-US" altLang="ko-KR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Ⅴ</a:t>
              </a:r>
              <a:endParaRPr kumimoji="1"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8" name="타원 67"/>
            <p:cNvSpPr/>
            <p:nvPr/>
          </p:nvSpPr>
          <p:spPr bwMode="gray">
            <a:xfrm>
              <a:off x="4362470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402752" y="189550"/>
              <a:ext cx="126930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rPr>
                <a:t>II</a:t>
              </a:r>
              <a:endParaRPr kumimoji="1" lang="ko-KR" altLang="en-US" sz="900" b="0" kern="1200" spc="0" baseline="0" dirty="0" smtClean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71" name="그룹 70"/>
            <p:cNvGrpSpPr/>
            <p:nvPr/>
          </p:nvGrpSpPr>
          <p:grpSpPr>
            <a:xfrm>
              <a:off x="4871953" y="160337"/>
              <a:ext cx="196926" cy="196926"/>
              <a:chOff x="4709517" y="668524"/>
              <a:chExt cx="196926" cy="196926"/>
            </a:xfrm>
          </p:grpSpPr>
          <p:sp>
            <p:nvSpPr>
              <p:cNvPr id="75" name="타원 74"/>
              <p:cNvSpPr/>
              <p:nvPr/>
            </p:nvSpPr>
            <p:spPr bwMode="gray">
              <a:xfrm>
                <a:off x="4709517" y="668524"/>
                <a:ext cx="196926" cy="196926"/>
              </a:xfrm>
              <a:prstGeom prst="ellipse">
                <a:avLst/>
              </a:prstGeom>
              <a:solidFill>
                <a:srgbClr val="004B98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lvl="0"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ko-KR" altLang="en-US" sz="1200" dirty="0">
                  <a:ln>
                    <a:noFill/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735261" y="697737"/>
                <a:ext cx="1454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5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72" name="그룹 71"/>
            <p:cNvGrpSpPr/>
            <p:nvPr/>
          </p:nvGrpSpPr>
          <p:grpSpPr>
            <a:xfrm>
              <a:off x="5053438" y="174162"/>
              <a:ext cx="830416" cy="169277"/>
              <a:chOff x="4094077" y="1092982"/>
              <a:chExt cx="830416" cy="169277"/>
            </a:xfrm>
          </p:grpSpPr>
          <p:sp>
            <p:nvSpPr>
              <p:cNvPr id="73" name="Rectangle 19"/>
              <p:cNvSpPr>
                <a:spLocks noChangeArrowheads="1"/>
              </p:cNvSpPr>
              <p:nvPr/>
            </p:nvSpPr>
            <p:spPr bwMode="gray">
              <a:xfrm>
                <a:off x="4216710" y="1092982"/>
                <a:ext cx="707783" cy="1692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DCDCD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7200" bIns="0" anchor="ctr">
                <a:spAutoFit/>
              </a:bodyPr>
              <a:lstStyle/>
              <a:p>
                <a:pPr fontAlgn="ctr" latinLnBrk="0"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None/>
                </a:pPr>
                <a:r>
                  <a:rPr kumimoji="1" lang="ko-KR" altLang="en-US" sz="110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성능 및 품질</a:t>
                </a:r>
                <a:endParaRPr kumimoji="1" lang="ko-KR" altLang="en-US" sz="110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cxnSp>
            <p:nvCxnSpPr>
              <p:cNvPr id="74" name="직선 연결선 73"/>
              <p:cNvCxnSpPr/>
              <p:nvPr/>
            </p:nvCxnSpPr>
            <p:spPr>
              <a:xfrm>
                <a:off x="4094077" y="1177620"/>
                <a:ext cx="92729" cy="0"/>
              </a:xfrm>
              <a:prstGeom prst="line">
                <a:avLst/>
              </a:prstGeom>
              <a:ln w="12700">
                <a:solidFill>
                  <a:srgbClr val="004B98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타원 83"/>
            <p:cNvSpPr/>
            <p:nvPr/>
          </p:nvSpPr>
          <p:spPr bwMode="gray">
            <a:xfrm>
              <a:off x="6450361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398632" y="189550"/>
              <a:ext cx="30990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92" name="타원 91"/>
            <p:cNvSpPr/>
            <p:nvPr/>
          </p:nvSpPr>
          <p:spPr bwMode="gray">
            <a:xfrm>
              <a:off x="4616540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646253" y="189550"/>
              <a:ext cx="137500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lvl="0" algn="ctr">
                <a:defRPr sz="1200" b="0" spc="-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lvl="0">
                <a:defRPr/>
              </a:pPr>
              <a:r>
                <a:rPr lang="en-US" altLang="ko-KR" sz="900" spc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III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3" name="그룹 2"/>
            <p:cNvGrpSpPr/>
            <p:nvPr userDrawn="1"/>
          </p:nvGrpSpPr>
          <p:grpSpPr>
            <a:xfrm>
              <a:off x="4114817" y="160337"/>
              <a:ext cx="196926" cy="196926"/>
              <a:chOff x="3827909" y="160337"/>
              <a:chExt cx="196926" cy="196926"/>
            </a:xfrm>
          </p:grpSpPr>
          <p:sp>
            <p:nvSpPr>
              <p:cNvPr id="111" name="타원 110"/>
              <p:cNvSpPr/>
              <p:nvPr userDrawn="1"/>
            </p:nvSpPr>
            <p:spPr bwMode="gray">
              <a:xfrm>
                <a:off x="3827909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TextBox 111"/>
              <p:cNvSpPr txBox="1"/>
              <p:nvPr userDrawn="1"/>
            </p:nvSpPr>
            <p:spPr>
              <a:xfrm>
                <a:off x="3868191" y="189550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08963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V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5" name="직사각형 54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6" name="직사각형 55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46" name="그룹 45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47" name="그룹 46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52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3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3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V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40" name="그룹 39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1" name="그림 4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2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3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3" name="그룹 2"/>
          <p:cNvGrpSpPr/>
          <p:nvPr userDrawn="1"/>
        </p:nvGrpSpPr>
        <p:grpSpPr>
          <a:xfrm>
            <a:off x="4033240" y="160337"/>
            <a:ext cx="2675300" cy="196926"/>
            <a:chOff x="4033240" y="160337"/>
            <a:chExt cx="2675300" cy="196926"/>
          </a:xfrm>
        </p:grpSpPr>
        <p:sp>
          <p:nvSpPr>
            <p:cNvPr id="57" name="타원 56"/>
            <p:cNvSpPr/>
            <p:nvPr/>
          </p:nvSpPr>
          <p:spPr bwMode="gray">
            <a:xfrm>
              <a:off x="6191598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223882" y="189550"/>
              <a:ext cx="141882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ko-KR" sz="900" spc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7" name="타원 66"/>
            <p:cNvSpPr/>
            <p:nvPr/>
          </p:nvSpPr>
          <p:spPr bwMode="gray">
            <a:xfrm>
              <a:off x="6450361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398632" y="189550"/>
              <a:ext cx="30990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5" name="그룹 4"/>
            <p:cNvGrpSpPr/>
            <p:nvPr userDrawn="1"/>
          </p:nvGrpSpPr>
          <p:grpSpPr>
            <a:xfrm>
              <a:off x="4033240" y="160337"/>
              <a:ext cx="2101285" cy="196926"/>
              <a:chOff x="3864322" y="160337"/>
              <a:chExt cx="2101285" cy="196926"/>
            </a:xfrm>
          </p:grpSpPr>
          <p:sp>
            <p:nvSpPr>
              <p:cNvPr id="61" name="타원 60"/>
              <p:cNvSpPr/>
              <p:nvPr/>
            </p:nvSpPr>
            <p:spPr bwMode="gray">
              <a:xfrm>
                <a:off x="4362470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4402752" y="189550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4" name="그룹 3"/>
              <p:cNvGrpSpPr/>
              <p:nvPr userDrawn="1"/>
            </p:nvGrpSpPr>
            <p:grpSpPr>
              <a:xfrm>
                <a:off x="4871953" y="160337"/>
                <a:ext cx="1093654" cy="196926"/>
                <a:chOff x="4871953" y="160337"/>
                <a:chExt cx="1093654" cy="196926"/>
              </a:xfrm>
            </p:grpSpPr>
            <p:grpSp>
              <p:nvGrpSpPr>
                <p:cNvPr id="65" name="그룹 64"/>
                <p:cNvGrpSpPr/>
                <p:nvPr/>
              </p:nvGrpSpPr>
              <p:grpSpPr>
                <a:xfrm>
                  <a:off x="4871953" y="160337"/>
                  <a:ext cx="196926" cy="196926"/>
                  <a:chOff x="4709517" y="668524"/>
                  <a:chExt cx="196926" cy="196926"/>
                </a:xfrm>
              </p:grpSpPr>
              <p:sp>
                <p:nvSpPr>
                  <p:cNvPr id="76" name="타원 75"/>
                  <p:cNvSpPr/>
                  <p:nvPr/>
                </p:nvSpPr>
                <p:spPr bwMode="gray">
                  <a:xfrm>
                    <a:off x="4709517" y="668524"/>
                    <a:ext cx="196926" cy="196926"/>
                  </a:xfrm>
                  <a:prstGeom prst="ellipse">
                    <a:avLst/>
                  </a:prstGeom>
                  <a:solidFill>
                    <a:srgbClr val="004B98"/>
                  </a:solidFill>
                  <a:ln>
                    <a:noFill/>
                  </a:ln>
                  <a:effectLst/>
                  <a:extLst/>
                </p:spPr>
                <p:txBody>
                  <a:bodyPr wrap="none" anchor="ctr"/>
                  <a:lstStyle/>
                  <a:p>
                    <a:pPr lvl="0" algn="ctr" fontAlgn="base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ko-KR" altLang="en-US" sz="1200" dirty="0">
                      <a:ln>
                        <a:noFill/>
                      </a:ln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4735261" y="697737"/>
                    <a:ext cx="145438" cy="138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>
                    <a:defPPr>
                      <a:defRPr lang="ko-KR"/>
                    </a:defPPr>
                    <a:lvl1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1" sz="1050" b="0" spc="-150" baseline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ea typeface="KoPub돋움체 Bold" panose="02020603020101020101" pitchFamily="18" charset="-127"/>
                        <a:cs typeface="Times New Roman" panose="02020603050405020304" pitchFamily="18" charset="0"/>
                      </a:defRPr>
                    </a:lvl1pPr>
                  </a:lstStyle>
                  <a:p>
                    <a:pPr>
                      <a:defRPr/>
                    </a:pPr>
                    <a:r>
                      <a:rPr lang="en-US" altLang="ko-KR" sz="900" spc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V</a:t>
                    </a:r>
                    <a:endParaRPr lang="ko-KR" altLang="en-US" sz="900" spc="0" dirty="0">
                      <a:ln>
                        <a:noFill/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</p:grpSp>
            <p:grpSp>
              <p:nvGrpSpPr>
                <p:cNvPr id="66" name="그룹 65"/>
                <p:cNvGrpSpPr/>
                <p:nvPr/>
              </p:nvGrpSpPr>
              <p:grpSpPr>
                <a:xfrm>
                  <a:off x="5053438" y="174162"/>
                  <a:ext cx="912169" cy="169277"/>
                  <a:chOff x="4094077" y="1092982"/>
                  <a:chExt cx="912169" cy="169277"/>
                </a:xfrm>
              </p:grpSpPr>
              <p:sp>
                <p:nvSpPr>
                  <p:cNvPr id="74" name="Rectangle 19"/>
                  <p:cNvSpPr>
                    <a:spLocks noChangeArrowheads="1"/>
                  </p:cNvSpPr>
                  <p:nvPr/>
                </p:nvSpPr>
                <p:spPr bwMode="gray">
                  <a:xfrm>
                    <a:off x="4216710" y="1092982"/>
                    <a:ext cx="789536" cy="1692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DCDCD">
                            <a:alpha val="50195"/>
                          </a:srgbClr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96969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7200" bIns="0" anchor="ctr">
                    <a:spAutoFit/>
                  </a:bodyPr>
                  <a:lstStyle/>
                  <a:p>
                    <a:pPr fontAlgn="ctr" latinLnBrk="0">
                      <a:spcBef>
                        <a:spcPct val="0"/>
                      </a:spcBef>
                      <a:spcAft>
                        <a:spcPct val="0"/>
                      </a:spcAft>
                      <a:buFont typeface="Symbol" pitchFamily="18" charset="2"/>
                      <a:buNone/>
                    </a:pPr>
                    <a:r>
                      <a:rPr kumimoji="1" lang="ko-KR" altLang="en-US" sz="110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프로젝트 관리</a:t>
                    </a:r>
                    <a:endParaRPr kumimoji="1" lang="ko-KR" altLang="en-US" sz="110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cxnSp>
                <p:nvCxnSpPr>
                  <p:cNvPr id="75" name="직선 연결선 74"/>
                  <p:cNvCxnSpPr/>
                  <p:nvPr/>
                </p:nvCxnSpPr>
                <p:spPr>
                  <a:xfrm>
                    <a:off x="4094077" y="1177620"/>
                    <a:ext cx="92729" cy="0"/>
                  </a:xfrm>
                  <a:prstGeom prst="line">
                    <a:avLst/>
                  </a:prstGeom>
                  <a:ln w="12700">
                    <a:solidFill>
                      <a:srgbClr val="004B98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9" name="타원 68"/>
              <p:cNvSpPr/>
              <p:nvPr/>
            </p:nvSpPr>
            <p:spPr bwMode="gray">
              <a:xfrm>
                <a:off x="4616540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4646253" y="189550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71" name="그룹 70"/>
              <p:cNvGrpSpPr/>
              <p:nvPr userDrawn="1"/>
            </p:nvGrpSpPr>
            <p:grpSpPr>
              <a:xfrm>
                <a:off x="4114817" y="160337"/>
                <a:ext cx="196926" cy="196926"/>
                <a:chOff x="3827909" y="160337"/>
                <a:chExt cx="196926" cy="196926"/>
              </a:xfrm>
            </p:grpSpPr>
            <p:sp>
              <p:nvSpPr>
                <p:cNvPr id="72" name="타원 71"/>
                <p:cNvSpPr/>
                <p:nvPr userDrawn="1"/>
              </p:nvSpPr>
              <p:spPr bwMode="gray">
                <a:xfrm>
                  <a:off x="3827909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3" name="TextBox 72"/>
                <p:cNvSpPr txBox="1"/>
                <p:nvPr userDrawn="1"/>
              </p:nvSpPr>
              <p:spPr>
                <a:xfrm>
                  <a:off x="3868191" y="189550"/>
                  <a:ext cx="12693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그룹 1"/>
              <p:cNvGrpSpPr/>
              <p:nvPr userDrawn="1"/>
            </p:nvGrpSpPr>
            <p:grpSpPr>
              <a:xfrm>
                <a:off x="3864322" y="160337"/>
                <a:ext cx="196926" cy="196926"/>
                <a:chOff x="3864322" y="160337"/>
                <a:chExt cx="196926" cy="196926"/>
              </a:xfrm>
            </p:grpSpPr>
            <p:sp>
              <p:nvSpPr>
                <p:cNvPr id="82" name="타원 81"/>
                <p:cNvSpPr/>
                <p:nvPr userDrawn="1"/>
              </p:nvSpPr>
              <p:spPr bwMode="gray">
                <a:xfrm>
                  <a:off x="3864322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" name="TextBox 102"/>
                <p:cNvSpPr txBox="1"/>
                <p:nvPr userDrawn="1"/>
              </p:nvSpPr>
              <p:spPr>
                <a:xfrm>
                  <a:off x="3894035" y="189550"/>
                  <a:ext cx="13750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lvl="0" algn="ctr">
                    <a:defRPr sz="1200" b="0" spc="-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79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V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5" name="직사각형 54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6" name="직사각형 55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46" name="그룹 45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47" name="그룹 46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52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3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3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VI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0" name="그림 3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1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2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4" name="그룹 3"/>
          <p:cNvGrpSpPr/>
          <p:nvPr userDrawn="1"/>
        </p:nvGrpSpPr>
        <p:grpSpPr>
          <a:xfrm>
            <a:off x="4048896" y="160337"/>
            <a:ext cx="2659644" cy="196926"/>
            <a:chOff x="4048896" y="160337"/>
            <a:chExt cx="2659644" cy="196926"/>
          </a:xfrm>
        </p:grpSpPr>
        <p:sp>
          <p:nvSpPr>
            <p:cNvPr id="57" name="타원 56"/>
            <p:cNvSpPr/>
            <p:nvPr userDrawn="1"/>
          </p:nvSpPr>
          <p:spPr bwMode="gray">
            <a:xfrm>
              <a:off x="6450361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6398632" y="189550"/>
              <a:ext cx="30990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3" name="그룹 2"/>
            <p:cNvGrpSpPr/>
            <p:nvPr userDrawn="1"/>
          </p:nvGrpSpPr>
          <p:grpSpPr>
            <a:xfrm>
              <a:off x="4048896" y="160337"/>
              <a:ext cx="2343229" cy="196926"/>
              <a:chOff x="3791296" y="160337"/>
              <a:chExt cx="2343229" cy="196926"/>
            </a:xfrm>
          </p:grpSpPr>
          <p:sp>
            <p:nvSpPr>
              <p:cNvPr id="60" name="타원 59"/>
              <p:cNvSpPr/>
              <p:nvPr/>
            </p:nvSpPr>
            <p:spPr bwMode="gray">
              <a:xfrm>
                <a:off x="4531388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571670" y="189550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62" name="그룹 61"/>
              <p:cNvGrpSpPr/>
              <p:nvPr userDrawn="1"/>
            </p:nvGrpSpPr>
            <p:grpSpPr>
              <a:xfrm>
                <a:off x="5040871" y="160337"/>
                <a:ext cx="1093654" cy="196926"/>
                <a:chOff x="4871953" y="160337"/>
                <a:chExt cx="1093654" cy="196926"/>
              </a:xfrm>
            </p:grpSpPr>
            <p:grpSp>
              <p:nvGrpSpPr>
                <p:cNvPr id="73" name="그룹 72"/>
                <p:cNvGrpSpPr/>
                <p:nvPr/>
              </p:nvGrpSpPr>
              <p:grpSpPr>
                <a:xfrm>
                  <a:off x="4871953" y="160337"/>
                  <a:ext cx="196926" cy="196926"/>
                  <a:chOff x="4709517" y="668524"/>
                  <a:chExt cx="196926" cy="196926"/>
                </a:xfrm>
              </p:grpSpPr>
              <p:sp>
                <p:nvSpPr>
                  <p:cNvPr id="77" name="타원 76"/>
                  <p:cNvSpPr/>
                  <p:nvPr/>
                </p:nvSpPr>
                <p:spPr bwMode="gray">
                  <a:xfrm>
                    <a:off x="4709517" y="668524"/>
                    <a:ext cx="196926" cy="196926"/>
                  </a:xfrm>
                  <a:prstGeom prst="ellipse">
                    <a:avLst/>
                  </a:prstGeom>
                  <a:solidFill>
                    <a:srgbClr val="004B98"/>
                  </a:solidFill>
                  <a:ln>
                    <a:noFill/>
                  </a:ln>
                  <a:effectLst/>
                  <a:extLst/>
                </p:spPr>
                <p:txBody>
                  <a:bodyPr wrap="none" anchor="ctr"/>
                  <a:lstStyle/>
                  <a:p>
                    <a:pPr lvl="0" algn="ctr" fontAlgn="base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ko-KR" altLang="en-US" sz="1200" dirty="0">
                      <a:ln>
                        <a:noFill/>
                      </a:ln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4735261" y="697737"/>
                    <a:ext cx="145438" cy="138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>
                    <a:defPPr>
                      <a:defRPr lang="ko-KR"/>
                    </a:defPPr>
                    <a:lvl1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1" sz="1050" b="0" spc="-150" baseline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ea typeface="KoPub돋움체 Bold" panose="02020603020101020101" pitchFamily="18" charset="-127"/>
                        <a:cs typeface="Times New Roman" panose="02020603050405020304" pitchFamily="18" charset="0"/>
                      </a:defRPr>
                    </a:lvl1pPr>
                  </a:lstStyle>
                  <a:p>
                    <a:r>
                      <a:rPr lang="en-US" altLang="ko-KR" sz="900" spc="0" dirty="0" smtClean="0">
                        <a:ln>
                          <a:noFill/>
                        </a:ln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VI</a:t>
                    </a:r>
                    <a:endParaRPr lang="ko-KR" altLang="en-US" sz="900" spc="0" dirty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</p:grpSp>
            <p:grpSp>
              <p:nvGrpSpPr>
                <p:cNvPr id="74" name="그룹 73"/>
                <p:cNvGrpSpPr/>
                <p:nvPr/>
              </p:nvGrpSpPr>
              <p:grpSpPr>
                <a:xfrm>
                  <a:off x="5053438" y="174162"/>
                  <a:ext cx="912169" cy="169277"/>
                  <a:chOff x="4094077" y="1092982"/>
                  <a:chExt cx="912169" cy="169277"/>
                </a:xfrm>
              </p:grpSpPr>
              <p:sp>
                <p:nvSpPr>
                  <p:cNvPr id="75" name="Rectangle 19"/>
                  <p:cNvSpPr>
                    <a:spLocks noChangeArrowheads="1"/>
                  </p:cNvSpPr>
                  <p:nvPr/>
                </p:nvSpPr>
                <p:spPr bwMode="gray">
                  <a:xfrm>
                    <a:off x="4216710" y="1092982"/>
                    <a:ext cx="789536" cy="1692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DCDCD">
                            <a:alpha val="50195"/>
                          </a:srgbClr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96969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7200" bIns="0" anchor="ctr">
                    <a:spAutoFit/>
                  </a:bodyPr>
                  <a:lstStyle/>
                  <a:p>
                    <a:pPr fontAlgn="ctr" latinLnBrk="0">
                      <a:spcBef>
                        <a:spcPct val="0"/>
                      </a:spcBef>
                      <a:spcAft>
                        <a:spcPct val="0"/>
                      </a:spcAft>
                      <a:buFont typeface="Symbol" pitchFamily="18" charset="2"/>
                      <a:buNone/>
                    </a:pPr>
                    <a:r>
                      <a:rPr kumimoji="1" lang="ko-KR" altLang="en-US" sz="110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프로젝트 지원</a:t>
                    </a:r>
                    <a:endParaRPr kumimoji="1" lang="ko-KR" altLang="en-US" sz="110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cxnSp>
                <p:nvCxnSpPr>
                  <p:cNvPr id="76" name="직선 연결선 75"/>
                  <p:cNvCxnSpPr/>
                  <p:nvPr/>
                </p:nvCxnSpPr>
                <p:spPr>
                  <a:xfrm>
                    <a:off x="4094077" y="1177620"/>
                    <a:ext cx="92729" cy="0"/>
                  </a:xfrm>
                  <a:prstGeom prst="line">
                    <a:avLst/>
                  </a:prstGeom>
                  <a:ln w="12700">
                    <a:solidFill>
                      <a:srgbClr val="004B98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5" name="타원 64"/>
              <p:cNvSpPr/>
              <p:nvPr/>
            </p:nvSpPr>
            <p:spPr bwMode="gray">
              <a:xfrm>
                <a:off x="4785458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815171" y="189550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67" name="그룹 66"/>
              <p:cNvGrpSpPr/>
              <p:nvPr userDrawn="1"/>
            </p:nvGrpSpPr>
            <p:grpSpPr>
              <a:xfrm>
                <a:off x="4283735" y="160337"/>
                <a:ext cx="196926" cy="196926"/>
                <a:chOff x="3827909" y="160337"/>
                <a:chExt cx="196926" cy="196926"/>
              </a:xfrm>
            </p:grpSpPr>
            <p:sp>
              <p:nvSpPr>
                <p:cNvPr id="71" name="타원 70"/>
                <p:cNvSpPr/>
                <p:nvPr userDrawn="1"/>
              </p:nvSpPr>
              <p:spPr bwMode="gray">
                <a:xfrm>
                  <a:off x="3827909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" name="TextBox 71"/>
                <p:cNvSpPr txBox="1"/>
                <p:nvPr userDrawn="1"/>
              </p:nvSpPr>
              <p:spPr>
                <a:xfrm>
                  <a:off x="3868191" y="189550"/>
                  <a:ext cx="12693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lvl="0">
                    <a:defRPr/>
                  </a:pPr>
                  <a:r>
                    <a:rPr lang="en-US" altLang="ko-KR" sz="900" spc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III</a:t>
                  </a:r>
                  <a:endParaRPr lang="ko-KR" altLang="en-US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68" name="그룹 67"/>
              <p:cNvGrpSpPr/>
              <p:nvPr userDrawn="1"/>
            </p:nvGrpSpPr>
            <p:grpSpPr>
              <a:xfrm>
                <a:off x="4033240" y="160337"/>
                <a:ext cx="196926" cy="196926"/>
                <a:chOff x="3864322" y="160337"/>
                <a:chExt cx="196926" cy="196926"/>
              </a:xfrm>
            </p:grpSpPr>
            <p:sp>
              <p:nvSpPr>
                <p:cNvPr id="69" name="타원 68"/>
                <p:cNvSpPr/>
                <p:nvPr userDrawn="1"/>
              </p:nvSpPr>
              <p:spPr bwMode="gray">
                <a:xfrm>
                  <a:off x="3864322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TextBox 69"/>
                <p:cNvSpPr txBox="1"/>
                <p:nvPr userDrawn="1"/>
              </p:nvSpPr>
              <p:spPr>
                <a:xfrm>
                  <a:off x="3894035" y="189550"/>
                  <a:ext cx="13750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lvl="0" algn="ctr">
                    <a:defRPr sz="1200" b="0" spc="-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그룹 1"/>
              <p:cNvGrpSpPr/>
              <p:nvPr userDrawn="1"/>
            </p:nvGrpSpPr>
            <p:grpSpPr>
              <a:xfrm>
                <a:off x="3791296" y="160337"/>
                <a:ext cx="196926" cy="196926"/>
                <a:chOff x="3797648" y="160337"/>
                <a:chExt cx="196926" cy="196926"/>
              </a:xfrm>
            </p:grpSpPr>
            <p:sp>
              <p:nvSpPr>
                <p:cNvPr id="80" name="타원 79"/>
                <p:cNvSpPr/>
                <p:nvPr userDrawn="1"/>
              </p:nvSpPr>
              <p:spPr bwMode="gray">
                <a:xfrm>
                  <a:off x="3797648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TextBox 80"/>
                <p:cNvSpPr txBox="1"/>
                <p:nvPr userDrawn="1"/>
              </p:nvSpPr>
              <p:spPr>
                <a:xfrm>
                  <a:off x="3829932" y="189550"/>
                  <a:ext cx="14188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714852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VI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5" name="직사각형 54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6" name="직사각형 55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46" name="그룹 45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47" name="그룹 46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52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3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3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VII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0" name="그림 3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1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2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2" name="그룹 1"/>
          <p:cNvGrpSpPr/>
          <p:nvPr userDrawn="1"/>
        </p:nvGrpSpPr>
        <p:grpSpPr>
          <a:xfrm>
            <a:off x="3121259" y="160337"/>
            <a:ext cx="3585644" cy="196926"/>
            <a:chOff x="3133959" y="160337"/>
            <a:chExt cx="3585644" cy="196926"/>
          </a:xfrm>
        </p:grpSpPr>
        <p:grpSp>
          <p:nvGrpSpPr>
            <p:cNvPr id="48" name="그룹 47"/>
            <p:cNvGrpSpPr/>
            <p:nvPr userDrawn="1"/>
          </p:nvGrpSpPr>
          <p:grpSpPr>
            <a:xfrm>
              <a:off x="3428999" y="160337"/>
              <a:ext cx="3290604" cy="196926"/>
              <a:chOff x="3791296" y="160337"/>
              <a:chExt cx="3290604" cy="196926"/>
            </a:xfrm>
          </p:grpSpPr>
          <p:sp>
            <p:nvSpPr>
              <p:cNvPr id="57" name="타원 56"/>
              <p:cNvSpPr/>
              <p:nvPr/>
            </p:nvSpPr>
            <p:spPr bwMode="gray">
              <a:xfrm>
                <a:off x="4531388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4571670" y="189550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59" name="그룹 58"/>
              <p:cNvGrpSpPr/>
              <p:nvPr userDrawn="1"/>
            </p:nvGrpSpPr>
            <p:grpSpPr>
              <a:xfrm>
                <a:off x="5040871" y="160337"/>
                <a:ext cx="2041029" cy="196926"/>
                <a:chOff x="4871953" y="160337"/>
                <a:chExt cx="2041029" cy="196926"/>
              </a:xfrm>
            </p:grpSpPr>
            <p:grpSp>
              <p:nvGrpSpPr>
                <p:cNvPr id="72" name="그룹 71"/>
                <p:cNvGrpSpPr/>
                <p:nvPr/>
              </p:nvGrpSpPr>
              <p:grpSpPr>
                <a:xfrm>
                  <a:off x="4871953" y="160337"/>
                  <a:ext cx="196926" cy="196926"/>
                  <a:chOff x="4709517" y="668524"/>
                  <a:chExt cx="196926" cy="196926"/>
                </a:xfrm>
              </p:grpSpPr>
              <p:sp>
                <p:nvSpPr>
                  <p:cNvPr id="76" name="타원 75"/>
                  <p:cNvSpPr/>
                  <p:nvPr/>
                </p:nvSpPr>
                <p:spPr bwMode="gray">
                  <a:xfrm>
                    <a:off x="4709517" y="668524"/>
                    <a:ext cx="196926" cy="196926"/>
                  </a:xfrm>
                  <a:prstGeom prst="ellipse">
                    <a:avLst/>
                  </a:prstGeom>
                  <a:solidFill>
                    <a:srgbClr val="004B98"/>
                  </a:solidFill>
                  <a:ln>
                    <a:noFill/>
                  </a:ln>
                  <a:effectLst/>
                  <a:extLst/>
                </p:spPr>
                <p:txBody>
                  <a:bodyPr wrap="none" anchor="ctr"/>
                  <a:lstStyle/>
                  <a:p>
                    <a:pPr lvl="0" algn="ctr" fontAlgn="base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ko-KR" altLang="en-US" sz="1200" dirty="0">
                      <a:ln>
                        <a:noFill/>
                      </a:ln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4735261" y="697737"/>
                    <a:ext cx="145438" cy="138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>
                    <a:defPPr>
                      <a:defRPr lang="ko-KR"/>
                    </a:defPPr>
                    <a:lvl1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1" sz="1050" b="0" spc="-150" baseline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ea typeface="KoPub돋움체 Bold" panose="02020603020101020101" pitchFamily="18" charset="-127"/>
                        <a:cs typeface="Times New Roman" panose="02020603050405020304" pitchFamily="18" charset="0"/>
                      </a:defRPr>
                    </a:lvl1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en-US" altLang="ko-KR" sz="900" spc="0" dirty="0" smtClean="0">
                        <a:ln>
                          <a:noFill/>
                        </a:ln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VII</a:t>
                    </a:r>
                    <a:endParaRPr lang="ko-KR" altLang="en-US" sz="900" spc="0" dirty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</p:grpSp>
            <p:grpSp>
              <p:nvGrpSpPr>
                <p:cNvPr id="73" name="그룹 72"/>
                <p:cNvGrpSpPr/>
                <p:nvPr/>
              </p:nvGrpSpPr>
              <p:grpSpPr>
                <a:xfrm>
                  <a:off x="5053438" y="174162"/>
                  <a:ext cx="1859544" cy="169277"/>
                  <a:chOff x="4094077" y="1092982"/>
                  <a:chExt cx="1859544" cy="169277"/>
                </a:xfrm>
              </p:grpSpPr>
              <p:sp>
                <p:nvSpPr>
                  <p:cNvPr id="74" name="Rectangle 19"/>
                  <p:cNvSpPr>
                    <a:spLocks noChangeArrowheads="1"/>
                  </p:cNvSpPr>
                  <p:nvPr/>
                </p:nvSpPr>
                <p:spPr bwMode="gray">
                  <a:xfrm>
                    <a:off x="4216710" y="1092982"/>
                    <a:ext cx="1736911" cy="1692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DCDCD">
                            <a:alpha val="50195"/>
                          </a:srgbClr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96969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7200" bIns="0" anchor="ctr">
                    <a:spAutoFit/>
                  </a:bodyPr>
                  <a:lstStyle/>
                  <a:p>
                    <a:pPr fontAlgn="ctr" latinLnBrk="0">
                      <a:spcBef>
                        <a:spcPct val="0"/>
                      </a:spcBef>
                      <a:spcAft>
                        <a:spcPct val="0"/>
                      </a:spcAft>
                      <a:buFont typeface="Symbol" pitchFamily="18" charset="2"/>
                      <a:buNone/>
                    </a:pPr>
                    <a:r>
                      <a:rPr kumimoji="1" lang="ko-KR" altLang="en-US" sz="110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상생협력 및 하도급계약 적정성</a:t>
                    </a:r>
                    <a:endParaRPr kumimoji="1" lang="ko-KR" altLang="en-US" sz="110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cxnSp>
                <p:nvCxnSpPr>
                  <p:cNvPr id="75" name="직선 연결선 74"/>
                  <p:cNvCxnSpPr/>
                  <p:nvPr/>
                </p:nvCxnSpPr>
                <p:spPr>
                  <a:xfrm>
                    <a:off x="4094077" y="1177620"/>
                    <a:ext cx="92729" cy="0"/>
                  </a:xfrm>
                  <a:prstGeom prst="line">
                    <a:avLst/>
                  </a:prstGeom>
                  <a:ln w="12700">
                    <a:solidFill>
                      <a:srgbClr val="004B98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0" name="타원 59"/>
              <p:cNvSpPr/>
              <p:nvPr/>
            </p:nvSpPr>
            <p:spPr bwMode="gray">
              <a:xfrm>
                <a:off x="4785458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815171" y="189550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62" name="그룹 61"/>
              <p:cNvGrpSpPr/>
              <p:nvPr userDrawn="1"/>
            </p:nvGrpSpPr>
            <p:grpSpPr>
              <a:xfrm>
                <a:off x="4283735" y="160337"/>
                <a:ext cx="196926" cy="196926"/>
                <a:chOff x="3827909" y="160337"/>
                <a:chExt cx="196926" cy="196926"/>
              </a:xfrm>
            </p:grpSpPr>
            <p:sp>
              <p:nvSpPr>
                <p:cNvPr id="70" name="타원 69"/>
                <p:cNvSpPr/>
                <p:nvPr userDrawn="1"/>
              </p:nvSpPr>
              <p:spPr bwMode="gray">
                <a:xfrm>
                  <a:off x="3827909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TextBox 70"/>
                <p:cNvSpPr txBox="1"/>
                <p:nvPr userDrawn="1"/>
              </p:nvSpPr>
              <p:spPr>
                <a:xfrm>
                  <a:off x="3868191" y="189550"/>
                  <a:ext cx="12693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>
                    <a:defRPr/>
                  </a:pPr>
                  <a:r>
                    <a:rPr lang="en-US" altLang="ko-KR" sz="900" spc="0" dirty="0" smtClean="0">
                      <a:ln>
                        <a:noFill/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IV</a:t>
                  </a:r>
                  <a:endParaRPr lang="ko-KR" altLang="en-US" sz="900" spc="0" dirty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64" name="그룹 63"/>
              <p:cNvGrpSpPr/>
              <p:nvPr userDrawn="1"/>
            </p:nvGrpSpPr>
            <p:grpSpPr>
              <a:xfrm>
                <a:off x="4033240" y="160337"/>
                <a:ext cx="196926" cy="196926"/>
                <a:chOff x="3864322" y="160337"/>
                <a:chExt cx="196926" cy="196926"/>
              </a:xfrm>
            </p:grpSpPr>
            <p:sp>
              <p:nvSpPr>
                <p:cNvPr id="68" name="타원 67"/>
                <p:cNvSpPr/>
                <p:nvPr userDrawn="1"/>
              </p:nvSpPr>
              <p:spPr bwMode="gray">
                <a:xfrm>
                  <a:off x="3864322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TextBox 68"/>
                <p:cNvSpPr txBox="1"/>
                <p:nvPr userDrawn="1"/>
              </p:nvSpPr>
              <p:spPr>
                <a:xfrm>
                  <a:off x="3894035" y="189550"/>
                  <a:ext cx="13750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lvl="0" algn="ctr">
                    <a:defRPr sz="1200" b="0" spc="-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lvl="0">
                    <a:defRPr/>
                  </a:pPr>
                  <a:r>
                    <a:rPr lang="en-US" altLang="ko-KR" sz="900" spc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III</a:t>
                  </a:r>
                  <a:endParaRPr lang="ko-KR" altLang="en-US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65" name="그룹 64"/>
              <p:cNvGrpSpPr/>
              <p:nvPr userDrawn="1"/>
            </p:nvGrpSpPr>
            <p:grpSpPr>
              <a:xfrm>
                <a:off x="3791296" y="160337"/>
                <a:ext cx="196926" cy="196926"/>
                <a:chOff x="3797648" y="160337"/>
                <a:chExt cx="196926" cy="196926"/>
              </a:xfrm>
            </p:grpSpPr>
            <p:sp>
              <p:nvSpPr>
                <p:cNvPr id="66" name="타원 65"/>
                <p:cNvSpPr/>
                <p:nvPr userDrawn="1"/>
              </p:nvSpPr>
              <p:spPr bwMode="gray">
                <a:xfrm>
                  <a:off x="3797648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TextBox 66"/>
                <p:cNvSpPr txBox="1"/>
                <p:nvPr userDrawn="1"/>
              </p:nvSpPr>
              <p:spPr>
                <a:xfrm>
                  <a:off x="3829932" y="189550"/>
                  <a:ext cx="14188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9" name="타원 78"/>
            <p:cNvSpPr/>
            <p:nvPr userDrawn="1"/>
          </p:nvSpPr>
          <p:spPr bwMode="gray">
            <a:xfrm>
              <a:off x="3185688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TextBox 79"/>
            <p:cNvSpPr txBox="1"/>
            <p:nvPr userDrawn="1"/>
          </p:nvSpPr>
          <p:spPr>
            <a:xfrm>
              <a:off x="3133959" y="189550"/>
              <a:ext cx="30990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rPr>
                <a:t>I</a:t>
              </a:r>
              <a:endParaRPr kumimoji="1" lang="ko-KR" altLang="en-US" sz="900" b="0" kern="1200" spc="0" baseline="0" dirty="0" smtClean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0857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5" name="직사각형 54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6" name="직사각형 55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85" name="그룹 84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86" name="그룹 85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9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87" name="그룹 86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88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89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92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별첨</a:t>
            </a: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94" name="Rectangle 19"/>
          <p:cNvSpPr>
            <a:spLocks noChangeArrowheads="1"/>
          </p:cNvSpPr>
          <p:nvPr userDrawn="1"/>
        </p:nvSpPr>
        <p:spPr bwMode="gray">
          <a:xfrm>
            <a:off x="6288005" y="174162"/>
            <a:ext cx="246862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DCDCD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lvl="0" algn="r" defTabSz="914400" rtl="0" eaLnBrk="1" fontAlgn="ctr" latinLnBrk="0" hangingPunct="1"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</a:pPr>
            <a:r>
              <a:rPr kumimoji="1" lang="ko-KR" altLang="en-US" sz="1100" b="0" kern="1200" spc="0" baseline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별첨</a:t>
            </a:r>
            <a:endParaRPr kumimoji="1" lang="ko-KR" altLang="en-US" sz="1100" b="0" kern="1200" spc="0" baseline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18" name="그림 1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19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20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2948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2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62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08" r:id="rId2"/>
    <p:sldLayoutId id="2147483706" r:id="rId3"/>
    <p:sldLayoutId id="2147483699" r:id="rId4"/>
    <p:sldLayoutId id="2147483700" r:id="rId5"/>
    <p:sldLayoutId id="2147483701" r:id="rId6"/>
    <p:sldLayoutId id="2147483702" r:id="rId7"/>
    <p:sldLayoutId id="2147483707" r:id="rId8"/>
    <p:sldLayoutId id="2147483710" r:id="rId9"/>
    <p:sldLayoutId id="2147483713" r:id="rId10"/>
    <p:sldLayoutId id="214748371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00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8.png"/><Relationship Id="rId5" Type="http://schemas.openxmlformats.org/officeDocument/2006/relationships/image" Target="../media/image15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1D592A9-489A-419B-B5AD-8130F36FA1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7000" y="3717730"/>
            <a:ext cx="356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1" sz="3600" b="1" i="0" u="none" strike="noStrike" cap="none" spc="-30" normalizeH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E4843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sz="3800" b="0" spc="0" dirty="0" smtClean="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기술 및 기능</a:t>
            </a:r>
            <a:endParaRPr lang="ko-KR" altLang="en-US" sz="3800" b="0" spc="0" dirty="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8897" y="214468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CHAPTER</a:t>
            </a:r>
            <a:endParaRPr lang="ko-KR" altLang="en-US" sz="16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" name="Text Box 79"/>
          <p:cNvSpPr txBox="1">
            <a:spLocks noChangeArrowheads="1"/>
          </p:cNvSpPr>
          <p:nvPr/>
        </p:nvSpPr>
        <p:spPr bwMode="gray">
          <a:xfrm>
            <a:off x="2600908" y="2619708"/>
            <a:ext cx="169324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4400" spc="-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III</a:t>
            </a:r>
            <a:endParaRPr lang="ko-KR" altLang="en-US" sz="4400" b="0" spc="-150" dirty="0" smtClean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2357198" y="4592960"/>
            <a:ext cx="1700787" cy="280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 요구사항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511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그룹 80"/>
          <p:cNvGrpSpPr/>
          <p:nvPr/>
        </p:nvGrpSpPr>
        <p:grpSpPr>
          <a:xfrm>
            <a:off x="342752" y="6368780"/>
            <a:ext cx="6178597" cy="1680564"/>
            <a:chOff x="342752" y="6682913"/>
            <a:chExt cx="6178597" cy="770400"/>
          </a:xfrm>
        </p:grpSpPr>
        <p:sp>
          <p:nvSpPr>
            <p:cNvPr id="14" name="직사각형 13"/>
            <p:cNvSpPr/>
            <p:nvPr/>
          </p:nvSpPr>
          <p:spPr>
            <a:xfrm>
              <a:off x="1264157" y="6682913"/>
              <a:ext cx="5257192" cy="7704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spc="-3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24227" y="6758966"/>
              <a:ext cx="659506" cy="1943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latinLnBrk="0">
                <a:lnSpc>
                  <a:spcPct val="110000"/>
                </a:lnSpc>
                <a:defRPr/>
              </a:pPr>
              <a:r>
                <a:rPr lang="ko-KR" altLang="en-US" sz="1200" b="0" dirty="0" smtClean="0">
                  <a:solidFill>
                    <a:prstClr val="black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개선 효과</a:t>
              </a:r>
              <a:endParaRPr lang="ko-KR" altLang="en-US" sz="1200" b="0" dirty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988912" y="7167852"/>
              <a:ext cx="225560" cy="208554"/>
              <a:chOff x="-1220788" y="7861300"/>
              <a:chExt cx="400050" cy="369888"/>
            </a:xfrm>
            <a:solidFill>
              <a:srgbClr val="CBCBCB"/>
            </a:solidFill>
          </p:grpSpPr>
          <p:sp>
            <p:nvSpPr>
              <p:cNvPr id="21" name="Freeform 18"/>
              <p:cNvSpPr>
                <a:spLocks noEditPoints="1"/>
              </p:cNvSpPr>
              <p:nvPr/>
            </p:nvSpPr>
            <p:spPr bwMode="auto">
              <a:xfrm>
                <a:off x="-1098551" y="7861300"/>
                <a:ext cx="231775" cy="369888"/>
              </a:xfrm>
              <a:custGeom>
                <a:avLst/>
                <a:gdLst>
                  <a:gd name="T0" fmla="*/ 52 w 60"/>
                  <a:gd name="T1" fmla="*/ 11 h 96"/>
                  <a:gd name="T2" fmla="*/ 52 w 60"/>
                  <a:gd name="T3" fmla="*/ 84 h 96"/>
                  <a:gd name="T4" fmla="*/ 8 w 60"/>
                  <a:gd name="T5" fmla="*/ 56 h 96"/>
                  <a:gd name="T6" fmla="*/ 8 w 60"/>
                  <a:gd name="T7" fmla="*/ 39 h 96"/>
                  <a:gd name="T8" fmla="*/ 52 w 60"/>
                  <a:gd name="T9" fmla="*/ 11 h 96"/>
                  <a:gd name="T10" fmla="*/ 52 w 60"/>
                  <a:gd name="T11" fmla="*/ 0 h 96"/>
                  <a:gd name="T12" fmla="*/ 0 w 60"/>
                  <a:gd name="T13" fmla="*/ 32 h 96"/>
                  <a:gd name="T14" fmla="*/ 0 w 60"/>
                  <a:gd name="T15" fmla="*/ 64 h 96"/>
                  <a:gd name="T16" fmla="*/ 52 w 60"/>
                  <a:gd name="T17" fmla="*/ 96 h 96"/>
                  <a:gd name="T18" fmla="*/ 52 w 60"/>
                  <a:gd name="T19" fmla="*/ 96 h 96"/>
                  <a:gd name="T20" fmla="*/ 60 w 60"/>
                  <a:gd name="T21" fmla="*/ 88 h 96"/>
                  <a:gd name="T22" fmla="*/ 60 w 60"/>
                  <a:gd name="T23" fmla="*/ 8 h 96"/>
                  <a:gd name="T24" fmla="*/ 52 w 60"/>
                  <a:gd name="T2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96">
                    <a:moveTo>
                      <a:pt x="52" y="11"/>
                    </a:moveTo>
                    <a:cubicBezTo>
                      <a:pt x="52" y="84"/>
                      <a:pt x="52" y="84"/>
                      <a:pt x="52" y="84"/>
                    </a:cubicBezTo>
                    <a:cubicBezTo>
                      <a:pt x="46" y="75"/>
                      <a:pt x="36" y="59"/>
                      <a:pt x="8" y="56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36" y="37"/>
                      <a:pt x="46" y="21"/>
                      <a:pt x="52" y="11"/>
                    </a:cubicBezTo>
                    <a:moveTo>
                      <a:pt x="52" y="0"/>
                    </a:moveTo>
                    <a:cubicBezTo>
                      <a:pt x="44" y="0"/>
                      <a:pt x="43" y="32"/>
                      <a:pt x="0" y="32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43" y="64"/>
                      <a:pt x="44" y="96"/>
                      <a:pt x="52" y="96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6" y="96"/>
                      <a:pt x="60" y="96"/>
                      <a:pt x="60" y="88"/>
                    </a:cubicBezTo>
                    <a:cubicBezTo>
                      <a:pt x="60" y="80"/>
                      <a:pt x="60" y="16"/>
                      <a:pt x="60" y="8"/>
                    </a:cubicBezTo>
                    <a:cubicBezTo>
                      <a:pt x="60" y="0"/>
                      <a:pt x="56" y="0"/>
                      <a:pt x="5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" name="Freeform 19"/>
              <p:cNvSpPr>
                <a:spLocks/>
              </p:cNvSpPr>
              <p:nvPr/>
            </p:nvSpPr>
            <p:spPr bwMode="auto">
              <a:xfrm>
                <a:off x="-896938" y="7999413"/>
                <a:ext cx="76200" cy="93663"/>
              </a:xfrm>
              <a:custGeom>
                <a:avLst/>
                <a:gdLst>
                  <a:gd name="T0" fmla="*/ 8 w 20"/>
                  <a:gd name="T1" fmla="*/ 0 h 24"/>
                  <a:gd name="T2" fmla="*/ 0 w 20"/>
                  <a:gd name="T3" fmla="*/ 0 h 24"/>
                  <a:gd name="T4" fmla="*/ 0 w 20"/>
                  <a:gd name="T5" fmla="*/ 24 h 24"/>
                  <a:gd name="T6" fmla="*/ 8 w 20"/>
                  <a:gd name="T7" fmla="*/ 24 h 24"/>
                  <a:gd name="T8" fmla="*/ 20 w 20"/>
                  <a:gd name="T9" fmla="*/ 12 h 24"/>
                  <a:gd name="T10" fmla="*/ 20 w 20"/>
                  <a:gd name="T11" fmla="*/ 12 h 24"/>
                  <a:gd name="T12" fmla="*/ 8 w 20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4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4" y="24"/>
                      <a:pt x="20" y="18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5"/>
                      <a:pt x="14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" name="Freeform 20"/>
              <p:cNvSpPr>
                <a:spLocks/>
              </p:cNvSpPr>
              <p:nvPr/>
            </p:nvSpPr>
            <p:spPr bwMode="auto">
              <a:xfrm>
                <a:off x="-1174751" y="8123238"/>
                <a:ext cx="107950" cy="107950"/>
              </a:xfrm>
              <a:custGeom>
                <a:avLst/>
                <a:gdLst>
                  <a:gd name="T0" fmla="*/ 12 w 28"/>
                  <a:gd name="T1" fmla="*/ 28 h 28"/>
                  <a:gd name="T2" fmla="*/ 7 w 28"/>
                  <a:gd name="T3" fmla="*/ 24 h 28"/>
                  <a:gd name="T4" fmla="*/ 0 w 28"/>
                  <a:gd name="T5" fmla="*/ 0 h 28"/>
                  <a:gd name="T6" fmla="*/ 19 w 28"/>
                  <a:gd name="T7" fmla="*/ 0 h 28"/>
                  <a:gd name="T8" fmla="*/ 21 w 28"/>
                  <a:gd name="T9" fmla="*/ 15 h 28"/>
                  <a:gd name="T10" fmla="*/ 20 w 28"/>
                  <a:gd name="T11" fmla="*/ 28 h 28"/>
                  <a:gd name="T12" fmla="*/ 12 w 28"/>
                  <a:gd name="T1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28">
                    <a:moveTo>
                      <a:pt x="12" y="28"/>
                    </a:moveTo>
                    <a:cubicBezTo>
                      <a:pt x="9" y="28"/>
                      <a:pt x="7" y="26"/>
                      <a:pt x="7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6" y="11"/>
                      <a:pt x="21" y="15"/>
                    </a:cubicBezTo>
                    <a:cubicBezTo>
                      <a:pt x="28" y="21"/>
                      <a:pt x="26" y="28"/>
                      <a:pt x="20" y="28"/>
                    </a:cubicBezTo>
                    <a:lnTo>
                      <a:pt x="12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" name="Freeform 21"/>
              <p:cNvSpPr>
                <a:spLocks noEditPoints="1"/>
              </p:cNvSpPr>
              <p:nvPr/>
            </p:nvSpPr>
            <p:spPr bwMode="auto">
              <a:xfrm>
                <a:off x="-1220788" y="7985125"/>
                <a:ext cx="292100" cy="122238"/>
              </a:xfrm>
              <a:custGeom>
                <a:avLst/>
                <a:gdLst>
                  <a:gd name="T0" fmla="*/ 12 w 76"/>
                  <a:gd name="T1" fmla="*/ 0 h 32"/>
                  <a:gd name="T2" fmla="*/ 0 w 76"/>
                  <a:gd name="T3" fmla="*/ 12 h 32"/>
                  <a:gd name="T4" fmla="*/ 0 w 76"/>
                  <a:gd name="T5" fmla="*/ 20 h 32"/>
                  <a:gd name="T6" fmla="*/ 12 w 76"/>
                  <a:gd name="T7" fmla="*/ 32 h 32"/>
                  <a:gd name="T8" fmla="*/ 40 w 76"/>
                  <a:gd name="T9" fmla="*/ 32 h 32"/>
                  <a:gd name="T10" fmla="*/ 40 w 76"/>
                  <a:gd name="T11" fmla="*/ 0 h 32"/>
                  <a:gd name="T12" fmla="*/ 12 w 76"/>
                  <a:gd name="T13" fmla="*/ 0 h 32"/>
                  <a:gd name="T14" fmla="*/ 32 w 76"/>
                  <a:gd name="T15" fmla="*/ 16 h 32"/>
                  <a:gd name="T16" fmla="*/ 12 w 76"/>
                  <a:gd name="T17" fmla="*/ 16 h 32"/>
                  <a:gd name="T18" fmla="*/ 18 w 76"/>
                  <a:gd name="T19" fmla="*/ 8 h 32"/>
                  <a:gd name="T20" fmla="*/ 32 w 76"/>
                  <a:gd name="T21" fmla="*/ 8 h 32"/>
                  <a:gd name="T22" fmla="*/ 32 w 76"/>
                  <a:gd name="T23" fmla="*/ 16 h 32"/>
                  <a:gd name="T24" fmla="*/ 76 w 76"/>
                  <a:gd name="T25" fmla="*/ 12 h 32"/>
                  <a:gd name="T26" fmla="*/ 48 w 76"/>
                  <a:gd name="T27" fmla="*/ 16 h 32"/>
                  <a:gd name="T28" fmla="*/ 48 w 76"/>
                  <a:gd name="T29" fmla="*/ 12 h 32"/>
                  <a:gd name="T30" fmla="*/ 76 w 76"/>
                  <a:gd name="T31" fmla="*/ 0 h 32"/>
                  <a:gd name="T32" fmla="*/ 76 w 76"/>
                  <a:gd name="T33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6" h="32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6"/>
                      <a:pt x="5" y="32"/>
                      <a:pt x="12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12" y="0"/>
                    </a:lnTo>
                    <a:close/>
                    <a:moveTo>
                      <a:pt x="32" y="16"/>
                    </a:move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8"/>
                      <a:pt x="18" y="8"/>
                      <a:pt x="18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6"/>
                    </a:lnTo>
                    <a:close/>
                    <a:moveTo>
                      <a:pt x="76" y="12"/>
                    </a:moveTo>
                    <a:cubicBezTo>
                      <a:pt x="76" y="12"/>
                      <a:pt x="63" y="16"/>
                      <a:pt x="48" y="16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63" y="12"/>
                      <a:pt x="76" y="0"/>
                      <a:pt x="76" y="0"/>
                    </a:cubicBezTo>
                    <a:lnTo>
                      <a:pt x="76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5" name="직사각형 776"/>
            <p:cNvSpPr/>
            <p:nvPr/>
          </p:nvSpPr>
          <p:spPr>
            <a:xfrm flipH="1">
              <a:off x="342752" y="6687589"/>
              <a:ext cx="864000" cy="761048"/>
            </a:xfrm>
            <a:custGeom>
              <a:avLst/>
              <a:gdLst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0 w 1049934"/>
                <a:gd name="connsiteY4" fmla="*/ 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91440 w 1049934"/>
                <a:gd name="connsiteY4" fmla="*/ 9144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934" h="899429">
                  <a:moveTo>
                    <a:pt x="0" y="0"/>
                  </a:moveTo>
                  <a:lnTo>
                    <a:pt x="1049934" y="0"/>
                  </a:lnTo>
                  <a:lnTo>
                    <a:pt x="1049934" y="899429"/>
                  </a:lnTo>
                  <a:lnTo>
                    <a:pt x="0" y="899429"/>
                  </a:lnTo>
                </a:path>
              </a:pathLst>
            </a:custGeom>
            <a:ln w="12700">
              <a:solidFill>
                <a:schemeClr val="bg1">
                  <a:lumMod val="6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42752" y="8248064"/>
            <a:ext cx="6178597" cy="1105375"/>
            <a:chOff x="342752" y="7570612"/>
            <a:chExt cx="6178597" cy="770400"/>
          </a:xfrm>
        </p:grpSpPr>
        <p:sp>
          <p:nvSpPr>
            <p:cNvPr id="55" name="직사각형 54"/>
            <p:cNvSpPr/>
            <p:nvPr/>
          </p:nvSpPr>
          <p:spPr>
            <a:xfrm>
              <a:off x="1264157" y="7570612"/>
              <a:ext cx="5257192" cy="770400"/>
            </a:xfrm>
            <a:prstGeom prst="rect">
              <a:avLst/>
            </a:prstGeom>
            <a:solidFill>
              <a:srgbClr val="D5EDFF"/>
            </a:solidFill>
            <a:ln>
              <a:noFill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endParaRPr lang="ko-KR" altLang="en-US" sz="10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56" name="직사각형 776"/>
            <p:cNvSpPr/>
            <p:nvPr/>
          </p:nvSpPr>
          <p:spPr>
            <a:xfrm flipH="1">
              <a:off x="342752" y="7575288"/>
              <a:ext cx="864000" cy="761048"/>
            </a:xfrm>
            <a:custGeom>
              <a:avLst/>
              <a:gdLst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0 w 1049934"/>
                <a:gd name="connsiteY4" fmla="*/ 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91440 w 1049934"/>
                <a:gd name="connsiteY4" fmla="*/ 9144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934" h="899429">
                  <a:moveTo>
                    <a:pt x="0" y="0"/>
                  </a:moveTo>
                  <a:lnTo>
                    <a:pt x="1049934" y="0"/>
                  </a:lnTo>
                  <a:lnTo>
                    <a:pt x="1049934" y="899429"/>
                  </a:lnTo>
                  <a:lnTo>
                    <a:pt x="0" y="899429"/>
                  </a:lnTo>
                </a:path>
              </a:pathLst>
            </a:custGeom>
            <a:ln w="12700">
              <a:solidFill>
                <a:srgbClr val="84B9EA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24227" y="7646665"/>
              <a:ext cx="659506" cy="1943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latinLnBrk="0">
                <a:lnSpc>
                  <a:spcPct val="110000"/>
                </a:lnSpc>
                <a:defRPr/>
              </a:pPr>
              <a:r>
                <a:rPr lang="ko-KR" altLang="en-US" sz="1200" b="0" dirty="0" smtClean="0">
                  <a:solidFill>
                    <a:srgbClr val="237BCB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구성 방안</a:t>
              </a:r>
              <a:endParaRPr lang="ko-KR" altLang="en-US" sz="1200" b="0" dirty="0">
                <a:solidFill>
                  <a:srgbClr val="237BC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1026160" y="8051819"/>
              <a:ext cx="167835" cy="240807"/>
              <a:chOff x="-566738" y="4749801"/>
              <a:chExt cx="292100" cy="419100"/>
            </a:xfrm>
            <a:solidFill>
              <a:srgbClr val="00B5D5"/>
            </a:solidFill>
          </p:grpSpPr>
          <p:sp>
            <p:nvSpPr>
              <p:cNvPr id="60" name="Freeform 13"/>
              <p:cNvSpPr>
                <a:spLocks noEditPoints="1"/>
              </p:cNvSpPr>
              <p:nvPr/>
            </p:nvSpPr>
            <p:spPr bwMode="auto">
              <a:xfrm>
                <a:off x="-476251" y="4806950"/>
                <a:ext cx="139700" cy="38101"/>
              </a:xfrm>
              <a:custGeom>
                <a:avLst/>
                <a:gdLst>
                  <a:gd name="T0" fmla="*/ 3 w 36"/>
                  <a:gd name="T1" fmla="*/ 10 h 10"/>
                  <a:gd name="T2" fmla="*/ 34 w 36"/>
                  <a:gd name="T3" fmla="*/ 10 h 10"/>
                  <a:gd name="T4" fmla="*/ 36 w 36"/>
                  <a:gd name="T5" fmla="*/ 8 h 10"/>
                  <a:gd name="T6" fmla="*/ 36 w 36"/>
                  <a:gd name="T7" fmla="*/ 3 h 10"/>
                  <a:gd name="T8" fmla="*/ 34 w 36"/>
                  <a:gd name="T9" fmla="*/ 0 h 10"/>
                  <a:gd name="T10" fmla="*/ 3 w 36"/>
                  <a:gd name="T11" fmla="*/ 0 h 10"/>
                  <a:gd name="T12" fmla="*/ 0 w 36"/>
                  <a:gd name="T13" fmla="*/ 3 h 10"/>
                  <a:gd name="T14" fmla="*/ 0 w 36"/>
                  <a:gd name="T15" fmla="*/ 8 h 10"/>
                  <a:gd name="T16" fmla="*/ 3 w 36"/>
                  <a:gd name="T17" fmla="*/ 10 h 10"/>
                  <a:gd name="T18" fmla="*/ 3 w 36"/>
                  <a:gd name="T19" fmla="*/ 10 h 10"/>
                  <a:gd name="T20" fmla="*/ 3 w 36"/>
                  <a:gd name="T2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0">
                    <a:moveTo>
                      <a:pt x="3" y="10"/>
                    </a:move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0"/>
                      <a:pt x="36" y="9"/>
                      <a:pt x="36" y="8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5" y="0"/>
                      <a:pt x="3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1" y="10"/>
                      <a:pt x="3" y="10"/>
                    </a:cubicBezTo>
                    <a:close/>
                    <a:moveTo>
                      <a:pt x="3" y="10"/>
                    </a:moveTo>
                    <a:cubicBezTo>
                      <a:pt x="3" y="10"/>
                      <a:pt x="3" y="10"/>
                      <a:pt x="3" y="10"/>
                    </a:cubicBezTo>
                  </a:path>
                </a:pathLst>
              </a:custGeom>
              <a:solidFill>
                <a:srgbClr val="84B9EA"/>
              </a:solidFill>
              <a:ln>
                <a:noFill/>
              </a:ln>
              <a:effectLst/>
              <a:extLst/>
            </p:spPr>
            <p:txBody>
              <a:bodyPr wrap="none" lIns="0" tIns="0" rIns="0" bIns="0" anchor="ctr">
                <a:noAutofit/>
              </a:bodyPr>
              <a:lstStyle/>
              <a:p>
                <a:pPr algn="ctr" fontAlgn="base" latinLnBrk="0">
                  <a:buClr>
                    <a:srgbClr val="969696"/>
                  </a:buClr>
                </a:pPr>
                <a:endParaRPr lang="ko-KR" altLang="en-US" sz="100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1" name="Freeform 14"/>
              <p:cNvSpPr>
                <a:spLocks noEditPoints="1"/>
              </p:cNvSpPr>
              <p:nvPr/>
            </p:nvSpPr>
            <p:spPr bwMode="auto">
              <a:xfrm>
                <a:off x="-566738" y="4749801"/>
                <a:ext cx="292100" cy="419100"/>
              </a:xfrm>
              <a:custGeom>
                <a:avLst/>
                <a:gdLst>
                  <a:gd name="T0" fmla="*/ 19 w 75"/>
                  <a:gd name="T1" fmla="*/ 108 h 109"/>
                  <a:gd name="T2" fmla="*/ 24 w 75"/>
                  <a:gd name="T3" fmla="*/ 103 h 109"/>
                  <a:gd name="T4" fmla="*/ 27 w 75"/>
                  <a:gd name="T5" fmla="*/ 103 h 109"/>
                  <a:gd name="T6" fmla="*/ 31 w 75"/>
                  <a:gd name="T7" fmla="*/ 108 h 109"/>
                  <a:gd name="T8" fmla="*/ 35 w 75"/>
                  <a:gd name="T9" fmla="*/ 106 h 109"/>
                  <a:gd name="T10" fmla="*/ 35 w 75"/>
                  <a:gd name="T11" fmla="*/ 98 h 109"/>
                  <a:gd name="T12" fmla="*/ 71 w 75"/>
                  <a:gd name="T13" fmla="*/ 98 h 109"/>
                  <a:gd name="T14" fmla="*/ 74 w 75"/>
                  <a:gd name="T15" fmla="*/ 97 h 109"/>
                  <a:gd name="T16" fmla="*/ 74 w 75"/>
                  <a:gd name="T17" fmla="*/ 92 h 109"/>
                  <a:gd name="T18" fmla="*/ 72 w 75"/>
                  <a:gd name="T19" fmla="*/ 88 h 109"/>
                  <a:gd name="T20" fmla="*/ 73 w 75"/>
                  <a:gd name="T21" fmla="*/ 83 h 109"/>
                  <a:gd name="T22" fmla="*/ 75 w 75"/>
                  <a:gd name="T23" fmla="*/ 78 h 109"/>
                  <a:gd name="T24" fmla="*/ 75 w 75"/>
                  <a:gd name="T25" fmla="*/ 5 h 109"/>
                  <a:gd name="T26" fmla="*/ 70 w 75"/>
                  <a:gd name="T27" fmla="*/ 0 h 109"/>
                  <a:gd name="T28" fmla="*/ 5 w 75"/>
                  <a:gd name="T29" fmla="*/ 0 h 109"/>
                  <a:gd name="T30" fmla="*/ 0 w 75"/>
                  <a:gd name="T31" fmla="*/ 5 h 109"/>
                  <a:gd name="T32" fmla="*/ 0 w 75"/>
                  <a:gd name="T33" fmla="*/ 93 h 109"/>
                  <a:gd name="T34" fmla="*/ 5 w 75"/>
                  <a:gd name="T35" fmla="*/ 98 h 109"/>
                  <a:gd name="T36" fmla="*/ 15 w 75"/>
                  <a:gd name="T37" fmla="*/ 98 h 109"/>
                  <a:gd name="T38" fmla="*/ 15 w 75"/>
                  <a:gd name="T39" fmla="*/ 106 h 109"/>
                  <a:gd name="T40" fmla="*/ 19 w 75"/>
                  <a:gd name="T41" fmla="*/ 108 h 109"/>
                  <a:gd name="T42" fmla="*/ 15 w 75"/>
                  <a:gd name="T43" fmla="*/ 10 h 109"/>
                  <a:gd name="T44" fmla="*/ 17 w 75"/>
                  <a:gd name="T45" fmla="*/ 8 h 109"/>
                  <a:gd name="T46" fmla="*/ 65 w 75"/>
                  <a:gd name="T47" fmla="*/ 8 h 109"/>
                  <a:gd name="T48" fmla="*/ 67 w 75"/>
                  <a:gd name="T49" fmla="*/ 10 h 109"/>
                  <a:gd name="T50" fmla="*/ 67 w 75"/>
                  <a:gd name="T51" fmla="*/ 72 h 109"/>
                  <a:gd name="T52" fmla="*/ 65 w 75"/>
                  <a:gd name="T53" fmla="*/ 75 h 109"/>
                  <a:gd name="T54" fmla="*/ 17 w 75"/>
                  <a:gd name="T55" fmla="*/ 75 h 109"/>
                  <a:gd name="T56" fmla="*/ 15 w 75"/>
                  <a:gd name="T57" fmla="*/ 72 h 109"/>
                  <a:gd name="T58" fmla="*/ 15 w 75"/>
                  <a:gd name="T59" fmla="*/ 10 h 109"/>
                  <a:gd name="T60" fmla="*/ 10 w 75"/>
                  <a:gd name="T61" fmla="*/ 90 h 109"/>
                  <a:gd name="T62" fmla="*/ 8 w 75"/>
                  <a:gd name="T63" fmla="*/ 88 h 109"/>
                  <a:gd name="T64" fmla="*/ 8 w 75"/>
                  <a:gd name="T65" fmla="*/ 84 h 109"/>
                  <a:gd name="T66" fmla="*/ 10 w 75"/>
                  <a:gd name="T67" fmla="*/ 82 h 109"/>
                  <a:gd name="T68" fmla="*/ 65 w 75"/>
                  <a:gd name="T69" fmla="*/ 82 h 109"/>
                  <a:gd name="T70" fmla="*/ 65 w 75"/>
                  <a:gd name="T71" fmla="*/ 90 h 109"/>
                  <a:gd name="T72" fmla="*/ 35 w 75"/>
                  <a:gd name="T73" fmla="*/ 90 h 109"/>
                  <a:gd name="T74" fmla="*/ 35 w 75"/>
                  <a:gd name="T75" fmla="*/ 86 h 109"/>
                  <a:gd name="T76" fmla="*/ 15 w 75"/>
                  <a:gd name="T77" fmla="*/ 86 h 109"/>
                  <a:gd name="T78" fmla="*/ 15 w 75"/>
                  <a:gd name="T79" fmla="*/ 90 h 109"/>
                  <a:gd name="T80" fmla="*/ 10 w 75"/>
                  <a:gd name="T81" fmla="*/ 90 h 109"/>
                  <a:gd name="T82" fmla="*/ 10 w 75"/>
                  <a:gd name="T83" fmla="*/ 90 h 109"/>
                  <a:gd name="T84" fmla="*/ 10 w 75"/>
                  <a:gd name="T85" fmla="*/ 9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5" h="109">
                    <a:moveTo>
                      <a:pt x="19" y="108"/>
                    </a:moveTo>
                    <a:cubicBezTo>
                      <a:pt x="24" y="103"/>
                      <a:pt x="24" y="103"/>
                      <a:pt x="24" y="103"/>
                    </a:cubicBezTo>
                    <a:cubicBezTo>
                      <a:pt x="25" y="102"/>
                      <a:pt x="26" y="102"/>
                      <a:pt x="27" y="103"/>
                    </a:cubicBezTo>
                    <a:cubicBezTo>
                      <a:pt x="31" y="108"/>
                      <a:pt x="31" y="108"/>
                      <a:pt x="31" y="108"/>
                    </a:cubicBezTo>
                    <a:cubicBezTo>
                      <a:pt x="33" y="109"/>
                      <a:pt x="35" y="108"/>
                      <a:pt x="35" y="106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71" y="98"/>
                      <a:pt x="71" y="98"/>
                      <a:pt x="71" y="98"/>
                    </a:cubicBezTo>
                    <a:cubicBezTo>
                      <a:pt x="72" y="98"/>
                      <a:pt x="73" y="97"/>
                      <a:pt x="74" y="97"/>
                    </a:cubicBezTo>
                    <a:cubicBezTo>
                      <a:pt x="75" y="95"/>
                      <a:pt x="75" y="93"/>
                      <a:pt x="74" y="92"/>
                    </a:cubicBezTo>
                    <a:cubicBezTo>
                      <a:pt x="73" y="91"/>
                      <a:pt x="72" y="89"/>
                      <a:pt x="72" y="88"/>
                    </a:cubicBezTo>
                    <a:cubicBezTo>
                      <a:pt x="72" y="86"/>
                      <a:pt x="72" y="85"/>
                      <a:pt x="73" y="83"/>
                    </a:cubicBezTo>
                    <a:cubicBezTo>
                      <a:pt x="73" y="82"/>
                      <a:pt x="75" y="80"/>
                      <a:pt x="75" y="78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2"/>
                      <a:pt x="73" y="0"/>
                      <a:pt x="7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6"/>
                      <a:pt x="2" y="98"/>
                      <a:pt x="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15" y="108"/>
                      <a:pt x="18" y="109"/>
                      <a:pt x="19" y="108"/>
                    </a:cubicBezTo>
                    <a:close/>
                    <a:moveTo>
                      <a:pt x="15" y="10"/>
                    </a:moveTo>
                    <a:cubicBezTo>
                      <a:pt x="15" y="9"/>
                      <a:pt x="16" y="8"/>
                      <a:pt x="17" y="8"/>
                    </a:cubicBezTo>
                    <a:cubicBezTo>
                      <a:pt x="65" y="8"/>
                      <a:pt x="65" y="8"/>
                      <a:pt x="65" y="8"/>
                    </a:cubicBezTo>
                    <a:cubicBezTo>
                      <a:pt x="66" y="8"/>
                      <a:pt x="67" y="9"/>
                      <a:pt x="67" y="10"/>
                    </a:cubicBezTo>
                    <a:cubicBezTo>
                      <a:pt x="67" y="72"/>
                      <a:pt x="67" y="72"/>
                      <a:pt x="67" y="72"/>
                    </a:cubicBezTo>
                    <a:cubicBezTo>
                      <a:pt x="67" y="74"/>
                      <a:pt x="66" y="75"/>
                      <a:pt x="65" y="75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5"/>
                      <a:pt x="15" y="74"/>
                      <a:pt x="15" y="72"/>
                    </a:cubicBezTo>
                    <a:lnTo>
                      <a:pt x="15" y="10"/>
                    </a:lnTo>
                    <a:close/>
                    <a:moveTo>
                      <a:pt x="10" y="90"/>
                    </a:moveTo>
                    <a:cubicBezTo>
                      <a:pt x="9" y="90"/>
                      <a:pt x="8" y="90"/>
                      <a:pt x="8" y="88"/>
                    </a:cubicBezTo>
                    <a:cubicBezTo>
                      <a:pt x="8" y="84"/>
                      <a:pt x="8" y="84"/>
                      <a:pt x="8" y="84"/>
                    </a:cubicBezTo>
                    <a:cubicBezTo>
                      <a:pt x="8" y="83"/>
                      <a:pt x="9" y="82"/>
                      <a:pt x="10" y="82"/>
                    </a:cubicBezTo>
                    <a:cubicBezTo>
                      <a:pt x="65" y="82"/>
                      <a:pt x="65" y="82"/>
                      <a:pt x="65" y="82"/>
                    </a:cubicBezTo>
                    <a:cubicBezTo>
                      <a:pt x="64" y="85"/>
                      <a:pt x="65" y="88"/>
                      <a:pt x="65" y="90"/>
                    </a:cubicBezTo>
                    <a:cubicBezTo>
                      <a:pt x="35" y="90"/>
                      <a:pt x="35" y="90"/>
                      <a:pt x="35" y="90"/>
                    </a:cubicBezTo>
                    <a:cubicBezTo>
                      <a:pt x="35" y="86"/>
                      <a:pt x="35" y="86"/>
                      <a:pt x="35" y="86"/>
                    </a:cubicBezTo>
                    <a:cubicBezTo>
                      <a:pt x="15" y="86"/>
                      <a:pt x="15" y="86"/>
                      <a:pt x="15" y="86"/>
                    </a:cubicBezTo>
                    <a:cubicBezTo>
                      <a:pt x="15" y="90"/>
                      <a:pt x="15" y="90"/>
                      <a:pt x="15" y="90"/>
                    </a:cubicBezTo>
                    <a:lnTo>
                      <a:pt x="10" y="90"/>
                    </a:lnTo>
                    <a:close/>
                    <a:moveTo>
                      <a:pt x="10" y="90"/>
                    </a:moveTo>
                    <a:cubicBezTo>
                      <a:pt x="10" y="90"/>
                      <a:pt x="10" y="90"/>
                      <a:pt x="10" y="90"/>
                    </a:cubicBezTo>
                  </a:path>
                </a:pathLst>
              </a:custGeom>
              <a:solidFill>
                <a:srgbClr val="84B9EA"/>
              </a:solidFill>
              <a:ln>
                <a:noFill/>
              </a:ln>
              <a:effectLst/>
              <a:extLst/>
            </p:spPr>
            <p:txBody>
              <a:bodyPr wrap="none" lIns="0" tIns="0" rIns="0" bIns="0" anchor="ctr">
                <a:noAutofit/>
              </a:bodyPr>
              <a:lstStyle/>
              <a:p>
                <a:pPr algn="ctr" fontAlgn="base" latinLnBrk="0">
                  <a:buClr>
                    <a:srgbClr val="969696"/>
                  </a:buClr>
                </a:pPr>
                <a:endParaRPr lang="ko-KR" altLang="en-US" sz="100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  <p:sp>
        <p:nvSpPr>
          <p:cNvPr id="2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2.16. 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자료수집 및 등록관리 </a:t>
            </a:r>
            <a:r>
              <a:rPr lang="ko-KR" altLang="en-US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구축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2.16.1. </a:t>
            </a:r>
            <a:r>
              <a:rPr lang="ko-KR" altLang="en-US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등록 및 자료 다양성</a:t>
            </a:r>
            <a:r>
              <a:rPr lang="en-US" altLang="ko-KR" sz="1600" b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(1/2)</a:t>
            </a:r>
            <a:endParaRPr lang="en-US" altLang="ko-KR" sz="1600" b="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1010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dirty="0"/>
              <a:t>현재 내부 </a:t>
            </a:r>
            <a:r>
              <a:rPr lang="ko-KR" altLang="en-US" dirty="0" err="1"/>
              <a:t>고립망</a:t>
            </a:r>
            <a:r>
              <a:rPr lang="ko-KR" altLang="en-US" dirty="0"/>
              <a:t> 환경의 한계를 극복하고</a:t>
            </a:r>
            <a:r>
              <a:rPr lang="en-US" altLang="ko-KR" dirty="0"/>
              <a:t>, </a:t>
            </a:r>
            <a:r>
              <a:rPr lang="ko-KR" altLang="en-US" dirty="0"/>
              <a:t>현장 중심의 실시간 정보 수집 체계를 구축하여 공공 안전의 질적 향상을 달성하고자 한다</a:t>
            </a:r>
            <a:r>
              <a:rPr lang="en-US" altLang="ko-KR" dirty="0"/>
              <a:t>. </a:t>
            </a:r>
          </a:p>
          <a:p>
            <a:pPr algn="l"/>
            <a:endParaRPr lang="en-US" altLang="ko-KR" dirty="0" smtClean="0"/>
          </a:p>
          <a:p>
            <a:pPr algn="l"/>
            <a:r>
              <a:rPr lang="ko-KR" altLang="en-US" dirty="0" smtClean="0"/>
              <a:t>이를 </a:t>
            </a:r>
            <a:r>
              <a:rPr lang="ko-KR" altLang="en-US" dirty="0"/>
              <a:t>위해 자료 등록의 제약을 제거하고</a:t>
            </a:r>
            <a:r>
              <a:rPr lang="en-US" altLang="ko-KR" dirty="0"/>
              <a:t>, </a:t>
            </a:r>
            <a:r>
              <a:rPr lang="ko-KR" altLang="en-US" dirty="0"/>
              <a:t>다양한 등록 수단과 자료 유형을 지원하는 체제를 구축한다</a:t>
            </a:r>
            <a:r>
              <a:rPr lang="en-US" altLang="ko-KR" dirty="0"/>
              <a:t>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36651" y="2517948"/>
            <a:ext cx="6184698" cy="6827665"/>
            <a:chOff x="336651" y="2517948"/>
            <a:chExt cx="6184698" cy="6827665"/>
          </a:xfrm>
        </p:grpSpPr>
        <p:sp>
          <p:nvSpPr>
            <p:cNvPr id="18" name="직사각형 17"/>
            <p:cNvSpPr/>
            <p:nvPr/>
          </p:nvSpPr>
          <p:spPr>
            <a:xfrm>
              <a:off x="336651" y="2770361"/>
              <a:ext cx="6184698" cy="6575251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336651" y="2517948"/>
              <a:ext cx="6184698" cy="6827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346076" y="2559201"/>
            <a:ext cx="2539785" cy="197555"/>
            <a:chOff x="339726" y="2214106"/>
            <a:chExt cx="2539785" cy="197555"/>
          </a:xfrm>
        </p:grpSpPr>
        <p:sp>
          <p:nvSpPr>
            <p:cNvPr id="27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372444" cy="197555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현행 체계의 한계와 개선 필요성</a:t>
              </a:r>
              <a:endParaRPr lang="en-US" altLang="ko-KR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31" name="Rectangle 13"/>
          <p:cNvSpPr>
            <a:spLocks noChangeArrowheads="1"/>
          </p:cNvSpPr>
          <p:nvPr/>
        </p:nvSpPr>
        <p:spPr bwMode="gray">
          <a:xfrm>
            <a:off x="1844824" y="2974402"/>
            <a:ext cx="3149028" cy="270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600" kern="0" dirty="0" smtClean="0">
                <a:solidFill>
                  <a:srgbClr val="EB61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다양한 자료 유형 지원</a:t>
            </a:r>
            <a:endParaRPr lang="en-US" altLang="ko-KR" sz="1600" b="0" dirty="0">
              <a:solidFill>
                <a:prstClr val="black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749940" y="2978409"/>
            <a:ext cx="3351569" cy="112027"/>
            <a:chOff x="1753215" y="2773308"/>
            <a:chExt cx="3351569" cy="112027"/>
          </a:xfrm>
        </p:grpSpPr>
        <p:grpSp>
          <p:nvGrpSpPr>
            <p:cNvPr id="33" name="그룹 32"/>
            <p:cNvGrpSpPr/>
            <p:nvPr/>
          </p:nvGrpSpPr>
          <p:grpSpPr>
            <a:xfrm>
              <a:off x="1753215" y="2773308"/>
              <a:ext cx="167172" cy="112027"/>
              <a:chOff x="2083209" y="1553008"/>
              <a:chExt cx="167172" cy="112027"/>
            </a:xfrm>
          </p:grpSpPr>
          <p:sp>
            <p:nvSpPr>
              <p:cNvPr id="37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 rot="10800000">
              <a:off x="4937612" y="2773308"/>
              <a:ext cx="167172" cy="112027"/>
              <a:chOff x="2083209" y="1553008"/>
              <a:chExt cx="167172" cy="112027"/>
            </a:xfrm>
          </p:grpSpPr>
          <p:sp>
            <p:nvSpPr>
              <p:cNvPr id="35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7" name="TextBox 16"/>
          <p:cNvSpPr txBox="1"/>
          <p:nvPr/>
        </p:nvSpPr>
        <p:spPr>
          <a:xfrm>
            <a:off x="1345291" y="6548800"/>
            <a:ext cx="4986603" cy="136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 defTabSz="914400">
              <a:defRPr sz="1800"/>
            </a:lvl1pPr>
            <a:lvl2pPr marL="87313" lvl="1" indent="-87313" defTabSz="914400" latinLnBrk="0">
              <a:spcBef>
                <a:spcPts val="300"/>
              </a:spcBef>
              <a:buFontTx/>
              <a:buChar char="•"/>
              <a:defRPr sz="10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 marL="177800" lvl="2" indent="-85725" defTabSz="914400" latinLnBrk="0">
              <a:spcBef>
                <a:spcPts val="300"/>
              </a:spcBef>
              <a:buFont typeface="KoPub돋움체 Medium" panose="02020603020101020101" pitchFamily="18" charset="-127"/>
              <a:buChar char="-"/>
              <a:defRPr sz="9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실시간 정보 수집 및 처리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-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현장에서 즉시 데이터 등록 및 음성</a:t>
            </a: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/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동영상 등 다양한 데이터 분석으로 정확도 향상</a:t>
            </a:r>
            <a:endParaRPr lang="en-US" altLang="ko-KR" sz="90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보안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및 유연성 강화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VDI/VPN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환경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도입</a:t>
            </a: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,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물리적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장소 제약 해소 → 업무 연속성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보장</a:t>
            </a:r>
            <a:endParaRPr lang="en-US" altLang="ko-KR" sz="90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생산성 및 협업 효율화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모바일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/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태블릿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지원</a:t>
            </a: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, STT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자동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변환</a:t>
            </a: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  <a:endParaRPr lang="en-US" altLang="ko-KR" sz="90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데이터 기반 의사결정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실시간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데이터 대시보드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구축으로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공공 안전 정책 수립의 신뢰도 향상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  <a:endParaRPr lang="ko-KR" altLang="en-US" sz="90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99451" y="8305772"/>
            <a:ext cx="4986603" cy="800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 defTabSz="914400">
              <a:defRPr sz="1800"/>
            </a:lvl1pPr>
            <a:lvl2pPr marL="87313" lvl="1" indent="-87313" defTabSz="914400" latinLnBrk="0">
              <a:spcBef>
                <a:spcPts val="300"/>
              </a:spcBef>
              <a:buFontTx/>
              <a:buChar char="•"/>
              <a:defRPr sz="10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 marL="177800" lvl="2" indent="-85725" defTabSz="914400" latinLnBrk="0">
              <a:spcBef>
                <a:spcPts val="300"/>
              </a:spcBef>
              <a:buFont typeface="KoPub돋움체 Medium" panose="02020603020101020101" pitchFamily="18" charset="-127"/>
              <a:buChar char="-"/>
              <a:defRPr sz="9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VDI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및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VPN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환경 설정을 통한 원격 접근 체계 마련</a:t>
            </a:r>
            <a:r>
              <a:rPr lang="en-US" altLang="ko-KR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플랫폼 개발</a:t>
            </a:r>
            <a:endParaRPr lang="en-US" altLang="ko-KR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-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모바일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/</a:t>
            </a:r>
            <a:r>
              <a:rPr lang="ko-KR" altLang="en-US" sz="90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태블릿용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앱 개발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(iOS, Android, Windows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호환</a:t>
            </a: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).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- STT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및 이미지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/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동영상 처리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API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연동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(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예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Google Cloud Speech-to-Text, AWS </a:t>
            </a:r>
            <a:r>
              <a:rPr lang="en-US" altLang="ko-KR" sz="90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Rekognition</a:t>
            </a: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).</a:t>
            </a:r>
            <a:endParaRPr lang="ko-KR" altLang="en-US" sz="90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5287962" y="2270724"/>
            <a:ext cx="1230644" cy="198000"/>
            <a:chOff x="5287962" y="1441732"/>
            <a:chExt cx="1230644" cy="198000"/>
          </a:xfrm>
        </p:grpSpPr>
        <p:sp>
          <p:nvSpPr>
            <p:cNvPr id="8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86" name="직사각형 8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87" name="직사각형 86"/>
            <p:cNvSpPr/>
            <p:nvPr/>
          </p:nvSpPr>
          <p:spPr bwMode="gray">
            <a:xfrm>
              <a:off x="6004121" y="1471482"/>
              <a:ext cx="431207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900" dirty="0"/>
                <a:t>SFR-016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7438"/>
              </p:ext>
            </p:extLst>
          </p:nvPr>
        </p:nvGraphicFramePr>
        <p:xfrm>
          <a:off x="333376" y="3269664"/>
          <a:ext cx="6191249" cy="236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632">
                  <a:extLst>
                    <a:ext uri="{9D8B030D-6E8A-4147-A177-3AD203B41FA5}">
                      <a16:colId xmlns:a16="http://schemas.microsoft.com/office/drawing/2014/main" val="976765858"/>
                    </a:ext>
                  </a:extLst>
                </a:gridCol>
                <a:gridCol w="3023617">
                  <a:extLst>
                    <a:ext uri="{9D8B030D-6E8A-4147-A177-3AD203B41FA5}">
                      <a16:colId xmlns:a16="http://schemas.microsoft.com/office/drawing/2014/main" val="162804457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AS-IS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TO-BE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77816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정보 등록 방식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현재 내부 </a:t>
                      </a:r>
                      <a:r>
                        <a:rPr lang="ko-KR" altLang="en-US" sz="1000" kern="1200" spc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고립망의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사무실 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PC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에서 문자 정보만 등록하여 보고하는 체제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자료 등록 장소 제약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보안상의 이유로 기존 사무실에서만 등록 가능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현장 등록 불가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등록 수단 제한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: PC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에서만 등록 가능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노트북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모바일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패드 등 다양한 기기 사용 불가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자료 등록 종류 제한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지정된 양식의 텍스트만 입력 가능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음성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이미지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동영상 등 다양한 자료 등록 불가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정보 등록 방식 개선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: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최종 생산되는 정보의 질적 향상으로 실질적인 공공 안전을 달성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.</a:t>
                      </a:r>
                    </a:p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자료 등록 장소 제약 제거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: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보안상 기존 사무실에서만 등록 가능했던 제약을 제거하고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언제 어디서든 현장에서 바로 등록할 수 있도록 환경 제공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(VDI, VPN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환경 제공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).</a:t>
                      </a:r>
                    </a:p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다양한 등록 수단 제공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: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기존의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PC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에서만 등록하던 것을 노트북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모바일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패드 등 현장에서 즉시 등록 가능한 다양한 수단을 제공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.</a:t>
                      </a:r>
                    </a:p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다양한 종류의 자료 등록 가능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: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지정된 양식의 텍스트만 입력하던 것을 음성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문자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이미지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동영상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STT(Speech to Text)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등 다양한 종류의 자료를 바로 촬영하고 보고할 수 있는 체제 구축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.	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38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3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4" name="타원 51"/>
          <p:cNvSpPr/>
          <p:nvPr/>
        </p:nvSpPr>
        <p:spPr bwMode="gray">
          <a:xfrm>
            <a:off x="764704" y="3320396"/>
            <a:ext cx="1651198" cy="23428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162531" tIns="81264" rIns="162531" bIns="81264" rtlCol="0" anchor="ctr"/>
          <a:lstStyle/>
          <a:p>
            <a:pPr algn="ctr" defTabSz="914377"/>
            <a:endParaRPr lang="ko-KR" altLang="en-US" sz="10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5" name="타원형 설명선 44"/>
          <p:cNvSpPr/>
          <p:nvPr/>
        </p:nvSpPr>
        <p:spPr>
          <a:xfrm>
            <a:off x="2117701" y="5813136"/>
            <a:ext cx="2602082" cy="512517"/>
          </a:xfrm>
          <a:prstGeom prst="wedgeEllipseCallout">
            <a:avLst>
              <a:gd name="adj1" fmla="val -48946"/>
              <a:gd name="adj2" fmla="val -68954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형 설명선 45"/>
          <p:cNvSpPr/>
          <p:nvPr/>
        </p:nvSpPr>
        <p:spPr>
          <a:xfrm>
            <a:off x="1809411" y="2368538"/>
            <a:ext cx="3136708" cy="673602"/>
          </a:xfrm>
          <a:prstGeom prst="wedgeEllipseCallout">
            <a:avLst>
              <a:gd name="adj1" fmla="val -48719"/>
              <a:gd name="adj2" fmla="val 89666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51"/>
          <p:cNvSpPr/>
          <p:nvPr/>
        </p:nvSpPr>
        <p:spPr bwMode="gray">
          <a:xfrm>
            <a:off x="580588" y="7539520"/>
            <a:ext cx="5690270" cy="128329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162531" tIns="81264" rIns="162531" bIns="81264" rtlCol="0" anchor="ctr"/>
          <a:lstStyle/>
          <a:p>
            <a:pPr algn="ctr" defTabSz="914377"/>
            <a:endParaRPr lang="ko-KR" altLang="en-US" sz="10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8" name="Text Box 10"/>
          <p:cNvSpPr txBox="1">
            <a:spLocks noChangeArrowheads="1"/>
          </p:cNvSpPr>
          <p:nvPr/>
        </p:nvSpPr>
        <p:spPr bwMode="gray">
          <a:xfrm>
            <a:off x="333376" y="852176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latinLnBrk="0">
              <a:lnSpc>
                <a:spcPct val="140000"/>
              </a:lnSpc>
              <a:defRPr kumimoji="1" sz="1600" b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2.16.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견문 자료수집 및 등록관리 구축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ko-KR" dirty="0"/>
              <a:t>2.16.1. </a:t>
            </a:r>
            <a:r>
              <a:rPr lang="ko-KR" altLang="en-US" dirty="0"/>
              <a:t>견문 등록 및 자료 </a:t>
            </a:r>
            <a:r>
              <a:rPr lang="ko-KR" altLang="en-US" dirty="0" smtClean="0"/>
              <a:t>다양성</a:t>
            </a:r>
            <a:r>
              <a:rPr lang="en-US" altLang="ko-KR" dirty="0" smtClean="0"/>
              <a:t>(2/2)</a:t>
            </a:r>
            <a:endParaRPr lang="en-US" altLang="ko-KR" dirty="0"/>
          </a:p>
        </p:txBody>
      </p:sp>
      <p:sp>
        <p:nvSpPr>
          <p:cNvPr id="49" name="직사각형 48"/>
          <p:cNvSpPr/>
          <p:nvPr/>
        </p:nvSpPr>
        <p:spPr>
          <a:xfrm>
            <a:off x="336651" y="2027752"/>
            <a:ext cx="6184698" cy="731786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336651" y="1775337"/>
            <a:ext cx="6184698" cy="757027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346076" y="1797539"/>
            <a:ext cx="1677370" cy="203133"/>
            <a:chOff x="339726" y="2270532"/>
            <a:chExt cx="1677370" cy="203133"/>
          </a:xfrm>
        </p:grpSpPr>
        <p:sp>
          <p:nvSpPr>
            <p:cNvPr id="52" name="Text Box 79"/>
            <p:cNvSpPr txBox="1">
              <a:spLocks noChangeArrowheads="1"/>
            </p:cNvSpPr>
            <p:nvPr/>
          </p:nvSpPr>
          <p:spPr bwMode="gray">
            <a:xfrm>
              <a:off x="507067" y="2270532"/>
              <a:ext cx="1510029" cy="203133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자료 유형 지원 방안</a:t>
              </a:r>
              <a:endParaRPr lang="en-US" altLang="ko-KR" sz="1200" b="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3" name="Oval 472"/>
            <p:cNvSpPr>
              <a:spLocks noChangeArrowheads="1"/>
            </p:cNvSpPr>
            <p:nvPr/>
          </p:nvSpPr>
          <p:spPr bwMode="gray">
            <a:xfrm>
              <a:off x="339726" y="2329649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1317553" y="7846357"/>
            <a:ext cx="711364" cy="784823"/>
            <a:chOff x="786101" y="8170394"/>
            <a:chExt cx="711364" cy="784823"/>
          </a:xfrm>
        </p:grpSpPr>
        <p:sp>
          <p:nvSpPr>
            <p:cNvPr id="62" name="Freeform 684"/>
            <p:cNvSpPr>
              <a:spLocks/>
            </p:cNvSpPr>
            <p:nvPr/>
          </p:nvSpPr>
          <p:spPr bwMode="auto">
            <a:xfrm>
              <a:off x="786101" y="8625408"/>
              <a:ext cx="336854" cy="316742"/>
            </a:xfrm>
            <a:custGeom>
              <a:avLst/>
              <a:gdLst>
                <a:gd name="T0" fmla="*/ 114 w 115"/>
                <a:gd name="T1" fmla="*/ 91 h 108"/>
                <a:gd name="T2" fmla="*/ 101 w 115"/>
                <a:gd name="T3" fmla="*/ 82 h 108"/>
                <a:gd name="T4" fmla="*/ 83 w 115"/>
                <a:gd name="T5" fmla="*/ 75 h 108"/>
                <a:gd name="T6" fmla="*/ 78 w 115"/>
                <a:gd name="T7" fmla="*/ 73 h 108"/>
                <a:gd name="T8" fmla="*/ 73 w 115"/>
                <a:gd name="T9" fmla="*/ 65 h 108"/>
                <a:gd name="T10" fmla="*/ 70 w 115"/>
                <a:gd name="T11" fmla="*/ 65 h 108"/>
                <a:gd name="T12" fmla="*/ 73 w 115"/>
                <a:gd name="T13" fmla="*/ 59 h 108"/>
                <a:gd name="T14" fmla="*/ 74 w 115"/>
                <a:gd name="T15" fmla="*/ 51 h 108"/>
                <a:gd name="T16" fmla="*/ 78 w 115"/>
                <a:gd name="T17" fmla="*/ 48 h 108"/>
                <a:gd name="T18" fmla="*/ 80 w 115"/>
                <a:gd name="T19" fmla="*/ 44 h 108"/>
                <a:gd name="T20" fmla="*/ 79 w 115"/>
                <a:gd name="T21" fmla="*/ 35 h 108"/>
                <a:gd name="T22" fmla="*/ 78 w 115"/>
                <a:gd name="T23" fmla="*/ 32 h 108"/>
                <a:gd name="T24" fmla="*/ 79 w 115"/>
                <a:gd name="T25" fmla="*/ 21 h 108"/>
                <a:gd name="T26" fmla="*/ 78 w 115"/>
                <a:gd name="T27" fmla="*/ 12 h 108"/>
                <a:gd name="T28" fmla="*/ 75 w 115"/>
                <a:gd name="T29" fmla="*/ 8 h 108"/>
                <a:gd name="T30" fmla="*/ 71 w 115"/>
                <a:gd name="T31" fmla="*/ 7 h 108"/>
                <a:gd name="T32" fmla="*/ 69 w 115"/>
                <a:gd name="T33" fmla="*/ 5 h 108"/>
                <a:gd name="T34" fmla="*/ 44 w 115"/>
                <a:gd name="T35" fmla="*/ 6 h 108"/>
                <a:gd name="T36" fmla="*/ 35 w 115"/>
                <a:gd name="T37" fmla="*/ 31 h 108"/>
                <a:gd name="T38" fmla="*/ 34 w 115"/>
                <a:gd name="T39" fmla="*/ 37 h 108"/>
                <a:gd name="T40" fmla="*/ 37 w 115"/>
                <a:gd name="T41" fmla="*/ 49 h 108"/>
                <a:gd name="T42" fmla="*/ 40 w 115"/>
                <a:gd name="T43" fmla="*/ 50 h 108"/>
                <a:gd name="T44" fmla="*/ 41 w 115"/>
                <a:gd name="T45" fmla="*/ 59 h 108"/>
                <a:gd name="T46" fmla="*/ 44 w 115"/>
                <a:gd name="T47" fmla="*/ 65 h 108"/>
                <a:gd name="T48" fmla="*/ 42 w 115"/>
                <a:gd name="T49" fmla="*/ 65 h 108"/>
                <a:gd name="T50" fmla="*/ 37 w 115"/>
                <a:gd name="T51" fmla="*/ 73 h 108"/>
                <a:gd name="T52" fmla="*/ 32 w 115"/>
                <a:gd name="T53" fmla="*/ 75 h 108"/>
                <a:gd name="T54" fmla="*/ 14 w 115"/>
                <a:gd name="T55" fmla="*/ 82 h 108"/>
                <a:gd name="T56" fmla="*/ 0 w 115"/>
                <a:gd name="T57" fmla="*/ 91 h 108"/>
                <a:gd name="T58" fmla="*/ 0 w 115"/>
                <a:gd name="T59" fmla="*/ 108 h 108"/>
                <a:gd name="T60" fmla="*/ 50 w 115"/>
                <a:gd name="T61" fmla="*/ 108 h 108"/>
                <a:gd name="T62" fmla="*/ 54 w 115"/>
                <a:gd name="T63" fmla="*/ 83 h 108"/>
                <a:gd name="T64" fmla="*/ 51 w 115"/>
                <a:gd name="T65" fmla="*/ 77 h 108"/>
                <a:gd name="T66" fmla="*/ 58 w 115"/>
                <a:gd name="T67" fmla="*/ 73 h 108"/>
                <a:gd name="T68" fmla="*/ 64 w 115"/>
                <a:gd name="T69" fmla="*/ 77 h 108"/>
                <a:gd name="T70" fmla="*/ 61 w 115"/>
                <a:gd name="T71" fmla="*/ 83 h 108"/>
                <a:gd name="T72" fmla="*/ 67 w 115"/>
                <a:gd name="T73" fmla="*/ 108 h 108"/>
                <a:gd name="T74" fmla="*/ 115 w 115"/>
                <a:gd name="T75" fmla="*/ 108 h 108"/>
                <a:gd name="T76" fmla="*/ 114 w 115"/>
                <a:gd name="T77" fmla="*/ 9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5" h="108">
                  <a:moveTo>
                    <a:pt x="114" y="91"/>
                  </a:moveTo>
                  <a:cubicBezTo>
                    <a:pt x="112" y="85"/>
                    <a:pt x="106" y="85"/>
                    <a:pt x="101" y="82"/>
                  </a:cubicBezTo>
                  <a:cubicBezTo>
                    <a:pt x="95" y="80"/>
                    <a:pt x="89" y="77"/>
                    <a:pt x="83" y="75"/>
                  </a:cubicBezTo>
                  <a:cubicBezTo>
                    <a:pt x="81" y="74"/>
                    <a:pt x="80" y="74"/>
                    <a:pt x="78" y="73"/>
                  </a:cubicBezTo>
                  <a:cubicBezTo>
                    <a:pt x="76" y="72"/>
                    <a:pt x="74" y="68"/>
                    <a:pt x="73" y="65"/>
                  </a:cubicBezTo>
                  <a:cubicBezTo>
                    <a:pt x="72" y="65"/>
                    <a:pt x="71" y="65"/>
                    <a:pt x="70" y="65"/>
                  </a:cubicBezTo>
                  <a:cubicBezTo>
                    <a:pt x="70" y="61"/>
                    <a:pt x="72" y="61"/>
                    <a:pt x="73" y="59"/>
                  </a:cubicBezTo>
                  <a:cubicBezTo>
                    <a:pt x="74" y="56"/>
                    <a:pt x="73" y="53"/>
                    <a:pt x="74" y="51"/>
                  </a:cubicBezTo>
                  <a:cubicBezTo>
                    <a:pt x="75" y="50"/>
                    <a:pt x="77" y="50"/>
                    <a:pt x="78" y="48"/>
                  </a:cubicBezTo>
                  <a:cubicBezTo>
                    <a:pt x="79" y="47"/>
                    <a:pt x="79" y="45"/>
                    <a:pt x="80" y="44"/>
                  </a:cubicBezTo>
                  <a:cubicBezTo>
                    <a:pt x="80" y="41"/>
                    <a:pt x="80" y="38"/>
                    <a:pt x="79" y="35"/>
                  </a:cubicBezTo>
                  <a:cubicBezTo>
                    <a:pt x="78" y="33"/>
                    <a:pt x="78" y="33"/>
                    <a:pt x="78" y="32"/>
                  </a:cubicBezTo>
                  <a:cubicBezTo>
                    <a:pt x="78" y="29"/>
                    <a:pt x="78" y="22"/>
                    <a:pt x="79" y="21"/>
                  </a:cubicBezTo>
                  <a:cubicBezTo>
                    <a:pt x="79" y="17"/>
                    <a:pt x="78" y="16"/>
                    <a:pt x="78" y="12"/>
                  </a:cubicBezTo>
                  <a:cubicBezTo>
                    <a:pt x="78" y="12"/>
                    <a:pt x="76" y="9"/>
                    <a:pt x="75" y="8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59" y="0"/>
                    <a:pt x="50" y="3"/>
                    <a:pt x="44" y="6"/>
                  </a:cubicBezTo>
                  <a:cubicBezTo>
                    <a:pt x="37" y="8"/>
                    <a:pt x="32" y="15"/>
                    <a:pt x="35" y="31"/>
                  </a:cubicBezTo>
                  <a:cubicBezTo>
                    <a:pt x="36" y="34"/>
                    <a:pt x="34" y="35"/>
                    <a:pt x="34" y="37"/>
                  </a:cubicBezTo>
                  <a:cubicBezTo>
                    <a:pt x="34" y="40"/>
                    <a:pt x="34" y="48"/>
                    <a:pt x="37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3"/>
                    <a:pt x="41" y="56"/>
                    <a:pt x="41" y="59"/>
                  </a:cubicBezTo>
                  <a:cubicBezTo>
                    <a:pt x="42" y="62"/>
                    <a:pt x="43" y="62"/>
                    <a:pt x="44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1" y="68"/>
                    <a:pt x="39" y="72"/>
                    <a:pt x="37" y="73"/>
                  </a:cubicBezTo>
                  <a:cubicBezTo>
                    <a:pt x="35" y="74"/>
                    <a:pt x="33" y="74"/>
                    <a:pt x="32" y="75"/>
                  </a:cubicBezTo>
                  <a:cubicBezTo>
                    <a:pt x="26" y="77"/>
                    <a:pt x="20" y="80"/>
                    <a:pt x="14" y="82"/>
                  </a:cubicBezTo>
                  <a:cubicBezTo>
                    <a:pt x="9" y="85"/>
                    <a:pt x="2" y="85"/>
                    <a:pt x="0" y="91"/>
                  </a:cubicBezTo>
                  <a:cubicBezTo>
                    <a:pt x="0" y="95"/>
                    <a:pt x="0" y="103"/>
                    <a:pt x="0" y="108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7" y="108"/>
                    <a:pt x="67" y="108"/>
                    <a:pt x="67" y="108"/>
                  </a:cubicBezTo>
                  <a:cubicBezTo>
                    <a:pt x="115" y="108"/>
                    <a:pt x="115" y="108"/>
                    <a:pt x="115" y="108"/>
                  </a:cubicBezTo>
                  <a:cubicBezTo>
                    <a:pt x="115" y="103"/>
                    <a:pt x="114" y="95"/>
                    <a:pt x="114" y="91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3" name="Freeform 6"/>
            <p:cNvSpPr>
              <a:spLocks noEditPoints="1"/>
            </p:cNvSpPr>
            <p:nvPr/>
          </p:nvSpPr>
          <p:spPr bwMode="auto">
            <a:xfrm>
              <a:off x="1304764" y="8625408"/>
              <a:ext cx="192701" cy="329809"/>
            </a:xfrm>
            <a:custGeom>
              <a:avLst/>
              <a:gdLst>
                <a:gd name="T0" fmla="*/ 56 w 66"/>
                <a:gd name="T1" fmla="*/ 0 h 113"/>
                <a:gd name="T2" fmla="*/ 10 w 66"/>
                <a:gd name="T3" fmla="*/ 0 h 113"/>
                <a:gd name="T4" fmla="*/ 0 w 66"/>
                <a:gd name="T5" fmla="*/ 10 h 113"/>
                <a:gd name="T6" fmla="*/ 0 w 66"/>
                <a:gd name="T7" fmla="*/ 103 h 113"/>
                <a:gd name="T8" fmla="*/ 10 w 66"/>
                <a:gd name="T9" fmla="*/ 113 h 113"/>
                <a:gd name="T10" fmla="*/ 56 w 66"/>
                <a:gd name="T11" fmla="*/ 113 h 113"/>
                <a:gd name="T12" fmla="*/ 66 w 66"/>
                <a:gd name="T13" fmla="*/ 103 h 113"/>
                <a:gd name="T14" fmla="*/ 66 w 66"/>
                <a:gd name="T15" fmla="*/ 10 h 113"/>
                <a:gd name="T16" fmla="*/ 56 w 66"/>
                <a:gd name="T17" fmla="*/ 0 h 113"/>
                <a:gd name="T18" fmla="*/ 55 w 66"/>
                <a:gd name="T19" fmla="*/ 105 h 113"/>
                <a:gd name="T20" fmla="*/ 11 w 66"/>
                <a:gd name="T21" fmla="*/ 105 h 113"/>
                <a:gd name="T22" fmla="*/ 8 w 66"/>
                <a:gd name="T23" fmla="*/ 101 h 113"/>
                <a:gd name="T24" fmla="*/ 11 w 66"/>
                <a:gd name="T25" fmla="*/ 98 h 113"/>
                <a:gd name="T26" fmla="*/ 55 w 66"/>
                <a:gd name="T27" fmla="*/ 98 h 113"/>
                <a:gd name="T28" fmla="*/ 59 w 66"/>
                <a:gd name="T29" fmla="*/ 101 h 113"/>
                <a:gd name="T30" fmla="*/ 55 w 66"/>
                <a:gd name="T31" fmla="*/ 105 h 113"/>
                <a:gd name="T32" fmla="*/ 55 w 66"/>
                <a:gd name="T33" fmla="*/ 95 h 113"/>
                <a:gd name="T34" fmla="*/ 11 w 66"/>
                <a:gd name="T35" fmla="*/ 95 h 113"/>
                <a:gd name="T36" fmla="*/ 8 w 66"/>
                <a:gd name="T37" fmla="*/ 91 h 113"/>
                <a:gd name="T38" fmla="*/ 11 w 66"/>
                <a:gd name="T39" fmla="*/ 88 h 113"/>
                <a:gd name="T40" fmla="*/ 55 w 66"/>
                <a:gd name="T41" fmla="*/ 88 h 113"/>
                <a:gd name="T42" fmla="*/ 59 w 66"/>
                <a:gd name="T43" fmla="*/ 91 h 113"/>
                <a:gd name="T44" fmla="*/ 55 w 66"/>
                <a:gd name="T45" fmla="*/ 95 h 113"/>
                <a:gd name="T46" fmla="*/ 55 w 66"/>
                <a:gd name="T47" fmla="*/ 85 h 113"/>
                <a:gd name="T48" fmla="*/ 11 w 66"/>
                <a:gd name="T49" fmla="*/ 85 h 113"/>
                <a:gd name="T50" fmla="*/ 8 w 66"/>
                <a:gd name="T51" fmla="*/ 82 h 113"/>
                <a:gd name="T52" fmla="*/ 11 w 66"/>
                <a:gd name="T53" fmla="*/ 78 h 113"/>
                <a:gd name="T54" fmla="*/ 55 w 66"/>
                <a:gd name="T55" fmla="*/ 78 h 113"/>
                <a:gd name="T56" fmla="*/ 59 w 66"/>
                <a:gd name="T57" fmla="*/ 82 h 113"/>
                <a:gd name="T58" fmla="*/ 55 w 66"/>
                <a:gd name="T59" fmla="*/ 85 h 113"/>
                <a:gd name="T60" fmla="*/ 28 w 66"/>
                <a:gd name="T61" fmla="*/ 58 h 113"/>
                <a:gd name="T62" fmla="*/ 33 w 66"/>
                <a:gd name="T63" fmla="*/ 54 h 113"/>
                <a:gd name="T64" fmla="*/ 38 w 66"/>
                <a:gd name="T65" fmla="*/ 58 h 113"/>
                <a:gd name="T66" fmla="*/ 33 w 66"/>
                <a:gd name="T67" fmla="*/ 63 h 113"/>
                <a:gd name="T68" fmla="*/ 28 w 66"/>
                <a:gd name="T69" fmla="*/ 58 h 113"/>
                <a:gd name="T70" fmla="*/ 55 w 66"/>
                <a:gd name="T71" fmla="*/ 37 h 113"/>
                <a:gd name="T72" fmla="*/ 11 w 66"/>
                <a:gd name="T73" fmla="*/ 37 h 113"/>
                <a:gd name="T74" fmla="*/ 8 w 66"/>
                <a:gd name="T75" fmla="*/ 34 h 113"/>
                <a:gd name="T76" fmla="*/ 11 w 66"/>
                <a:gd name="T77" fmla="*/ 31 h 113"/>
                <a:gd name="T78" fmla="*/ 55 w 66"/>
                <a:gd name="T79" fmla="*/ 31 h 113"/>
                <a:gd name="T80" fmla="*/ 59 w 66"/>
                <a:gd name="T81" fmla="*/ 34 h 113"/>
                <a:gd name="T82" fmla="*/ 55 w 66"/>
                <a:gd name="T83" fmla="*/ 37 h 113"/>
                <a:gd name="T84" fmla="*/ 55 w 66"/>
                <a:gd name="T85" fmla="*/ 28 h 113"/>
                <a:gd name="T86" fmla="*/ 11 w 66"/>
                <a:gd name="T87" fmla="*/ 28 h 113"/>
                <a:gd name="T88" fmla="*/ 8 w 66"/>
                <a:gd name="T89" fmla="*/ 24 h 113"/>
                <a:gd name="T90" fmla="*/ 11 w 66"/>
                <a:gd name="T91" fmla="*/ 21 h 113"/>
                <a:gd name="T92" fmla="*/ 55 w 66"/>
                <a:gd name="T93" fmla="*/ 21 h 113"/>
                <a:gd name="T94" fmla="*/ 59 w 66"/>
                <a:gd name="T95" fmla="*/ 24 h 113"/>
                <a:gd name="T96" fmla="*/ 55 w 66"/>
                <a:gd name="T97" fmla="*/ 28 h 113"/>
                <a:gd name="T98" fmla="*/ 55 w 66"/>
                <a:gd name="T99" fmla="*/ 18 h 113"/>
                <a:gd name="T100" fmla="*/ 11 w 66"/>
                <a:gd name="T101" fmla="*/ 18 h 113"/>
                <a:gd name="T102" fmla="*/ 8 w 66"/>
                <a:gd name="T103" fmla="*/ 14 h 113"/>
                <a:gd name="T104" fmla="*/ 11 w 66"/>
                <a:gd name="T105" fmla="*/ 11 h 113"/>
                <a:gd name="T106" fmla="*/ 55 w 66"/>
                <a:gd name="T107" fmla="*/ 11 h 113"/>
                <a:gd name="T108" fmla="*/ 59 w 66"/>
                <a:gd name="T109" fmla="*/ 14 h 113"/>
                <a:gd name="T110" fmla="*/ 55 w 66"/>
                <a:gd name="T111" fmla="*/ 1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6" h="113">
                  <a:moveTo>
                    <a:pt x="56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9"/>
                    <a:pt x="5" y="113"/>
                    <a:pt x="10" y="113"/>
                  </a:cubicBezTo>
                  <a:cubicBezTo>
                    <a:pt x="56" y="113"/>
                    <a:pt x="56" y="113"/>
                    <a:pt x="56" y="113"/>
                  </a:cubicBezTo>
                  <a:cubicBezTo>
                    <a:pt x="62" y="113"/>
                    <a:pt x="66" y="109"/>
                    <a:pt x="66" y="103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lose/>
                  <a:moveTo>
                    <a:pt x="55" y="105"/>
                  </a:moveTo>
                  <a:cubicBezTo>
                    <a:pt x="11" y="105"/>
                    <a:pt x="11" y="105"/>
                    <a:pt x="11" y="105"/>
                  </a:cubicBezTo>
                  <a:cubicBezTo>
                    <a:pt x="9" y="105"/>
                    <a:pt x="8" y="103"/>
                    <a:pt x="8" y="101"/>
                  </a:cubicBezTo>
                  <a:cubicBezTo>
                    <a:pt x="8" y="99"/>
                    <a:pt x="9" y="98"/>
                    <a:pt x="11" y="98"/>
                  </a:cubicBezTo>
                  <a:cubicBezTo>
                    <a:pt x="55" y="98"/>
                    <a:pt x="55" y="98"/>
                    <a:pt x="55" y="98"/>
                  </a:cubicBezTo>
                  <a:cubicBezTo>
                    <a:pt x="57" y="98"/>
                    <a:pt x="59" y="99"/>
                    <a:pt x="59" y="101"/>
                  </a:cubicBezTo>
                  <a:cubicBezTo>
                    <a:pt x="59" y="103"/>
                    <a:pt x="57" y="105"/>
                    <a:pt x="55" y="105"/>
                  </a:cubicBezTo>
                  <a:close/>
                  <a:moveTo>
                    <a:pt x="55" y="95"/>
                  </a:moveTo>
                  <a:cubicBezTo>
                    <a:pt x="11" y="95"/>
                    <a:pt x="11" y="95"/>
                    <a:pt x="11" y="95"/>
                  </a:cubicBezTo>
                  <a:cubicBezTo>
                    <a:pt x="9" y="95"/>
                    <a:pt x="8" y="93"/>
                    <a:pt x="8" y="91"/>
                  </a:cubicBezTo>
                  <a:cubicBezTo>
                    <a:pt x="8" y="90"/>
                    <a:pt x="9" y="88"/>
                    <a:pt x="11" y="88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7" y="88"/>
                    <a:pt x="59" y="90"/>
                    <a:pt x="59" y="91"/>
                  </a:cubicBezTo>
                  <a:cubicBezTo>
                    <a:pt x="59" y="93"/>
                    <a:pt x="57" y="95"/>
                    <a:pt x="55" y="95"/>
                  </a:cubicBezTo>
                  <a:close/>
                  <a:moveTo>
                    <a:pt x="55" y="85"/>
                  </a:moveTo>
                  <a:cubicBezTo>
                    <a:pt x="11" y="85"/>
                    <a:pt x="11" y="85"/>
                    <a:pt x="11" y="85"/>
                  </a:cubicBezTo>
                  <a:cubicBezTo>
                    <a:pt x="9" y="85"/>
                    <a:pt x="8" y="83"/>
                    <a:pt x="8" y="82"/>
                  </a:cubicBezTo>
                  <a:cubicBezTo>
                    <a:pt x="8" y="80"/>
                    <a:pt x="9" y="78"/>
                    <a:pt x="11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57" y="78"/>
                    <a:pt x="59" y="80"/>
                    <a:pt x="59" y="82"/>
                  </a:cubicBezTo>
                  <a:cubicBezTo>
                    <a:pt x="59" y="83"/>
                    <a:pt x="57" y="85"/>
                    <a:pt x="55" y="85"/>
                  </a:cubicBezTo>
                  <a:close/>
                  <a:moveTo>
                    <a:pt x="28" y="58"/>
                  </a:moveTo>
                  <a:cubicBezTo>
                    <a:pt x="28" y="56"/>
                    <a:pt x="30" y="54"/>
                    <a:pt x="33" y="54"/>
                  </a:cubicBezTo>
                  <a:cubicBezTo>
                    <a:pt x="36" y="54"/>
                    <a:pt x="38" y="56"/>
                    <a:pt x="38" y="58"/>
                  </a:cubicBezTo>
                  <a:cubicBezTo>
                    <a:pt x="38" y="61"/>
                    <a:pt x="36" y="63"/>
                    <a:pt x="33" y="63"/>
                  </a:cubicBezTo>
                  <a:cubicBezTo>
                    <a:pt x="30" y="63"/>
                    <a:pt x="28" y="61"/>
                    <a:pt x="28" y="58"/>
                  </a:cubicBezTo>
                  <a:close/>
                  <a:moveTo>
                    <a:pt x="55" y="37"/>
                  </a:moveTo>
                  <a:cubicBezTo>
                    <a:pt x="11" y="37"/>
                    <a:pt x="11" y="37"/>
                    <a:pt x="11" y="37"/>
                  </a:cubicBezTo>
                  <a:cubicBezTo>
                    <a:pt x="9" y="37"/>
                    <a:pt x="8" y="36"/>
                    <a:pt x="8" y="34"/>
                  </a:cubicBezTo>
                  <a:cubicBezTo>
                    <a:pt x="8" y="32"/>
                    <a:pt x="9" y="31"/>
                    <a:pt x="11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7" y="31"/>
                    <a:pt x="59" y="32"/>
                    <a:pt x="59" y="34"/>
                  </a:cubicBezTo>
                  <a:cubicBezTo>
                    <a:pt x="59" y="36"/>
                    <a:pt x="57" y="37"/>
                    <a:pt x="55" y="37"/>
                  </a:cubicBezTo>
                  <a:close/>
                  <a:moveTo>
                    <a:pt x="55" y="28"/>
                  </a:moveTo>
                  <a:cubicBezTo>
                    <a:pt x="11" y="28"/>
                    <a:pt x="11" y="28"/>
                    <a:pt x="11" y="28"/>
                  </a:cubicBezTo>
                  <a:cubicBezTo>
                    <a:pt x="9" y="28"/>
                    <a:pt x="8" y="26"/>
                    <a:pt x="8" y="24"/>
                  </a:cubicBezTo>
                  <a:cubicBezTo>
                    <a:pt x="8" y="22"/>
                    <a:pt x="9" y="21"/>
                    <a:pt x="11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7" y="21"/>
                    <a:pt x="59" y="22"/>
                    <a:pt x="59" y="24"/>
                  </a:cubicBezTo>
                  <a:cubicBezTo>
                    <a:pt x="59" y="26"/>
                    <a:pt x="57" y="28"/>
                    <a:pt x="55" y="28"/>
                  </a:cubicBezTo>
                  <a:close/>
                  <a:moveTo>
                    <a:pt x="55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9" y="18"/>
                    <a:pt x="8" y="16"/>
                    <a:pt x="8" y="14"/>
                  </a:cubicBezTo>
                  <a:cubicBezTo>
                    <a:pt x="8" y="13"/>
                    <a:pt x="9" y="11"/>
                    <a:pt x="11" y="1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7" y="11"/>
                    <a:pt x="59" y="13"/>
                    <a:pt x="59" y="14"/>
                  </a:cubicBezTo>
                  <a:cubicBezTo>
                    <a:pt x="59" y="16"/>
                    <a:pt x="57" y="18"/>
                    <a:pt x="55" y="18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4" name="Freeform 2312"/>
            <p:cNvSpPr>
              <a:spLocks noEditPoints="1"/>
            </p:cNvSpPr>
            <p:nvPr/>
          </p:nvSpPr>
          <p:spPr bwMode="auto">
            <a:xfrm>
              <a:off x="822214" y="8170394"/>
              <a:ext cx="601481" cy="437902"/>
            </a:xfrm>
            <a:custGeom>
              <a:avLst/>
              <a:gdLst>
                <a:gd name="T0" fmla="*/ 831 w 831"/>
                <a:gd name="T1" fmla="*/ 511 h 605"/>
                <a:gd name="T2" fmla="*/ 831 w 831"/>
                <a:gd name="T3" fmla="*/ 0 h 605"/>
                <a:gd name="T4" fmla="*/ 0 w 831"/>
                <a:gd name="T5" fmla="*/ 0 h 605"/>
                <a:gd name="T6" fmla="*/ 0 w 831"/>
                <a:gd name="T7" fmla="*/ 511 h 605"/>
                <a:gd name="T8" fmla="*/ 396 w 831"/>
                <a:gd name="T9" fmla="*/ 511 h 605"/>
                <a:gd name="T10" fmla="*/ 396 w 831"/>
                <a:gd name="T11" fmla="*/ 568 h 605"/>
                <a:gd name="T12" fmla="*/ 155 w 831"/>
                <a:gd name="T13" fmla="*/ 585 h 605"/>
                <a:gd name="T14" fmla="*/ 145 w 831"/>
                <a:gd name="T15" fmla="*/ 605 h 605"/>
                <a:gd name="T16" fmla="*/ 416 w 831"/>
                <a:gd name="T17" fmla="*/ 595 h 605"/>
                <a:gd name="T18" fmla="*/ 687 w 831"/>
                <a:gd name="T19" fmla="*/ 605 h 605"/>
                <a:gd name="T20" fmla="*/ 677 w 831"/>
                <a:gd name="T21" fmla="*/ 585 h 605"/>
                <a:gd name="T22" fmla="*/ 436 w 831"/>
                <a:gd name="T23" fmla="*/ 568 h 605"/>
                <a:gd name="T24" fmla="*/ 436 w 831"/>
                <a:gd name="T25" fmla="*/ 511 h 605"/>
                <a:gd name="T26" fmla="*/ 831 w 831"/>
                <a:gd name="T27" fmla="*/ 511 h 605"/>
                <a:gd name="T28" fmla="*/ 30 w 831"/>
                <a:gd name="T29" fmla="*/ 482 h 605"/>
                <a:gd name="T30" fmla="*/ 30 w 831"/>
                <a:gd name="T31" fmla="*/ 29 h 605"/>
                <a:gd name="T32" fmla="*/ 801 w 831"/>
                <a:gd name="T33" fmla="*/ 29 h 605"/>
                <a:gd name="T34" fmla="*/ 801 w 831"/>
                <a:gd name="T35" fmla="*/ 482 h 605"/>
                <a:gd name="T36" fmla="*/ 30 w 831"/>
                <a:gd name="T37" fmla="*/ 482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1" h="605">
                  <a:moveTo>
                    <a:pt x="831" y="511"/>
                  </a:moveTo>
                  <a:lnTo>
                    <a:pt x="831" y="0"/>
                  </a:lnTo>
                  <a:lnTo>
                    <a:pt x="0" y="0"/>
                  </a:lnTo>
                  <a:lnTo>
                    <a:pt x="0" y="511"/>
                  </a:lnTo>
                  <a:lnTo>
                    <a:pt x="396" y="511"/>
                  </a:lnTo>
                  <a:lnTo>
                    <a:pt x="396" y="568"/>
                  </a:lnTo>
                  <a:lnTo>
                    <a:pt x="155" y="585"/>
                  </a:lnTo>
                  <a:lnTo>
                    <a:pt x="145" y="605"/>
                  </a:lnTo>
                  <a:lnTo>
                    <a:pt x="416" y="595"/>
                  </a:lnTo>
                  <a:lnTo>
                    <a:pt x="687" y="605"/>
                  </a:lnTo>
                  <a:lnTo>
                    <a:pt x="677" y="585"/>
                  </a:lnTo>
                  <a:lnTo>
                    <a:pt x="436" y="568"/>
                  </a:lnTo>
                  <a:lnTo>
                    <a:pt x="436" y="511"/>
                  </a:lnTo>
                  <a:lnTo>
                    <a:pt x="831" y="511"/>
                  </a:lnTo>
                  <a:close/>
                  <a:moveTo>
                    <a:pt x="30" y="482"/>
                  </a:moveTo>
                  <a:lnTo>
                    <a:pt x="30" y="29"/>
                  </a:lnTo>
                  <a:lnTo>
                    <a:pt x="801" y="29"/>
                  </a:lnTo>
                  <a:lnTo>
                    <a:pt x="801" y="482"/>
                  </a:lnTo>
                  <a:lnTo>
                    <a:pt x="30" y="48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65" name="왼쪽 화살표 64"/>
          <p:cNvSpPr/>
          <p:nvPr/>
        </p:nvSpPr>
        <p:spPr bwMode="gray">
          <a:xfrm rot="16200000" flipH="1">
            <a:off x="3125748" y="6854160"/>
            <a:ext cx="648074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4870653" y="7994330"/>
            <a:ext cx="322543" cy="373679"/>
            <a:chOff x="1482725" y="6569980"/>
            <a:chExt cx="130175" cy="150813"/>
          </a:xfrm>
        </p:grpSpPr>
        <p:sp>
          <p:nvSpPr>
            <p:cNvPr id="67" name="Freeform 1684"/>
            <p:cNvSpPr>
              <a:spLocks noEditPoints="1"/>
            </p:cNvSpPr>
            <p:nvPr/>
          </p:nvSpPr>
          <p:spPr bwMode="auto">
            <a:xfrm>
              <a:off x="1536700" y="6569980"/>
              <a:ext cx="76200" cy="150813"/>
            </a:xfrm>
            <a:custGeom>
              <a:avLst/>
              <a:gdLst>
                <a:gd name="T0" fmla="*/ 71 w 82"/>
                <a:gd name="T1" fmla="*/ 2 h 162"/>
                <a:gd name="T2" fmla="*/ 9 w 82"/>
                <a:gd name="T3" fmla="*/ 2 h 162"/>
                <a:gd name="T4" fmla="*/ 0 w 82"/>
                <a:gd name="T5" fmla="*/ 19 h 162"/>
                <a:gd name="T6" fmla="*/ 80 w 82"/>
                <a:gd name="T7" fmla="*/ 162 h 162"/>
                <a:gd name="T8" fmla="*/ 80 w 82"/>
                <a:gd name="T9" fmla="*/ 17 h 162"/>
                <a:gd name="T10" fmla="*/ 54 w 82"/>
                <a:gd name="T11" fmla="*/ 13 h 162"/>
                <a:gd name="T12" fmla="*/ 33 w 82"/>
                <a:gd name="T13" fmla="*/ 4 h 162"/>
                <a:gd name="T14" fmla="*/ 33 w 82"/>
                <a:gd name="T15" fmla="*/ 13 h 162"/>
                <a:gd name="T16" fmla="*/ 10 w 82"/>
                <a:gd name="T17" fmla="*/ 111 h 162"/>
                <a:gd name="T18" fmla="*/ 21 w 82"/>
                <a:gd name="T19" fmla="*/ 111 h 162"/>
                <a:gd name="T20" fmla="*/ 10 w 82"/>
                <a:gd name="T21" fmla="*/ 81 h 162"/>
                <a:gd name="T22" fmla="*/ 21 w 82"/>
                <a:gd name="T23" fmla="*/ 74 h 162"/>
                <a:gd name="T24" fmla="*/ 21 w 82"/>
                <a:gd name="T25" fmla="*/ 62 h 162"/>
                <a:gd name="T26" fmla="*/ 10 w 82"/>
                <a:gd name="T27" fmla="*/ 56 h 162"/>
                <a:gd name="T28" fmla="*/ 21 w 82"/>
                <a:gd name="T29" fmla="*/ 56 h 162"/>
                <a:gd name="T30" fmla="*/ 10 w 82"/>
                <a:gd name="T31" fmla="*/ 26 h 162"/>
                <a:gd name="T32" fmla="*/ 22 w 82"/>
                <a:gd name="T33" fmla="*/ 13 h 162"/>
                <a:gd name="T34" fmla="*/ 22 w 82"/>
                <a:gd name="T35" fmla="*/ 4 h 162"/>
                <a:gd name="T36" fmla="*/ 30 w 82"/>
                <a:gd name="T37" fmla="*/ 4 h 162"/>
                <a:gd name="T38" fmla="*/ 25 w 82"/>
                <a:gd name="T39" fmla="*/ 4 h 162"/>
                <a:gd name="T40" fmla="*/ 27 w 82"/>
                <a:gd name="T41" fmla="*/ 99 h 162"/>
                <a:gd name="T42" fmla="*/ 38 w 82"/>
                <a:gd name="T43" fmla="*/ 92 h 162"/>
                <a:gd name="T44" fmla="*/ 38 w 82"/>
                <a:gd name="T45" fmla="*/ 81 h 162"/>
                <a:gd name="T46" fmla="*/ 27 w 82"/>
                <a:gd name="T47" fmla="*/ 74 h 162"/>
                <a:gd name="T48" fmla="*/ 38 w 82"/>
                <a:gd name="T49" fmla="*/ 74 h 162"/>
                <a:gd name="T50" fmla="*/ 27 w 82"/>
                <a:gd name="T51" fmla="*/ 44 h 162"/>
                <a:gd name="T52" fmla="*/ 38 w 82"/>
                <a:gd name="T53" fmla="*/ 37 h 162"/>
                <a:gd name="T54" fmla="*/ 38 w 82"/>
                <a:gd name="T55" fmla="*/ 26 h 162"/>
                <a:gd name="T56" fmla="*/ 46 w 82"/>
                <a:gd name="T57" fmla="*/ 4 h 162"/>
                <a:gd name="T58" fmla="*/ 41 w 82"/>
                <a:gd name="T59" fmla="*/ 4 h 162"/>
                <a:gd name="T60" fmla="*/ 44 w 82"/>
                <a:gd name="T61" fmla="*/ 99 h 162"/>
                <a:gd name="T62" fmla="*/ 55 w 82"/>
                <a:gd name="T63" fmla="*/ 92 h 162"/>
                <a:gd name="T64" fmla="*/ 55 w 82"/>
                <a:gd name="T65" fmla="*/ 81 h 162"/>
                <a:gd name="T66" fmla="*/ 44 w 82"/>
                <a:gd name="T67" fmla="*/ 74 h 162"/>
                <a:gd name="T68" fmla="*/ 55 w 82"/>
                <a:gd name="T69" fmla="*/ 74 h 162"/>
                <a:gd name="T70" fmla="*/ 44 w 82"/>
                <a:gd name="T71" fmla="*/ 44 h 162"/>
                <a:gd name="T72" fmla="*/ 55 w 82"/>
                <a:gd name="T73" fmla="*/ 37 h 162"/>
                <a:gd name="T74" fmla="*/ 55 w 82"/>
                <a:gd name="T75" fmla="*/ 26 h 162"/>
                <a:gd name="T76" fmla="*/ 62 w 82"/>
                <a:gd name="T77" fmla="*/ 4 h 162"/>
                <a:gd name="T78" fmla="*/ 58 w 82"/>
                <a:gd name="T79" fmla="*/ 4 h 162"/>
                <a:gd name="T80" fmla="*/ 61 w 82"/>
                <a:gd name="T81" fmla="*/ 99 h 162"/>
                <a:gd name="T82" fmla="*/ 72 w 82"/>
                <a:gd name="T83" fmla="*/ 92 h 162"/>
                <a:gd name="T84" fmla="*/ 72 w 82"/>
                <a:gd name="T85" fmla="*/ 81 h 162"/>
                <a:gd name="T86" fmla="*/ 61 w 82"/>
                <a:gd name="T87" fmla="*/ 74 h 162"/>
                <a:gd name="T88" fmla="*/ 72 w 82"/>
                <a:gd name="T89" fmla="*/ 74 h 162"/>
                <a:gd name="T90" fmla="*/ 61 w 82"/>
                <a:gd name="T91" fmla="*/ 44 h 162"/>
                <a:gd name="T92" fmla="*/ 72 w 82"/>
                <a:gd name="T93" fmla="*/ 37 h 162"/>
                <a:gd name="T94" fmla="*/ 72 w 82"/>
                <a:gd name="T95" fmla="*/ 2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2" h="162">
                  <a:moveTo>
                    <a:pt x="80" y="17"/>
                  </a:moveTo>
                  <a:cubicBezTo>
                    <a:pt x="71" y="17"/>
                    <a:pt x="71" y="17"/>
                    <a:pt x="71" y="17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0" y="0"/>
                    <a:pt x="6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1"/>
                    <a:pt x="9" y="2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7"/>
                    <a:pt x="0" y="18"/>
                    <a:pt x="0" y="1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60"/>
                    <a:pt x="1" y="162"/>
                    <a:pt x="2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1" y="162"/>
                    <a:pt x="82" y="160"/>
                    <a:pt x="82" y="15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8"/>
                    <a:pt x="81" y="17"/>
                    <a:pt x="80" y="17"/>
                  </a:cubicBezTo>
                  <a:close/>
                  <a:moveTo>
                    <a:pt x="50" y="4"/>
                  </a:moveTo>
                  <a:cubicBezTo>
                    <a:pt x="54" y="4"/>
                    <a:pt x="54" y="4"/>
                    <a:pt x="54" y="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0" y="13"/>
                    <a:pt x="50" y="13"/>
                    <a:pt x="50" y="13"/>
                  </a:cubicBezTo>
                  <a:lnTo>
                    <a:pt x="50" y="4"/>
                  </a:lnTo>
                  <a:close/>
                  <a:moveTo>
                    <a:pt x="33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3" y="13"/>
                    <a:pt x="33" y="13"/>
                    <a:pt x="33" y="13"/>
                  </a:cubicBezTo>
                  <a:lnTo>
                    <a:pt x="33" y="4"/>
                  </a:lnTo>
                  <a:close/>
                  <a:moveTo>
                    <a:pt x="21" y="111"/>
                  </a:moveTo>
                  <a:cubicBezTo>
                    <a:pt x="10" y="111"/>
                    <a:pt x="10" y="111"/>
                    <a:pt x="10" y="111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21" y="99"/>
                    <a:pt x="21" y="99"/>
                    <a:pt x="21" y="99"/>
                  </a:cubicBezTo>
                  <a:lnTo>
                    <a:pt x="21" y="111"/>
                  </a:lnTo>
                  <a:close/>
                  <a:moveTo>
                    <a:pt x="21" y="92"/>
                  </a:moveTo>
                  <a:cubicBezTo>
                    <a:pt x="10" y="92"/>
                    <a:pt x="10" y="92"/>
                    <a:pt x="10" y="92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21" y="81"/>
                    <a:pt x="21" y="81"/>
                    <a:pt x="21" y="81"/>
                  </a:cubicBezTo>
                  <a:lnTo>
                    <a:pt x="21" y="92"/>
                  </a:lnTo>
                  <a:close/>
                  <a:moveTo>
                    <a:pt x="21" y="74"/>
                  </a:moveTo>
                  <a:cubicBezTo>
                    <a:pt x="10" y="74"/>
                    <a:pt x="10" y="74"/>
                    <a:pt x="10" y="74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21" y="62"/>
                    <a:pt x="21" y="62"/>
                    <a:pt x="21" y="62"/>
                  </a:cubicBezTo>
                  <a:lnTo>
                    <a:pt x="21" y="74"/>
                  </a:lnTo>
                  <a:close/>
                  <a:moveTo>
                    <a:pt x="21" y="56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1" y="56"/>
                  </a:lnTo>
                  <a:close/>
                  <a:moveTo>
                    <a:pt x="21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21" y="26"/>
                    <a:pt x="21" y="26"/>
                    <a:pt x="21" y="26"/>
                  </a:cubicBezTo>
                  <a:lnTo>
                    <a:pt x="21" y="37"/>
                  </a:lnTo>
                  <a:close/>
                  <a:moveTo>
                    <a:pt x="22" y="13"/>
                  </a:moveTo>
                  <a:cubicBezTo>
                    <a:pt x="17" y="13"/>
                    <a:pt x="17" y="13"/>
                    <a:pt x="17" y="1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2" y="4"/>
                    <a:pt x="22" y="4"/>
                    <a:pt x="22" y="4"/>
                  </a:cubicBezTo>
                  <a:lnTo>
                    <a:pt x="22" y="13"/>
                  </a:lnTo>
                  <a:close/>
                  <a:moveTo>
                    <a:pt x="25" y="4"/>
                  </a:moveTo>
                  <a:cubicBezTo>
                    <a:pt x="30" y="4"/>
                    <a:pt x="30" y="4"/>
                    <a:pt x="30" y="4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5" y="13"/>
                    <a:pt x="25" y="13"/>
                    <a:pt x="25" y="13"/>
                  </a:cubicBezTo>
                  <a:lnTo>
                    <a:pt x="25" y="4"/>
                  </a:lnTo>
                  <a:close/>
                  <a:moveTo>
                    <a:pt x="38" y="111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38" y="99"/>
                    <a:pt x="38" y="99"/>
                    <a:pt x="38" y="99"/>
                  </a:cubicBezTo>
                  <a:lnTo>
                    <a:pt x="38" y="111"/>
                  </a:lnTo>
                  <a:close/>
                  <a:moveTo>
                    <a:pt x="38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38" y="81"/>
                    <a:pt x="38" y="81"/>
                    <a:pt x="38" y="81"/>
                  </a:cubicBezTo>
                  <a:lnTo>
                    <a:pt x="38" y="92"/>
                  </a:lnTo>
                  <a:close/>
                  <a:moveTo>
                    <a:pt x="38" y="74"/>
                  </a:moveTo>
                  <a:cubicBezTo>
                    <a:pt x="27" y="74"/>
                    <a:pt x="27" y="74"/>
                    <a:pt x="27" y="74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38" y="62"/>
                    <a:pt x="38" y="62"/>
                    <a:pt x="38" y="62"/>
                  </a:cubicBezTo>
                  <a:lnTo>
                    <a:pt x="38" y="74"/>
                  </a:lnTo>
                  <a:close/>
                  <a:moveTo>
                    <a:pt x="38" y="56"/>
                  </a:moveTo>
                  <a:cubicBezTo>
                    <a:pt x="27" y="56"/>
                    <a:pt x="27" y="56"/>
                    <a:pt x="27" y="56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38" y="44"/>
                    <a:pt x="38" y="44"/>
                    <a:pt x="38" y="44"/>
                  </a:cubicBezTo>
                  <a:lnTo>
                    <a:pt x="38" y="56"/>
                  </a:lnTo>
                  <a:close/>
                  <a:moveTo>
                    <a:pt x="38" y="37"/>
                  </a:moveTo>
                  <a:cubicBezTo>
                    <a:pt x="27" y="37"/>
                    <a:pt x="27" y="37"/>
                    <a:pt x="27" y="37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38" y="26"/>
                    <a:pt x="38" y="26"/>
                    <a:pt x="38" y="26"/>
                  </a:cubicBezTo>
                  <a:lnTo>
                    <a:pt x="38" y="37"/>
                  </a:lnTo>
                  <a:close/>
                  <a:moveTo>
                    <a:pt x="41" y="4"/>
                  </a:moveTo>
                  <a:cubicBezTo>
                    <a:pt x="46" y="4"/>
                    <a:pt x="46" y="4"/>
                    <a:pt x="46" y="4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1" y="4"/>
                  </a:lnTo>
                  <a:close/>
                  <a:moveTo>
                    <a:pt x="55" y="111"/>
                  </a:moveTo>
                  <a:cubicBezTo>
                    <a:pt x="44" y="111"/>
                    <a:pt x="44" y="111"/>
                    <a:pt x="44" y="111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55" y="99"/>
                    <a:pt x="55" y="99"/>
                    <a:pt x="55" y="99"/>
                  </a:cubicBezTo>
                  <a:lnTo>
                    <a:pt x="55" y="111"/>
                  </a:lnTo>
                  <a:close/>
                  <a:moveTo>
                    <a:pt x="55" y="92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55" y="81"/>
                    <a:pt x="55" y="81"/>
                    <a:pt x="55" y="81"/>
                  </a:cubicBezTo>
                  <a:lnTo>
                    <a:pt x="55" y="92"/>
                  </a:lnTo>
                  <a:close/>
                  <a:moveTo>
                    <a:pt x="55" y="74"/>
                  </a:moveTo>
                  <a:cubicBezTo>
                    <a:pt x="44" y="74"/>
                    <a:pt x="44" y="74"/>
                    <a:pt x="44" y="74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55" y="62"/>
                    <a:pt x="55" y="62"/>
                    <a:pt x="55" y="62"/>
                  </a:cubicBezTo>
                  <a:lnTo>
                    <a:pt x="55" y="74"/>
                  </a:lnTo>
                  <a:close/>
                  <a:moveTo>
                    <a:pt x="55" y="56"/>
                  </a:moveTo>
                  <a:cubicBezTo>
                    <a:pt x="44" y="56"/>
                    <a:pt x="44" y="56"/>
                    <a:pt x="44" y="5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55" y="44"/>
                    <a:pt x="55" y="44"/>
                    <a:pt x="55" y="44"/>
                  </a:cubicBezTo>
                  <a:lnTo>
                    <a:pt x="55" y="56"/>
                  </a:lnTo>
                  <a:close/>
                  <a:moveTo>
                    <a:pt x="55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55" y="26"/>
                    <a:pt x="55" y="26"/>
                    <a:pt x="55" y="26"/>
                  </a:cubicBezTo>
                  <a:lnTo>
                    <a:pt x="55" y="37"/>
                  </a:lnTo>
                  <a:close/>
                  <a:moveTo>
                    <a:pt x="58" y="4"/>
                  </a:moveTo>
                  <a:cubicBezTo>
                    <a:pt x="62" y="4"/>
                    <a:pt x="62" y="4"/>
                    <a:pt x="62" y="4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58" y="13"/>
                    <a:pt x="58" y="13"/>
                    <a:pt x="58" y="13"/>
                  </a:cubicBezTo>
                  <a:lnTo>
                    <a:pt x="58" y="4"/>
                  </a:lnTo>
                  <a:close/>
                  <a:moveTo>
                    <a:pt x="72" y="111"/>
                  </a:moveTo>
                  <a:cubicBezTo>
                    <a:pt x="61" y="111"/>
                    <a:pt x="61" y="111"/>
                    <a:pt x="61" y="111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72" y="99"/>
                    <a:pt x="72" y="99"/>
                    <a:pt x="72" y="99"/>
                  </a:cubicBezTo>
                  <a:lnTo>
                    <a:pt x="72" y="111"/>
                  </a:lnTo>
                  <a:close/>
                  <a:moveTo>
                    <a:pt x="72" y="92"/>
                  </a:moveTo>
                  <a:cubicBezTo>
                    <a:pt x="61" y="92"/>
                    <a:pt x="61" y="92"/>
                    <a:pt x="61" y="92"/>
                  </a:cubicBezTo>
                  <a:cubicBezTo>
                    <a:pt x="61" y="81"/>
                    <a:pt x="61" y="81"/>
                    <a:pt x="61" y="81"/>
                  </a:cubicBezTo>
                  <a:cubicBezTo>
                    <a:pt x="72" y="81"/>
                    <a:pt x="72" y="81"/>
                    <a:pt x="72" y="81"/>
                  </a:cubicBezTo>
                  <a:lnTo>
                    <a:pt x="72" y="92"/>
                  </a:lnTo>
                  <a:close/>
                  <a:moveTo>
                    <a:pt x="72" y="74"/>
                  </a:moveTo>
                  <a:cubicBezTo>
                    <a:pt x="61" y="74"/>
                    <a:pt x="61" y="74"/>
                    <a:pt x="61" y="74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72" y="62"/>
                    <a:pt x="72" y="62"/>
                    <a:pt x="72" y="62"/>
                  </a:cubicBezTo>
                  <a:lnTo>
                    <a:pt x="72" y="74"/>
                  </a:lnTo>
                  <a:close/>
                  <a:moveTo>
                    <a:pt x="72" y="56"/>
                  </a:moveTo>
                  <a:cubicBezTo>
                    <a:pt x="61" y="56"/>
                    <a:pt x="61" y="56"/>
                    <a:pt x="61" y="56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72" y="44"/>
                    <a:pt x="72" y="44"/>
                    <a:pt x="72" y="44"/>
                  </a:cubicBezTo>
                  <a:lnTo>
                    <a:pt x="72" y="56"/>
                  </a:lnTo>
                  <a:close/>
                  <a:moveTo>
                    <a:pt x="7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72" y="26"/>
                    <a:pt x="72" y="26"/>
                    <a:pt x="72" y="26"/>
                  </a:cubicBezTo>
                  <a:lnTo>
                    <a:pt x="72" y="37"/>
                  </a:ln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8" name="Freeform 1685"/>
            <p:cNvSpPr>
              <a:spLocks noEditPoints="1"/>
            </p:cNvSpPr>
            <p:nvPr/>
          </p:nvSpPr>
          <p:spPr bwMode="auto">
            <a:xfrm>
              <a:off x="1482725" y="6633480"/>
              <a:ext cx="53975" cy="87313"/>
            </a:xfrm>
            <a:custGeom>
              <a:avLst/>
              <a:gdLst>
                <a:gd name="T0" fmla="*/ 20 w 58"/>
                <a:gd name="T1" fmla="*/ 88 h 93"/>
                <a:gd name="T2" fmla="*/ 21 w 58"/>
                <a:gd name="T3" fmla="*/ 67 h 93"/>
                <a:gd name="T4" fmla="*/ 36 w 58"/>
                <a:gd name="T5" fmla="*/ 68 h 93"/>
                <a:gd name="T6" fmla="*/ 35 w 58"/>
                <a:gd name="T7" fmla="*/ 89 h 93"/>
                <a:gd name="T8" fmla="*/ 17 w 58"/>
                <a:gd name="T9" fmla="*/ 49 h 93"/>
                <a:gd name="T10" fmla="*/ 25 w 58"/>
                <a:gd name="T11" fmla="*/ 43 h 93"/>
                <a:gd name="T12" fmla="*/ 17 w 58"/>
                <a:gd name="T13" fmla="*/ 49 h 93"/>
                <a:gd name="T14" fmla="*/ 33 w 58"/>
                <a:gd name="T15" fmla="*/ 43 h 93"/>
                <a:gd name="T16" fmla="*/ 40 w 58"/>
                <a:gd name="T17" fmla="*/ 49 h 93"/>
                <a:gd name="T18" fmla="*/ 10 w 58"/>
                <a:gd name="T19" fmla="*/ 37 h 93"/>
                <a:gd name="T20" fmla="*/ 18 w 58"/>
                <a:gd name="T21" fmla="*/ 31 h 93"/>
                <a:gd name="T22" fmla="*/ 10 w 58"/>
                <a:gd name="T23" fmla="*/ 37 h 93"/>
                <a:gd name="T24" fmla="*/ 25 w 58"/>
                <a:gd name="T25" fmla="*/ 31 h 93"/>
                <a:gd name="T26" fmla="*/ 32 w 58"/>
                <a:gd name="T27" fmla="*/ 37 h 93"/>
                <a:gd name="T28" fmla="*/ 40 w 58"/>
                <a:gd name="T29" fmla="*/ 37 h 93"/>
                <a:gd name="T30" fmla="*/ 47 w 58"/>
                <a:gd name="T31" fmla="*/ 31 h 93"/>
                <a:gd name="T32" fmla="*/ 40 w 58"/>
                <a:gd name="T33" fmla="*/ 37 h 93"/>
                <a:gd name="T34" fmla="*/ 17 w 58"/>
                <a:gd name="T35" fmla="*/ 19 h 93"/>
                <a:gd name="T36" fmla="*/ 25 w 58"/>
                <a:gd name="T37" fmla="*/ 25 h 93"/>
                <a:gd name="T38" fmla="*/ 33 w 58"/>
                <a:gd name="T39" fmla="*/ 25 h 93"/>
                <a:gd name="T40" fmla="*/ 40 w 58"/>
                <a:gd name="T41" fmla="*/ 19 h 93"/>
                <a:gd name="T42" fmla="*/ 33 w 58"/>
                <a:gd name="T43" fmla="*/ 25 h 93"/>
                <a:gd name="T44" fmla="*/ 10 w 58"/>
                <a:gd name="T45" fmla="*/ 7 h 93"/>
                <a:gd name="T46" fmla="*/ 18 w 58"/>
                <a:gd name="T47" fmla="*/ 13 h 93"/>
                <a:gd name="T48" fmla="*/ 25 w 58"/>
                <a:gd name="T49" fmla="*/ 13 h 93"/>
                <a:gd name="T50" fmla="*/ 32 w 58"/>
                <a:gd name="T51" fmla="*/ 7 h 93"/>
                <a:gd name="T52" fmla="*/ 25 w 58"/>
                <a:gd name="T53" fmla="*/ 13 h 93"/>
                <a:gd name="T54" fmla="*/ 40 w 58"/>
                <a:gd name="T55" fmla="*/ 7 h 93"/>
                <a:gd name="T56" fmla="*/ 47 w 58"/>
                <a:gd name="T57" fmla="*/ 13 h 93"/>
                <a:gd name="T58" fmla="*/ 51 w 58"/>
                <a:gd name="T59" fmla="*/ 0 h 93"/>
                <a:gd name="T60" fmla="*/ 4 w 58"/>
                <a:gd name="T61" fmla="*/ 3 h 93"/>
                <a:gd name="T62" fmla="*/ 0 w 58"/>
                <a:gd name="T63" fmla="*/ 56 h 93"/>
                <a:gd name="T64" fmla="*/ 4 w 58"/>
                <a:gd name="T65" fmla="*/ 64 h 93"/>
                <a:gd name="T66" fmla="*/ 6 w 58"/>
                <a:gd name="T67" fmla="*/ 93 h 93"/>
                <a:gd name="T68" fmla="*/ 54 w 58"/>
                <a:gd name="T69" fmla="*/ 90 h 93"/>
                <a:gd name="T70" fmla="*/ 58 w 58"/>
                <a:gd name="T71" fmla="*/ 64 h 93"/>
                <a:gd name="T72" fmla="*/ 54 w 58"/>
                <a:gd name="T73" fmla="*/ 56 h 93"/>
                <a:gd name="T74" fmla="*/ 51 w 58"/>
                <a:gd name="T7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8" h="93">
                  <a:moveTo>
                    <a:pt x="21" y="89"/>
                  </a:moveTo>
                  <a:cubicBezTo>
                    <a:pt x="21" y="89"/>
                    <a:pt x="20" y="89"/>
                    <a:pt x="20" y="8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20" y="67"/>
                    <a:pt x="21" y="67"/>
                    <a:pt x="21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6" y="67"/>
                    <a:pt x="36" y="6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9"/>
                    <a:pt x="36" y="89"/>
                    <a:pt x="35" y="89"/>
                  </a:cubicBezTo>
                  <a:cubicBezTo>
                    <a:pt x="21" y="89"/>
                    <a:pt x="21" y="89"/>
                    <a:pt x="21" y="89"/>
                  </a:cubicBezTo>
                  <a:moveTo>
                    <a:pt x="17" y="49"/>
                  </a:moveTo>
                  <a:cubicBezTo>
                    <a:pt x="17" y="43"/>
                    <a:pt x="17" y="43"/>
                    <a:pt x="17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17" y="49"/>
                    <a:pt x="17" y="49"/>
                    <a:pt x="17" y="49"/>
                  </a:cubicBezTo>
                  <a:moveTo>
                    <a:pt x="33" y="49"/>
                  </a:moveTo>
                  <a:cubicBezTo>
                    <a:pt x="33" y="43"/>
                    <a:pt x="33" y="43"/>
                    <a:pt x="33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3" y="49"/>
                    <a:pt x="33" y="49"/>
                    <a:pt x="33" y="49"/>
                  </a:cubicBezTo>
                  <a:moveTo>
                    <a:pt x="10" y="37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0" y="37"/>
                    <a:pt x="10" y="37"/>
                    <a:pt x="10" y="37"/>
                  </a:cubicBezTo>
                  <a:moveTo>
                    <a:pt x="25" y="37"/>
                  </a:moveTo>
                  <a:cubicBezTo>
                    <a:pt x="25" y="31"/>
                    <a:pt x="25" y="31"/>
                    <a:pt x="25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25" y="37"/>
                    <a:pt x="25" y="37"/>
                    <a:pt x="25" y="37"/>
                  </a:cubicBezTo>
                  <a:moveTo>
                    <a:pt x="40" y="37"/>
                  </a:moveTo>
                  <a:cubicBezTo>
                    <a:pt x="40" y="31"/>
                    <a:pt x="40" y="31"/>
                    <a:pt x="40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0" y="37"/>
                    <a:pt x="40" y="37"/>
                    <a:pt x="40" y="37"/>
                  </a:cubicBezTo>
                  <a:moveTo>
                    <a:pt x="17" y="25"/>
                  </a:moveTo>
                  <a:cubicBezTo>
                    <a:pt x="17" y="19"/>
                    <a:pt x="17" y="19"/>
                    <a:pt x="17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17" y="25"/>
                    <a:pt x="17" y="25"/>
                    <a:pt x="17" y="25"/>
                  </a:cubicBezTo>
                  <a:moveTo>
                    <a:pt x="33" y="25"/>
                  </a:moveTo>
                  <a:cubicBezTo>
                    <a:pt x="33" y="19"/>
                    <a:pt x="33" y="19"/>
                    <a:pt x="33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3" y="25"/>
                    <a:pt x="33" y="25"/>
                    <a:pt x="33" y="25"/>
                  </a:cubicBezTo>
                  <a:moveTo>
                    <a:pt x="10" y="13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0" y="13"/>
                    <a:pt x="10" y="13"/>
                    <a:pt x="10" y="13"/>
                  </a:cubicBezTo>
                  <a:moveTo>
                    <a:pt x="25" y="13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25" y="13"/>
                    <a:pt x="25" y="13"/>
                    <a:pt x="25" y="13"/>
                  </a:cubicBezTo>
                  <a:moveTo>
                    <a:pt x="40" y="13"/>
                  </a:moveTo>
                  <a:cubicBezTo>
                    <a:pt x="40" y="7"/>
                    <a:pt x="40" y="7"/>
                    <a:pt x="40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0" y="13"/>
                    <a:pt x="40" y="13"/>
                    <a:pt x="40" y="13"/>
                  </a:cubicBezTo>
                  <a:moveTo>
                    <a:pt x="5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1"/>
                    <a:pt x="5" y="93"/>
                    <a:pt x="6" y="93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3" y="93"/>
                    <a:pt x="54" y="91"/>
                    <a:pt x="54" y="90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1"/>
                    <a:pt x="53" y="0"/>
                    <a:pt x="51" y="0"/>
                  </a:cubicBezTo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cxnSp>
        <p:nvCxnSpPr>
          <p:cNvPr id="69" name="직선 화살표 연결선 68"/>
          <p:cNvCxnSpPr>
            <a:endCxn id="68" idx="9"/>
          </p:cNvCxnSpPr>
          <p:nvPr/>
        </p:nvCxnSpPr>
        <p:spPr bwMode="gray">
          <a:xfrm flipV="1">
            <a:off x="2094836" y="8237739"/>
            <a:ext cx="2798875" cy="1469"/>
          </a:xfrm>
          <a:prstGeom prst="straightConnector1">
            <a:avLst/>
          </a:prstGeom>
          <a:ln w="15875">
            <a:solidFill>
              <a:srgbClr val="004C98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순서도: 판단 69"/>
          <p:cNvSpPr/>
          <p:nvPr/>
        </p:nvSpPr>
        <p:spPr>
          <a:xfrm>
            <a:off x="3006064" y="8069981"/>
            <a:ext cx="887442" cy="363528"/>
          </a:xfrm>
          <a:prstGeom prst="flowChartDecision">
            <a:avLst/>
          </a:prstGeom>
          <a:solidFill>
            <a:srgbClr val="D8F1FB"/>
          </a:solidFill>
          <a:ln w="9525">
            <a:solidFill>
              <a:srgbClr val="8ED5F2"/>
            </a:solidFill>
          </a:ln>
          <a:effectLst>
            <a:outerShdw dist="25400" dir="5400000" algn="t" rotWithShape="0">
              <a:prstClr val="black">
                <a:alpha val="10000"/>
              </a:prstClr>
            </a:outerShdw>
          </a:effectLst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1634" tIns="35817" rIns="71634" bIns="35817" anchor="ctr"/>
          <a:lstStyle/>
          <a:p>
            <a:pPr algn="ctr" latinLnBrk="0"/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문자 정보 등록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Segoe UI" panose="020B0502040204020203" pitchFamily="34" charset="0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927639" y="4544531"/>
            <a:ext cx="474351" cy="320014"/>
            <a:chOff x="3313299" y="6108587"/>
            <a:chExt cx="538053" cy="362990"/>
          </a:xfrm>
        </p:grpSpPr>
        <p:sp>
          <p:nvSpPr>
            <p:cNvPr id="72" name="Freeform 5"/>
            <p:cNvSpPr>
              <a:spLocks noEditPoints="1"/>
            </p:cNvSpPr>
            <p:nvPr/>
          </p:nvSpPr>
          <p:spPr bwMode="auto">
            <a:xfrm>
              <a:off x="3313299" y="6178097"/>
              <a:ext cx="538053" cy="271247"/>
            </a:xfrm>
            <a:custGeom>
              <a:avLst/>
              <a:gdLst>
                <a:gd name="T0" fmla="*/ 40 w 151"/>
                <a:gd name="T1" fmla="*/ 51 h 75"/>
                <a:gd name="T2" fmla="*/ 50 w 151"/>
                <a:gd name="T3" fmla="*/ 46 h 75"/>
                <a:gd name="T4" fmla="*/ 50 w 151"/>
                <a:gd name="T5" fmla="*/ 41 h 75"/>
                <a:gd name="T6" fmla="*/ 53 w 151"/>
                <a:gd name="T7" fmla="*/ 35 h 75"/>
                <a:gd name="T8" fmla="*/ 54 w 151"/>
                <a:gd name="T9" fmla="*/ 30 h 75"/>
                <a:gd name="T10" fmla="*/ 50 w 151"/>
                <a:gd name="T11" fmla="*/ 15 h 75"/>
                <a:gd name="T12" fmla="*/ 51 w 151"/>
                <a:gd name="T13" fmla="*/ 12 h 75"/>
                <a:gd name="T14" fmla="*/ 48 w 151"/>
                <a:gd name="T15" fmla="*/ 6 h 75"/>
                <a:gd name="T16" fmla="*/ 30 w 151"/>
                <a:gd name="T17" fmla="*/ 4 h 75"/>
                <a:gd name="T18" fmla="*/ 24 w 151"/>
                <a:gd name="T19" fmla="*/ 27 h 75"/>
                <a:gd name="T20" fmla="*/ 27 w 151"/>
                <a:gd name="T21" fmla="*/ 36 h 75"/>
                <a:gd name="T22" fmla="*/ 29 w 151"/>
                <a:gd name="T23" fmla="*/ 46 h 75"/>
                <a:gd name="T24" fmla="*/ 25 w 151"/>
                <a:gd name="T25" fmla="*/ 52 h 75"/>
                <a:gd name="T26" fmla="*/ 10 w 151"/>
                <a:gd name="T27" fmla="*/ 58 h 75"/>
                <a:gd name="T28" fmla="*/ 0 w 151"/>
                <a:gd name="T29" fmla="*/ 75 h 75"/>
                <a:gd name="T30" fmla="*/ 18 w 151"/>
                <a:gd name="T31" fmla="*/ 71 h 75"/>
                <a:gd name="T32" fmla="*/ 18 w 151"/>
                <a:gd name="T33" fmla="*/ 65 h 75"/>
                <a:gd name="T34" fmla="*/ 30 w 151"/>
                <a:gd name="T35" fmla="*/ 55 h 75"/>
                <a:gd name="T36" fmla="*/ 150 w 151"/>
                <a:gd name="T37" fmla="*/ 63 h 75"/>
                <a:gd name="T38" fmla="*/ 130 w 151"/>
                <a:gd name="T39" fmla="*/ 52 h 75"/>
                <a:gd name="T40" fmla="*/ 123 w 151"/>
                <a:gd name="T41" fmla="*/ 46 h 75"/>
                <a:gd name="T42" fmla="*/ 123 w 151"/>
                <a:gd name="T43" fmla="*/ 41 h 75"/>
                <a:gd name="T44" fmla="*/ 126 w 151"/>
                <a:gd name="T45" fmla="*/ 35 h 75"/>
                <a:gd name="T46" fmla="*/ 127 w 151"/>
                <a:gd name="T47" fmla="*/ 26 h 75"/>
                <a:gd name="T48" fmla="*/ 127 w 151"/>
                <a:gd name="T49" fmla="*/ 16 h 75"/>
                <a:gd name="T50" fmla="*/ 124 w 151"/>
                <a:gd name="T51" fmla="*/ 6 h 75"/>
                <a:gd name="T52" fmla="*/ 120 w 151"/>
                <a:gd name="T53" fmla="*/ 4 h 75"/>
                <a:gd name="T54" fmla="*/ 99 w 151"/>
                <a:gd name="T55" fmla="*/ 9 h 75"/>
                <a:gd name="T56" fmla="*/ 99 w 151"/>
                <a:gd name="T57" fmla="*/ 11 h 75"/>
                <a:gd name="T58" fmla="*/ 100 w 151"/>
                <a:gd name="T59" fmla="*/ 12 h 75"/>
                <a:gd name="T60" fmla="*/ 98 w 151"/>
                <a:gd name="T61" fmla="*/ 29 h 75"/>
                <a:gd name="T62" fmla="*/ 99 w 151"/>
                <a:gd name="T63" fmla="*/ 36 h 75"/>
                <a:gd name="T64" fmla="*/ 102 w 151"/>
                <a:gd name="T65" fmla="*/ 42 h 75"/>
                <a:gd name="T66" fmla="*/ 102 w 151"/>
                <a:gd name="T67" fmla="*/ 46 h 75"/>
                <a:gd name="T68" fmla="*/ 111 w 151"/>
                <a:gd name="T69" fmla="*/ 51 h 75"/>
                <a:gd name="T70" fmla="*/ 121 w 151"/>
                <a:gd name="T71" fmla="*/ 55 h 75"/>
                <a:gd name="T72" fmla="*/ 134 w 151"/>
                <a:gd name="T73" fmla="*/ 65 h 75"/>
                <a:gd name="T74" fmla="*/ 134 w 151"/>
                <a:gd name="T75" fmla="*/ 71 h 75"/>
                <a:gd name="T76" fmla="*/ 151 w 151"/>
                <a:gd name="T7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1" h="75">
                  <a:moveTo>
                    <a:pt x="33" y="54"/>
                  </a:moveTo>
                  <a:cubicBezTo>
                    <a:pt x="35" y="53"/>
                    <a:pt x="38" y="52"/>
                    <a:pt x="40" y="51"/>
                  </a:cubicBezTo>
                  <a:cubicBezTo>
                    <a:pt x="43" y="50"/>
                    <a:pt x="47" y="48"/>
                    <a:pt x="50" y="47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49" y="46"/>
                    <a:pt x="48" y="46"/>
                    <a:pt x="47" y="46"/>
                  </a:cubicBezTo>
                  <a:cubicBezTo>
                    <a:pt x="48" y="43"/>
                    <a:pt x="49" y="43"/>
                    <a:pt x="50" y="41"/>
                  </a:cubicBezTo>
                  <a:cubicBezTo>
                    <a:pt x="50" y="40"/>
                    <a:pt x="50" y="38"/>
                    <a:pt x="50" y="36"/>
                  </a:cubicBezTo>
                  <a:cubicBezTo>
                    <a:pt x="51" y="36"/>
                    <a:pt x="52" y="36"/>
                    <a:pt x="53" y="35"/>
                  </a:cubicBezTo>
                  <a:cubicBezTo>
                    <a:pt x="53" y="34"/>
                    <a:pt x="54" y="33"/>
                    <a:pt x="54" y="32"/>
                  </a:cubicBezTo>
                  <a:cubicBezTo>
                    <a:pt x="54" y="31"/>
                    <a:pt x="54" y="31"/>
                    <a:pt x="54" y="30"/>
                  </a:cubicBezTo>
                  <a:cubicBezTo>
                    <a:pt x="51" y="27"/>
                    <a:pt x="50" y="21"/>
                    <a:pt x="50" y="17"/>
                  </a:cubicBezTo>
                  <a:cubicBezTo>
                    <a:pt x="50" y="16"/>
                    <a:pt x="50" y="16"/>
                    <a:pt x="50" y="15"/>
                  </a:cubicBezTo>
                  <a:cubicBezTo>
                    <a:pt x="50" y="14"/>
                    <a:pt x="51" y="13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0"/>
                    <a:pt x="51" y="8"/>
                    <a:pt x="51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0" y="0"/>
                    <a:pt x="33" y="3"/>
                    <a:pt x="30" y="4"/>
                  </a:cubicBezTo>
                  <a:cubicBezTo>
                    <a:pt x="26" y="6"/>
                    <a:pt x="22" y="14"/>
                    <a:pt x="25" y="23"/>
                  </a:cubicBezTo>
                  <a:cubicBezTo>
                    <a:pt x="25" y="25"/>
                    <a:pt x="24" y="26"/>
                    <a:pt x="24" y="27"/>
                  </a:cubicBezTo>
                  <a:cubicBezTo>
                    <a:pt x="24" y="29"/>
                    <a:pt x="24" y="35"/>
                    <a:pt x="26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8"/>
                    <a:pt x="27" y="40"/>
                    <a:pt x="27" y="42"/>
                  </a:cubicBezTo>
                  <a:cubicBezTo>
                    <a:pt x="28" y="43"/>
                    <a:pt x="29" y="44"/>
                    <a:pt x="29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7" y="47"/>
                    <a:pt x="26" y="51"/>
                    <a:pt x="25" y="52"/>
                  </a:cubicBezTo>
                  <a:cubicBezTo>
                    <a:pt x="24" y="52"/>
                    <a:pt x="23" y="52"/>
                    <a:pt x="22" y="52"/>
                  </a:cubicBezTo>
                  <a:cubicBezTo>
                    <a:pt x="18" y="54"/>
                    <a:pt x="14" y="56"/>
                    <a:pt x="10" y="58"/>
                  </a:cubicBezTo>
                  <a:cubicBezTo>
                    <a:pt x="6" y="58"/>
                    <a:pt x="2" y="59"/>
                    <a:pt x="0" y="63"/>
                  </a:cubicBezTo>
                  <a:cubicBezTo>
                    <a:pt x="0" y="65"/>
                    <a:pt x="0" y="71"/>
                    <a:pt x="0" y="75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18" y="74"/>
                    <a:pt x="18" y="72"/>
                    <a:pt x="18" y="71"/>
                  </a:cubicBezTo>
                  <a:cubicBezTo>
                    <a:pt x="18" y="69"/>
                    <a:pt x="18" y="67"/>
                    <a:pt x="18" y="65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1" y="58"/>
                    <a:pt x="26" y="57"/>
                    <a:pt x="30" y="55"/>
                  </a:cubicBezTo>
                  <a:cubicBezTo>
                    <a:pt x="31" y="55"/>
                    <a:pt x="32" y="55"/>
                    <a:pt x="33" y="54"/>
                  </a:cubicBezTo>
                  <a:close/>
                  <a:moveTo>
                    <a:pt x="150" y="63"/>
                  </a:moveTo>
                  <a:cubicBezTo>
                    <a:pt x="149" y="59"/>
                    <a:pt x="145" y="58"/>
                    <a:pt x="141" y="58"/>
                  </a:cubicBezTo>
                  <a:cubicBezTo>
                    <a:pt x="138" y="56"/>
                    <a:pt x="134" y="54"/>
                    <a:pt x="130" y="52"/>
                  </a:cubicBezTo>
                  <a:cubicBezTo>
                    <a:pt x="129" y="52"/>
                    <a:pt x="127" y="52"/>
                    <a:pt x="126" y="52"/>
                  </a:cubicBezTo>
                  <a:cubicBezTo>
                    <a:pt x="125" y="51"/>
                    <a:pt x="124" y="47"/>
                    <a:pt x="123" y="46"/>
                  </a:cubicBezTo>
                  <a:cubicBezTo>
                    <a:pt x="122" y="46"/>
                    <a:pt x="121" y="46"/>
                    <a:pt x="121" y="46"/>
                  </a:cubicBezTo>
                  <a:cubicBezTo>
                    <a:pt x="121" y="43"/>
                    <a:pt x="122" y="43"/>
                    <a:pt x="123" y="41"/>
                  </a:cubicBezTo>
                  <a:cubicBezTo>
                    <a:pt x="123" y="40"/>
                    <a:pt x="123" y="38"/>
                    <a:pt x="124" y="36"/>
                  </a:cubicBezTo>
                  <a:cubicBezTo>
                    <a:pt x="124" y="36"/>
                    <a:pt x="126" y="36"/>
                    <a:pt x="126" y="35"/>
                  </a:cubicBezTo>
                  <a:cubicBezTo>
                    <a:pt x="127" y="34"/>
                    <a:pt x="127" y="33"/>
                    <a:pt x="127" y="32"/>
                  </a:cubicBezTo>
                  <a:cubicBezTo>
                    <a:pt x="128" y="30"/>
                    <a:pt x="128" y="28"/>
                    <a:pt x="127" y="26"/>
                  </a:cubicBezTo>
                  <a:cubicBezTo>
                    <a:pt x="127" y="25"/>
                    <a:pt x="126" y="25"/>
                    <a:pt x="126" y="24"/>
                  </a:cubicBezTo>
                  <a:cubicBezTo>
                    <a:pt x="126" y="22"/>
                    <a:pt x="127" y="17"/>
                    <a:pt x="127" y="16"/>
                  </a:cubicBezTo>
                  <a:cubicBezTo>
                    <a:pt x="127" y="14"/>
                    <a:pt x="127" y="12"/>
                    <a:pt x="126" y="9"/>
                  </a:cubicBezTo>
                  <a:cubicBezTo>
                    <a:pt x="126" y="9"/>
                    <a:pt x="125" y="7"/>
                    <a:pt x="124" y="6"/>
                  </a:cubicBezTo>
                  <a:cubicBezTo>
                    <a:pt x="121" y="6"/>
                    <a:pt x="121" y="6"/>
                    <a:pt x="121" y="6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14" y="0"/>
                    <a:pt x="108" y="3"/>
                    <a:pt x="104" y="4"/>
                  </a:cubicBezTo>
                  <a:cubicBezTo>
                    <a:pt x="102" y="5"/>
                    <a:pt x="100" y="7"/>
                    <a:pt x="99" y="9"/>
                  </a:cubicBezTo>
                  <a:cubicBezTo>
                    <a:pt x="99" y="10"/>
                    <a:pt x="99" y="10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100" y="11"/>
                    <a:pt x="100" y="12"/>
                    <a:pt x="100" y="12"/>
                  </a:cubicBezTo>
                  <a:cubicBezTo>
                    <a:pt x="102" y="15"/>
                    <a:pt x="101" y="20"/>
                    <a:pt x="101" y="23"/>
                  </a:cubicBezTo>
                  <a:cubicBezTo>
                    <a:pt x="101" y="24"/>
                    <a:pt x="100" y="27"/>
                    <a:pt x="98" y="29"/>
                  </a:cubicBezTo>
                  <a:cubicBezTo>
                    <a:pt x="98" y="29"/>
                    <a:pt x="98" y="30"/>
                    <a:pt x="97" y="30"/>
                  </a:cubicBezTo>
                  <a:cubicBezTo>
                    <a:pt x="97" y="32"/>
                    <a:pt x="98" y="35"/>
                    <a:pt x="99" y="36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1" y="38"/>
                    <a:pt x="101" y="40"/>
                    <a:pt x="102" y="42"/>
                  </a:cubicBezTo>
                  <a:cubicBezTo>
                    <a:pt x="102" y="43"/>
                    <a:pt x="103" y="44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7"/>
                    <a:pt x="102" y="47"/>
                    <a:pt x="102" y="47"/>
                  </a:cubicBezTo>
                  <a:cubicBezTo>
                    <a:pt x="105" y="48"/>
                    <a:pt x="109" y="50"/>
                    <a:pt x="111" y="51"/>
                  </a:cubicBezTo>
                  <a:cubicBezTo>
                    <a:pt x="113" y="52"/>
                    <a:pt x="116" y="53"/>
                    <a:pt x="118" y="54"/>
                  </a:cubicBezTo>
                  <a:cubicBezTo>
                    <a:pt x="119" y="55"/>
                    <a:pt x="120" y="55"/>
                    <a:pt x="121" y="55"/>
                  </a:cubicBezTo>
                  <a:cubicBezTo>
                    <a:pt x="126" y="57"/>
                    <a:pt x="131" y="58"/>
                    <a:pt x="133" y="64"/>
                  </a:cubicBezTo>
                  <a:cubicBezTo>
                    <a:pt x="134" y="65"/>
                    <a:pt x="134" y="65"/>
                    <a:pt x="134" y="65"/>
                  </a:cubicBezTo>
                  <a:cubicBezTo>
                    <a:pt x="134" y="65"/>
                    <a:pt x="134" y="65"/>
                    <a:pt x="134" y="65"/>
                  </a:cubicBezTo>
                  <a:cubicBezTo>
                    <a:pt x="134" y="67"/>
                    <a:pt x="134" y="69"/>
                    <a:pt x="134" y="71"/>
                  </a:cubicBezTo>
                  <a:cubicBezTo>
                    <a:pt x="134" y="72"/>
                    <a:pt x="134" y="74"/>
                    <a:pt x="134" y="75"/>
                  </a:cubicBezTo>
                  <a:cubicBezTo>
                    <a:pt x="151" y="75"/>
                    <a:pt x="151" y="75"/>
                    <a:pt x="151" y="75"/>
                  </a:cubicBezTo>
                  <a:cubicBezTo>
                    <a:pt x="151" y="71"/>
                    <a:pt x="150" y="65"/>
                    <a:pt x="150" y="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73" name="Freeform 684"/>
            <p:cNvSpPr>
              <a:spLocks/>
            </p:cNvSpPr>
            <p:nvPr/>
          </p:nvSpPr>
          <p:spPr bwMode="auto">
            <a:xfrm>
              <a:off x="3392917" y="6108587"/>
              <a:ext cx="386036" cy="362990"/>
            </a:xfrm>
            <a:custGeom>
              <a:avLst/>
              <a:gdLst>
                <a:gd name="T0" fmla="*/ 114 w 115"/>
                <a:gd name="T1" fmla="*/ 91 h 108"/>
                <a:gd name="T2" fmla="*/ 101 w 115"/>
                <a:gd name="T3" fmla="*/ 82 h 108"/>
                <a:gd name="T4" fmla="*/ 83 w 115"/>
                <a:gd name="T5" fmla="*/ 75 h 108"/>
                <a:gd name="T6" fmla="*/ 78 w 115"/>
                <a:gd name="T7" fmla="*/ 73 h 108"/>
                <a:gd name="T8" fmla="*/ 73 w 115"/>
                <a:gd name="T9" fmla="*/ 65 h 108"/>
                <a:gd name="T10" fmla="*/ 70 w 115"/>
                <a:gd name="T11" fmla="*/ 65 h 108"/>
                <a:gd name="T12" fmla="*/ 73 w 115"/>
                <a:gd name="T13" fmla="*/ 59 h 108"/>
                <a:gd name="T14" fmla="*/ 74 w 115"/>
                <a:gd name="T15" fmla="*/ 51 h 108"/>
                <a:gd name="T16" fmla="*/ 78 w 115"/>
                <a:gd name="T17" fmla="*/ 48 h 108"/>
                <a:gd name="T18" fmla="*/ 80 w 115"/>
                <a:gd name="T19" fmla="*/ 44 h 108"/>
                <a:gd name="T20" fmla="*/ 79 w 115"/>
                <a:gd name="T21" fmla="*/ 35 h 108"/>
                <a:gd name="T22" fmla="*/ 78 w 115"/>
                <a:gd name="T23" fmla="*/ 32 h 108"/>
                <a:gd name="T24" fmla="*/ 79 w 115"/>
                <a:gd name="T25" fmla="*/ 21 h 108"/>
                <a:gd name="T26" fmla="*/ 78 w 115"/>
                <a:gd name="T27" fmla="*/ 12 h 108"/>
                <a:gd name="T28" fmla="*/ 75 w 115"/>
                <a:gd name="T29" fmla="*/ 8 h 108"/>
                <a:gd name="T30" fmla="*/ 71 w 115"/>
                <a:gd name="T31" fmla="*/ 7 h 108"/>
                <a:gd name="T32" fmla="*/ 69 w 115"/>
                <a:gd name="T33" fmla="*/ 5 h 108"/>
                <a:gd name="T34" fmla="*/ 44 w 115"/>
                <a:gd name="T35" fmla="*/ 6 h 108"/>
                <a:gd name="T36" fmla="*/ 35 w 115"/>
                <a:gd name="T37" fmla="*/ 31 h 108"/>
                <a:gd name="T38" fmla="*/ 34 w 115"/>
                <a:gd name="T39" fmla="*/ 37 h 108"/>
                <a:gd name="T40" fmla="*/ 37 w 115"/>
                <a:gd name="T41" fmla="*/ 49 h 108"/>
                <a:gd name="T42" fmla="*/ 40 w 115"/>
                <a:gd name="T43" fmla="*/ 50 h 108"/>
                <a:gd name="T44" fmla="*/ 41 w 115"/>
                <a:gd name="T45" fmla="*/ 59 h 108"/>
                <a:gd name="T46" fmla="*/ 44 w 115"/>
                <a:gd name="T47" fmla="*/ 65 h 108"/>
                <a:gd name="T48" fmla="*/ 42 w 115"/>
                <a:gd name="T49" fmla="*/ 65 h 108"/>
                <a:gd name="T50" fmla="*/ 37 w 115"/>
                <a:gd name="T51" fmla="*/ 73 h 108"/>
                <a:gd name="T52" fmla="*/ 32 w 115"/>
                <a:gd name="T53" fmla="*/ 75 h 108"/>
                <a:gd name="T54" fmla="*/ 14 w 115"/>
                <a:gd name="T55" fmla="*/ 82 h 108"/>
                <a:gd name="T56" fmla="*/ 0 w 115"/>
                <a:gd name="T57" fmla="*/ 91 h 108"/>
                <a:gd name="T58" fmla="*/ 0 w 115"/>
                <a:gd name="T59" fmla="*/ 108 h 108"/>
                <a:gd name="T60" fmla="*/ 50 w 115"/>
                <a:gd name="T61" fmla="*/ 108 h 108"/>
                <a:gd name="T62" fmla="*/ 54 w 115"/>
                <a:gd name="T63" fmla="*/ 83 h 108"/>
                <a:gd name="T64" fmla="*/ 51 w 115"/>
                <a:gd name="T65" fmla="*/ 77 h 108"/>
                <a:gd name="T66" fmla="*/ 58 w 115"/>
                <a:gd name="T67" fmla="*/ 73 h 108"/>
                <a:gd name="T68" fmla="*/ 64 w 115"/>
                <a:gd name="T69" fmla="*/ 77 h 108"/>
                <a:gd name="T70" fmla="*/ 61 w 115"/>
                <a:gd name="T71" fmla="*/ 83 h 108"/>
                <a:gd name="T72" fmla="*/ 67 w 115"/>
                <a:gd name="T73" fmla="*/ 108 h 108"/>
                <a:gd name="T74" fmla="*/ 115 w 115"/>
                <a:gd name="T75" fmla="*/ 108 h 108"/>
                <a:gd name="T76" fmla="*/ 114 w 115"/>
                <a:gd name="T77" fmla="*/ 9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5" h="108">
                  <a:moveTo>
                    <a:pt x="114" y="91"/>
                  </a:moveTo>
                  <a:cubicBezTo>
                    <a:pt x="112" y="85"/>
                    <a:pt x="106" y="85"/>
                    <a:pt x="101" y="82"/>
                  </a:cubicBezTo>
                  <a:cubicBezTo>
                    <a:pt x="95" y="80"/>
                    <a:pt x="89" y="77"/>
                    <a:pt x="83" y="75"/>
                  </a:cubicBezTo>
                  <a:cubicBezTo>
                    <a:pt x="81" y="74"/>
                    <a:pt x="80" y="74"/>
                    <a:pt x="78" y="73"/>
                  </a:cubicBezTo>
                  <a:cubicBezTo>
                    <a:pt x="76" y="72"/>
                    <a:pt x="74" y="68"/>
                    <a:pt x="73" y="65"/>
                  </a:cubicBezTo>
                  <a:cubicBezTo>
                    <a:pt x="72" y="65"/>
                    <a:pt x="71" y="65"/>
                    <a:pt x="70" y="65"/>
                  </a:cubicBezTo>
                  <a:cubicBezTo>
                    <a:pt x="70" y="61"/>
                    <a:pt x="72" y="61"/>
                    <a:pt x="73" y="59"/>
                  </a:cubicBezTo>
                  <a:cubicBezTo>
                    <a:pt x="74" y="56"/>
                    <a:pt x="73" y="53"/>
                    <a:pt x="74" y="51"/>
                  </a:cubicBezTo>
                  <a:cubicBezTo>
                    <a:pt x="75" y="50"/>
                    <a:pt x="77" y="50"/>
                    <a:pt x="78" y="48"/>
                  </a:cubicBezTo>
                  <a:cubicBezTo>
                    <a:pt x="79" y="47"/>
                    <a:pt x="79" y="45"/>
                    <a:pt x="80" y="44"/>
                  </a:cubicBezTo>
                  <a:cubicBezTo>
                    <a:pt x="80" y="41"/>
                    <a:pt x="80" y="38"/>
                    <a:pt x="79" y="35"/>
                  </a:cubicBezTo>
                  <a:cubicBezTo>
                    <a:pt x="78" y="33"/>
                    <a:pt x="78" y="33"/>
                    <a:pt x="78" y="32"/>
                  </a:cubicBezTo>
                  <a:cubicBezTo>
                    <a:pt x="78" y="29"/>
                    <a:pt x="78" y="22"/>
                    <a:pt x="79" y="21"/>
                  </a:cubicBezTo>
                  <a:cubicBezTo>
                    <a:pt x="79" y="17"/>
                    <a:pt x="78" y="16"/>
                    <a:pt x="78" y="12"/>
                  </a:cubicBezTo>
                  <a:cubicBezTo>
                    <a:pt x="78" y="12"/>
                    <a:pt x="76" y="9"/>
                    <a:pt x="75" y="8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59" y="0"/>
                    <a:pt x="50" y="3"/>
                    <a:pt x="44" y="6"/>
                  </a:cubicBezTo>
                  <a:cubicBezTo>
                    <a:pt x="37" y="8"/>
                    <a:pt x="32" y="15"/>
                    <a:pt x="35" y="31"/>
                  </a:cubicBezTo>
                  <a:cubicBezTo>
                    <a:pt x="36" y="34"/>
                    <a:pt x="34" y="35"/>
                    <a:pt x="34" y="37"/>
                  </a:cubicBezTo>
                  <a:cubicBezTo>
                    <a:pt x="34" y="40"/>
                    <a:pt x="34" y="48"/>
                    <a:pt x="37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3"/>
                    <a:pt x="41" y="56"/>
                    <a:pt x="41" y="59"/>
                  </a:cubicBezTo>
                  <a:cubicBezTo>
                    <a:pt x="42" y="62"/>
                    <a:pt x="43" y="62"/>
                    <a:pt x="44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1" y="68"/>
                    <a:pt x="39" y="72"/>
                    <a:pt x="37" y="73"/>
                  </a:cubicBezTo>
                  <a:cubicBezTo>
                    <a:pt x="35" y="74"/>
                    <a:pt x="33" y="74"/>
                    <a:pt x="32" y="75"/>
                  </a:cubicBezTo>
                  <a:cubicBezTo>
                    <a:pt x="26" y="77"/>
                    <a:pt x="20" y="80"/>
                    <a:pt x="14" y="82"/>
                  </a:cubicBezTo>
                  <a:cubicBezTo>
                    <a:pt x="9" y="85"/>
                    <a:pt x="2" y="85"/>
                    <a:pt x="0" y="91"/>
                  </a:cubicBezTo>
                  <a:cubicBezTo>
                    <a:pt x="0" y="95"/>
                    <a:pt x="0" y="103"/>
                    <a:pt x="0" y="108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7" y="108"/>
                    <a:pt x="67" y="108"/>
                    <a:pt x="67" y="108"/>
                  </a:cubicBezTo>
                  <a:cubicBezTo>
                    <a:pt x="115" y="108"/>
                    <a:pt x="115" y="108"/>
                    <a:pt x="115" y="108"/>
                  </a:cubicBezTo>
                  <a:cubicBezTo>
                    <a:pt x="115" y="103"/>
                    <a:pt x="114" y="95"/>
                    <a:pt x="114" y="91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74" name="Freeform 2311"/>
          <p:cNvSpPr>
            <a:spLocks noEditPoints="1"/>
          </p:cNvSpPr>
          <p:nvPr/>
        </p:nvSpPr>
        <p:spPr bwMode="auto">
          <a:xfrm>
            <a:off x="1864527" y="5085012"/>
            <a:ext cx="148380" cy="300379"/>
          </a:xfrm>
          <a:custGeom>
            <a:avLst/>
            <a:gdLst>
              <a:gd name="T0" fmla="*/ 297 w 348"/>
              <a:gd name="T1" fmla="*/ 0 h 705"/>
              <a:gd name="T2" fmla="*/ 46 w 348"/>
              <a:gd name="T3" fmla="*/ 0 h 705"/>
              <a:gd name="T4" fmla="*/ 0 w 348"/>
              <a:gd name="T5" fmla="*/ 50 h 705"/>
              <a:gd name="T6" fmla="*/ 0 w 348"/>
              <a:gd name="T7" fmla="*/ 655 h 705"/>
              <a:gd name="T8" fmla="*/ 46 w 348"/>
              <a:gd name="T9" fmla="*/ 705 h 705"/>
              <a:gd name="T10" fmla="*/ 297 w 348"/>
              <a:gd name="T11" fmla="*/ 705 h 705"/>
              <a:gd name="T12" fmla="*/ 348 w 348"/>
              <a:gd name="T13" fmla="*/ 655 h 705"/>
              <a:gd name="T14" fmla="*/ 348 w 348"/>
              <a:gd name="T15" fmla="*/ 50 h 705"/>
              <a:gd name="T16" fmla="*/ 297 w 348"/>
              <a:gd name="T17" fmla="*/ 0 h 705"/>
              <a:gd name="T18" fmla="*/ 331 w 348"/>
              <a:gd name="T19" fmla="*/ 631 h 705"/>
              <a:gd name="T20" fmla="*/ 304 w 348"/>
              <a:gd name="T21" fmla="*/ 664 h 705"/>
              <a:gd name="T22" fmla="*/ 48 w 348"/>
              <a:gd name="T23" fmla="*/ 664 h 705"/>
              <a:gd name="T24" fmla="*/ 17 w 348"/>
              <a:gd name="T25" fmla="*/ 631 h 705"/>
              <a:gd name="T26" fmla="*/ 17 w 348"/>
              <a:gd name="T27" fmla="*/ 74 h 705"/>
              <a:gd name="T28" fmla="*/ 48 w 348"/>
              <a:gd name="T29" fmla="*/ 42 h 705"/>
              <a:gd name="T30" fmla="*/ 304 w 348"/>
              <a:gd name="T31" fmla="*/ 42 h 705"/>
              <a:gd name="T32" fmla="*/ 331 w 348"/>
              <a:gd name="T33" fmla="*/ 74 h 705"/>
              <a:gd name="T34" fmla="*/ 331 w 348"/>
              <a:gd name="T35" fmla="*/ 631 h 7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48" h="705">
                <a:moveTo>
                  <a:pt x="297" y="0"/>
                </a:moveTo>
                <a:cubicBezTo>
                  <a:pt x="297" y="0"/>
                  <a:pt x="297" y="0"/>
                  <a:pt x="46" y="0"/>
                </a:cubicBezTo>
                <a:cubicBezTo>
                  <a:pt x="21" y="0"/>
                  <a:pt x="0" y="21"/>
                  <a:pt x="0" y="50"/>
                </a:cubicBezTo>
                <a:cubicBezTo>
                  <a:pt x="0" y="61"/>
                  <a:pt x="0" y="144"/>
                  <a:pt x="0" y="655"/>
                </a:cubicBezTo>
                <a:cubicBezTo>
                  <a:pt x="0" y="684"/>
                  <a:pt x="21" y="705"/>
                  <a:pt x="46" y="705"/>
                </a:cubicBezTo>
                <a:cubicBezTo>
                  <a:pt x="46" y="705"/>
                  <a:pt x="46" y="705"/>
                  <a:pt x="297" y="705"/>
                </a:cubicBezTo>
                <a:cubicBezTo>
                  <a:pt x="327" y="705"/>
                  <a:pt x="348" y="684"/>
                  <a:pt x="348" y="655"/>
                </a:cubicBezTo>
                <a:cubicBezTo>
                  <a:pt x="348" y="644"/>
                  <a:pt x="348" y="561"/>
                  <a:pt x="348" y="50"/>
                </a:cubicBezTo>
                <a:cubicBezTo>
                  <a:pt x="348" y="21"/>
                  <a:pt x="327" y="0"/>
                  <a:pt x="297" y="0"/>
                </a:cubicBezTo>
                <a:close/>
                <a:moveTo>
                  <a:pt x="331" y="631"/>
                </a:moveTo>
                <a:cubicBezTo>
                  <a:pt x="331" y="647"/>
                  <a:pt x="319" y="664"/>
                  <a:pt x="304" y="664"/>
                </a:cubicBezTo>
                <a:cubicBezTo>
                  <a:pt x="48" y="664"/>
                  <a:pt x="48" y="664"/>
                  <a:pt x="48" y="664"/>
                </a:cubicBezTo>
                <a:cubicBezTo>
                  <a:pt x="32" y="664"/>
                  <a:pt x="17" y="647"/>
                  <a:pt x="17" y="631"/>
                </a:cubicBezTo>
                <a:cubicBezTo>
                  <a:pt x="17" y="167"/>
                  <a:pt x="17" y="86"/>
                  <a:pt x="17" y="74"/>
                </a:cubicBezTo>
                <a:cubicBezTo>
                  <a:pt x="17" y="54"/>
                  <a:pt x="32" y="42"/>
                  <a:pt x="48" y="42"/>
                </a:cubicBezTo>
                <a:cubicBezTo>
                  <a:pt x="304" y="42"/>
                  <a:pt x="304" y="42"/>
                  <a:pt x="304" y="42"/>
                </a:cubicBezTo>
                <a:cubicBezTo>
                  <a:pt x="319" y="42"/>
                  <a:pt x="331" y="54"/>
                  <a:pt x="331" y="74"/>
                </a:cubicBezTo>
                <a:cubicBezTo>
                  <a:pt x="331" y="539"/>
                  <a:pt x="331" y="619"/>
                  <a:pt x="331" y="631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" name="Freeform 2312"/>
          <p:cNvSpPr>
            <a:spLocks noEditPoints="1"/>
          </p:cNvSpPr>
          <p:nvPr/>
        </p:nvSpPr>
        <p:spPr bwMode="auto">
          <a:xfrm>
            <a:off x="1631825" y="3610403"/>
            <a:ext cx="601481" cy="437902"/>
          </a:xfrm>
          <a:custGeom>
            <a:avLst/>
            <a:gdLst>
              <a:gd name="T0" fmla="*/ 831 w 831"/>
              <a:gd name="T1" fmla="*/ 511 h 605"/>
              <a:gd name="T2" fmla="*/ 831 w 831"/>
              <a:gd name="T3" fmla="*/ 0 h 605"/>
              <a:gd name="T4" fmla="*/ 0 w 831"/>
              <a:gd name="T5" fmla="*/ 0 h 605"/>
              <a:gd name="T6" fmla="*/ 0 w 831"/>
              <a:gd name="T7" fmla="*/ 511 h 605"/>
              <a:gd name="T8" fmla="*/ 396 w 831"/>
              <a:gd name="T9" fmla="*/ 511 h 605"/>
              <a:gd name="T10" fmla="*/ 396 w 831"/>
              <a:gd name="T11" fmla="*/ 568 h 605"/>
              <a:gd name="T12" fmla="*/ 155 w 831"/>
              <a:gd name="T13" fmla="*/ 585 h 605"/>
              <a:gd name="T14" fmla="*/ 145 w 831"/>
              <a:gd name="T15" fmla="*/ 605 h 605"/>
              <a:gd name="T16" fmla="*/ 416 w 831"/>
              <a:gd name="T17" fmla="*/ 595 h 605"/>
              <a:gd name="T18" fmla="*/ 687 w 831"/>
              <a:gd name="T19" fmla="*/ 605 h 605"/>
              <a:gd name="T20" fmla="*/ 677 w 831"/>
              <a:gd name="T21" fmla="*/ 585 h 605"/>
              <a:gd name="T22" fmla="*/ 436 w 831"/>
              <a:gd name="T23" fmla="*/ 568 h 605"/>
              <a:gd name="T24" fmla="*/ 436 w 831"/>
              <a:gd name="T25" fmla="*/ 511 h 605"/>
              <a:gd name="T26" fmla="*/ 831 w 831"/>
              <a:gd name="T27" fmla="*/ 511 h 605"/>
              <a:gd name="T28" fmla="*/ 30 w 831"/>
              <a:gd name="T29" fmla="*/ 482 h 605"/>
              <a:gd name="T30" fmla="*/ 30 w 831"/>
              <a:gd name="T31" fmla="*/ 29 h 605"/>
              <a:gd name="T32" fmla="*/ 801 w 831"/>
              <a:gd name="T33" fmla="*/ 29 h 605"/>
              <a:gd name="T34" fmla="*/ 801 w 831"/>
              <a:gd name="T35" fmla="*/ 482 h 605"/>
              <a:gd name="T36" fmla="*/ 30 w 831"/>
              <a:gd name="T37" fmla="*/ 482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31" h="605">
                <a:moveTo>
                  <a:pt x="831" y="511"/>
                </a:moveTo>
                <a:lnTo>
                  <a:pt x="831" y="0"/>
                </a:lnTo>
                <a:lnTo>
                  <a:pt x="0" y="0"/>
                </a:lnTo>
                <a:lnTo>
                  <a:pt x="0" y="511"/>
                </a:lnTo>
                <a:lnTo>
                  <a:pt x="396" y="511"/>
                </a:lnTo>
                <a:lnTo>
                  <a:pt x="396" y="568"/>
                </a:lnTo>
                <a:lnTo>
                  <a:pt x="155" y="585"/>
                </a:lnTo>
                <a:lnTo>
                  <a:pt x="145" y="605"/>
                </a:lnTo>
                <a:lnTo>
                  <a:pt x="416" y="595"/>
                </a:lnTo>
                <a:lnTo>
                  <a:pt x="687" y="605"/>
                </a:lnTo>
                <a:lnTo>
                  <a:pt x="677" y="585"/>
                </a:lnTo>
                <a:lnTo>
                  <a:pt x="436" y="568"/>
                </a:lnTo>
                <a:lnTo>
                  <a:pt x="436" y="511"/>
                </a:lnTo>
                <a:lnTo>
                  <a:pt x="831" y="511"/>
                </a:lnTo>
                <a:close/>
                <a:moveTo>
                  <a:pt x="30" y="482"/>
                </a:moveTo>
                <a:lnTo>
                  <a:pt x="30" y="29"/>
                </a:lnTo>
                <a:lnTo>
                  <a:pt x="801" y="29"/>
                </a:lnTo>
                <a:lnTo>
                  <a:pt x="801" y="482"/>
                </a:lnTo>
                <a:lnTo>
                  <a:pt x="30" y="482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76" name="그룹 75"/>
          <p:cNvGrpSpPr/>
          <p:nvPr/>
        </p:nvGrpSpPr>
        <p:grpSpPr>
          <a:xfrm>
            <a:off x="1613005" y="4380279"/>
            <a:ext cx="639119" cy="366245"/>
            <a:chOff x="8916987" y="1719263"/>
            <a:chExt cx="1401762" cy="803275"/>
          </a:xfrm>
        </p:grpSpPr>
        <p:sp>
          <p:nvSpPr>
            <p:cNvPr id="77" name="Freeform 2313"/>
            <p:cNvSpPr>
              <a:spLocks/>
            </p:cNvSpPr>
            <p:nvPr/>
          </p:nvSpPr>
          <p:spPr bwMode="auto">
            <a:xfrm>
              <a:off x="8916987" y="2466975"/>
              <a:ext cx="1401762" cy="55563"/>
            </a:xfrm>
            <a:custGeom>
              <a:avLst/>
              <a:gdLst>
                <a:gd name="T0" fmla="*/ 1490 w 1501"/>
                <a:gd name="T1" fmla="*/ 0 h 60"/>
                <a:gd name="T2" fmla="*/ 12 w 1501"/>
                <a:gd name="T3" fmla="*/ 0 h 60"/>
                <a:gd name="T4" fmla="*/ 0 w 1501"/>
                <a:gd name="T5" fmla="*/ 6 h 60"/>
                <a:gd name="T6" fmla="*/ 115 w 1501"/>
                <a:gd name="T7" fmla="*/ 60 h 60"/>
                <a:gd name="T8" fmla="*/ 897 w 1501"/>
                <a:gd name="T9" fmla="*/ 60 h 60"/>
                <a:gd name="T10" fmla="*/ 1012 w 1501"/>
                <a:gd name="T11" fmla="*/ 60 h 60"/>
                <a:gd name="T12" fmla="*/ 1076 w 1501"/>
                <a:gd name="T13" fmla="*/ 60 h 60"/>
                <a:gd name="T14" fmla="*/ 1122 w 1501"/>
                <a:gd name="T15" fmla="*/ 60 h 60"/>
                <a:gd name="T16" fmla="*/ 1185 w 1501"/>
                <a:gd name="T17" fmla="*/ 60 h 60"/>
                <a:gd name="T18" fmla="*/ 1260 w 1501"/>
                <a:gd name="T19" fmla="*/ 60 h 60"/>
                <a:gd name="T20" fmla="*/ 1386 w 1501"/>
                <a:gd name="T21" fmla="*/ 60 h 60"/>
                <a:gd name="T22" fmla="*/ 1501 w 1501"/>
                <a:gd name="T23" fmla="*/ 6 h 60"/>
                <a:gd name="T24" fmla="*/ 1490 w 1501"/>
                <a:gd name="T25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60">
                  <a:moveTo>
                    <a:pt x="149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6"/>
                  </a:cubicBezTo>
                  <a:cubicBezTo>
                    <a:pt x="0" y="38"/>
                    <a:pt x="52" y="60"/>
                    <a:pt x="115" y="60"/>
                  </a:cubicBezTo>
                  <a:cubicBezTo>
                    <a:pt x="558" y="60"/>
                    <a:pt x="782" y="60"/>
                    <a:pt x="897" y="60"/>
                  </a:cubicBezTo>
                  <a:cubicBezTo>
                    <a:pt x="1012" y="60"/>
                    <a:pt x="1012" y="60"/>
                    <a:pt x="1012" y="60"/>
                  </a:cubicBezTo>
                  <a:cubicBezTo>
                    <a:pt x="1076" y="60"/>
                    <a:pt x="1076" y="60"/>
                    <a:pt x="1076" y="60"/>
                  </a:cubicBezTo>
                  <a:cubicBezTo>
                    <a:pt x="1122" y="60"/>
                    <a:pt x="1122" y="60"/>
                    <a:pt x="1122" y="60"/>
                  </a:cubicBezTo>
                  <a:cubicBezTo>
                    <a:pt x="1185" y="60"/>
                    <a:pt x="1185" y="60"/>
                    <a:pt x="1185" y="60"/>
                  </a:cubicBezTo>
                  <a:cubicBezTo>
                    <a:pt x="1214" y="60"/>
                    <a:pt x="1237" y="60"/>
                    <a:pt x="1260" y="60"/>
                  </a:cubicBezTo>
                  <a:cubicBezTo>
                    <a:pt x="1386" y="60"/>
                    <a:pt x="1386" y="60"/>
                    <a:pt x="1386" y="60"/>
                  </a:cubicBezTo>
                  <a:cubicBezTo>
                    <a:pt x="1449" y="60"/>
                    <a:pt x="1501" y="38"/>
                    <a:pt x="1501" y="6"/>
                  </a:cubicBezTo>
                  <a:cubicBezTo>
                    <a:pt x="1501" y="6"/>
                    <a:pt x="1495" y="0"/>
                    <a:pt x="1490" y="0"/>
                  </a:cubicBezTo>
                  <a:close/>
                </a:path>
              </a:pathLst>
            </a:custGeom>
            <a:solidFill>
              <a:srgbClr val="343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Oval 2310"/>
            <p:cNvSpPr>
              <a:spLocks noChangeArrowheads="1"/>
            </p:cNvSpPr>
            <p:nvPr/>
          </p:nvSpPr>
          <p:spPr bwMode="auto">
            <a:xfrm>
              <a:off x="9604375" y="1728788"/>
              <a:ext cx="26987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Freeform 2314"/>
            <p:cNvSpPr>
              <a:spLocks noEditPoints="1"/>
            </p:cNvSpPr>
            <p:nvPr/>
          </p:nvSpPr>
          <p:spPr bwMode="auto">
            <a:xfrm>
              <a:off x="9037637" y="1719263"/>
              <a:ext cx="1160462" cy="728663"/>
            </a:xfrm>
            <a:custGeom>
              <a:avLst/>
              <a:gdLst>
                <a:gd name="T0" fmla="*/ 35 w 1243"/>
                <a:gd name="T1" fmla="*/ 780 h 780"/>
                <a:gd name="T2" fmla="*/ 1209 w 1243"/>
                <a:gd name="T3" fmla="*/ 780 h 780"/>
                <a:gd name="T4" fmla="*/ 1243 w 1243"/>
                <a:gd name="T5" fmla="*/ 745 h 780"/>
                <a:gd name="T6" fmla="*/ 1243 w 1243"/>
                <a:gd name="T7" fmla="*/ 35 h 780"/>
                <a:gd name="T8" fmla="*/ 1209 w 1243"/>
                <a:gd name="T9" fmla="*/ 0 h 780"/>
                <a:gd name="T10" fmla="*/ 35 w 1243"/>
                <a:gd name="T11" fmla="*/ 0 h 780"/>
                <a:gd name="T12" fmla="*/ 0 w 1243"/>
                <a:gd name="T13" fmla="*/ 35 h 780"/>
                <a:gd name="T14" fmla="*/ 0 w 1243"/>
                <a:gd name="T15" fmla="*/ 745 h 780"/>
                <a:gd name="T16" fmla="*/ 35 w 1243"/>
                <a:gd name="T17" fmla="*/ 780 h 780"/>
                <a:gd name="T18" fmla="*/ 44 w 1243"/>
                <a:gd name="T19" fmla="*/ 47 h 780"/>
                <a:gd name="T20" fmla="*/ 1199 w 1243"/>
                <a:gd name="T21" fmla="*/ 47 h 780"/>
                <a:gd name="T22" fmla="*/ 1199 w 1243"/>
                <a:gd name="T23" fmla="*/ 711 h 780"/>
                <a:gd name="T24" fmla="*/ 44 w 1243"/>
                <a:gd name="T25" fmla="*/ 711 h 780"/>
                <a:gd name="T26" fmla="*/ 44 w 1243"/>
                <a:gd name="T27" fmla="*/ 47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43" h="780">
                  <a:moveTo>
                    <a:pt x="35" y="780"/>
                  </a:moveTo>
                  <a:cubicBezTo>
                    <a:pt x="35" y="780"/>
                    <a:pt x="35" y="780"/>
                    <a:pt x="1209" y="780"/>
                  </a:cubicBezTo>
                  <a:cubicBezTo>
                    <a:pt x="1231" y="780"/>
                    <a:pt x="1243" y="763"/>
                    <a:pt x="1243" y="745"/>
                  </a:cubicBezTo>
                  <a:cubicBezTo>
                    <a:pt x="1243" y="745"/>
                    <a:pt x="1243" y="745"/>
                    <a:pt x="1243" y="35"/>
                  </a:cubicBezTo>
                  <a:cubicBezTo>
                    <a:pt x="1243" y="12"/>
                    <a:pt x="1231" y="0"/>
                    <a:pt x="1209" y="0"/>
                  </a:cubicBezTo>
                  <a:cubicBezTo>
                    <a:pt x="1209" y="0"/>
                    <a:pt x="1209" y="0"/>
                    <a:pt x="35" y="0"/>
                  </a:cubicBezTo>
                  <a:cubicBezTo>
                    <a:pt x="12" y="0"/>
                    <a:pt x="0" y="12"/>
                    <a:pt x="0" y="35"/>
                  </a:cubicBezTo>
                  <a:cubicBezTo>
                    <a:pt x="0" y="35"/>
                    <a:pt x="0" y="35"/>
                    <a:pt x="0" y="745"/>
                  </a:cubicBezTo>
                  <a:cubicBezTo>
                    <a:pt x="0" y="763"/>
                    <a:pt x="12" y="780"/>
                    <a:pt x="35" y="780"/>
                  </a:cubicBezTo>
                  <a:close/>
                  <a:moveTo>
                    <a:pt x="44" y="47"/>
                  </a:moveTo>
                  <a:cubicBezTo>
                    <a:pt x="1199" y="47"/>
                    <a:pt x="1199" y="47"/>
                    <a:pt x="1199" y="47"/>
                  </a:cubicBezTo>
                  <a:cubicBezTo>
                    <a:pt x="1199" y="711"/>
                    <a:pt x="1199" y="711"/>
                    <a:pt x="1199" y="711"/>
                  </a:cubicBezTo>
                  <a:cubicBezTo>
                    <a:pt x="44" y="711"/>
                    <a:pt x="44" y="711"/>
                    <a:pt x="44" y="711"/>
                  </a:cubicBezTo>
                  <a:lnTo>
                    <a:pt x="44" y="47"/>
                  </a:lnTo>
                  <a:close/>
                </a:path>
              </a:pathLst>
            </a:custGeom>
            <a:solidFill>
              <a:srgbClr val="343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3104964" y="4262638"/>
            <a:ext cx="733892" cy="483886"/>
            <a:chOff x="3942974" y="6793427"/>
            <a:chExt cx="733892" cy="483886"/>
          </a:xfrm>
        </p:grpSpPr>
        <p:sp>
          <p:nvSpPr>
            <p:cNvPr id="83" name="Freeform 18"/>
            <p:cNvSpPr>
              <a:spLocks noEditPoints="1"/>
            </p:cNvSpPr>
            <p:nvPr/>
          </p:nvSpPr>
          <p:spPr bwMode="auto">
            <a:xfrm>
              <a:off x="3942974" y="6793427"/>
              <a:ext cx="733892" cy="483886"/>
            </a:xfrm>
            <a:custGeom>
              <a:avLst/>
              <a:gdLst>
                <a:gd name="T0" fmla="*/ 156 w 386"/>
                <a:gd name="T1" fmla="*/ 16 h 254"/>
                <a:gd name="T2" fmla="*/ 216 w 386"/>
                <a:gd name="T3" fmla="*/ 47 h 254"/>
                <a:gd name="T4" fmla="*/ 224 w 386"/>
                <a:gd name="T5" fmla="*/ 61 h 254"/>
                <a:gd name="T6" fmla="*/ 237 w 386"/>
                <a:gd name="T7" fmla="*/ 53 h 254"/>
                <a:gd name="T8" fmla="*/ 262 w 386"/>
                <a:gd name="T9" fmla="*/ 46 h 254"/>
                <a:gd name="T10" fmla="*/ 309 w 386"/>
                <a:gd name="T11" fmla="*/ 82 h 254"/>
                <a:gd name="T12" fmla="*/ 313 w 386"/>
                <a:gd name="T13" fmla="*/ 95 h 254"/>
                <a:gd name="T14" fmla="*/ 326 w 386"/>
                <a:gd name="T15" fmla="*/ 93 h 254"/>
                <a:gd name="T16" fmla="*/ 330 w 386"/>
                <a:gd name="T17" fmla="*/ 93 h 254"/>
                <a:gd name="T18" fmla="*/ 370 w 386"/>
                <a:gd name="T19" fmla="*/ 133 h 254"/>
                <a:gd name="T20" fmla="*/ 333 w 386"/>
                <a:gd name="T21" fmla="*/ 173 h 254"/>
                <a:gd name="T22" fmla="*/ 324 w 386"/>
                <a:gd name="T23" fmla="*/ 174 h 254"/>
                <a:gd name="T24" fmla="*/ 320 w 386"/>
                <a:gd name="T25" fmla="*/ 182 h 254"/>
                <a:gd name="T26" fmla="*/ 254 w 386"/>
                <a:gd name="T27" fmla="*/ 221 h 254"/>
                <a:gd name="T28" fmla="*/ 222 w 386"/>
                <a:gd name="T29" fmla="*/ 214 h 254"/>
                <a:gd name="T30" fmla="*/ 212 w 386"/>
                <a:gd name="T31" fmla="*/ 209 h 254"/>
                <a:gd name="T32" fmla="*/ 204 w 386"/>
                <a:gd name="T33" fmla="*/ 217 h 254"/>
                <a:gd name="T34" fmla="*/ 149 w 386"/>
                <a:gd name="T35" fmla="*/ 238 h 254"/>
                <a:gd name="T36" fmla="*/ 75 w 386"/>
                <a:gd name="T37" fmla="*/ 190 h 254"/>
                <a:gd name="T38" fmla="*/ 72 w 386"/>
                <a:gd name="T39" fmla="*/ 181 h 254"/>
                <a:gd name="T40" fmla="*/ 62 w 386"/>
                <a:gd name="T41" fmla="*/ 180 h 254"/>
                <a:gd name="T42" fmla="*/ 16 w 386"/>
                <a:gd name="T43" fmla="*/ 128 h 254"/>
                <a:gd name="T44" fmla="*/ 68 w 386"/>
                <a:gd name="T45" fmla="*/ 76 h 254"/>
                <a:gd name="T46" fmla="*/ 73 w 386"/>
                <a:gd name="T47" fmla="*/ 76 h 254"/>
                <a:gd name="T48" fmla="*/ 87 w 386"/>
                <a:gd name="T49" fmla="*/ 77 h 254"/>
                <a:gd name="T50" fmla="*/ 90 w 386"/>
                <a:gd name="T51" fmla="*/ 63 h 254"/>
                <a:gd name="T52" fmla="*/ 156 w 386"/>
                <a:gd name="T53" fmla="*/ 16 h 254"/>
                <a:gd name="T54" fmla="*/ 156 w 386"/>
                <a:gd name="T55" fmla="*/ 0 h 254"/>
                <a:gd name="T56" fmla="*/ 74 w 386"/>
                <a:gd name="T57" fmla="*/ 60 h 254"/>
                <a:gd name="T58" fmla="*/ 68 w 386"/>
                <a:gd name="T59" fmla="*/ 60 h 254"/>
                <a:gd name="T60" fmla="*/ 0 w 386"/>
                <a:gd name="T61" fmla="*/ 128 h 254"/>
                <a:gd name="T62" fmla="*/ 60 w 386"/>
                <a:gd name="T63" fmla="*/ 196 h 254"/>
                <a:gd name="T64" fmla="*/ 149 w 386"/>
                <a:gd name="T65" fmla="*/ 254 h 254"/>
                <a:gd name="T66" fmla="*/ 215 w 386"/>
                <a:gd name="T67" fmla="*/ 228 h 254"/>
                <a:gd name="T68" fmla="*/ 254 w 386"/>
                <a:gd name="T69" fmla="*/ 237 h 254"/>
                <a:gd name="T70" fmla="*/ 334 w 386"/>
                <a:gd name="T71" fmla="*/ 189 h 254"/>
                <a:gd name="T72" fmla="*/ 386 w 386"/>
                <a:gd name="T73" fmla="*/ 133 h 254"/>
                <a:gd name="T74" fmla="*/ 330 w 386"/>
                <a:gd name="T75" fmla="*/ 77 h 254"/>
                <a:gd name="T76" fmla="*/ 324 w 386"/>
                <a:gd name="T77" fmla="*/ 77 h 254"/>
                <a:gd name="T78" fmla="*/ 262 w 386"/>
                <a:gd name="T79" fmla="*/ 30 h 254"/>
                <a:gd name="T80" fmla="*/ 229 w 386"/>
                <a:gd name="T81" fmla="*/ 39 h 254"/>
                <a:gd name="T82" fmla="*/ 156 w 386"/>
                <a:gd name="T83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6" h="254">
                  <a:moveTo>
                    <a:pt x="156" y="16"/>
                  </a:moveTo>
                  <a:cubicBezTo>
                    <a:pt x="181" y="16"/>
                    <a:pt x="204" y="28"/>
                    <a:pt x="216" y="47"/>
                  </a:cubicBezTo>
                  <a:cubicBezTo>
                    <a:pt x="224" y="61"/>
                    <a:pt x="224" y="61"/>
                    <a:pt x="224" y="61"/>
                  </a:cubicBezTo>
                  <a:cubicBezTo>
                    <a:pt x="237" y="53"/>
                    <a:pt x="237" y="53"/>
                    <a:pt x="237" y="53"/>
                  </a:cubicBezTo>
                  <a:cubicBezTo>
                    <a:pt x="245" y="48"/>
                    <a:pt x="253" y="46"/>
                    <a:pt x="262" y="46"/>
                  </a:cubicBezTo>
                  <a:cubicBezTo>
                    <a:pt x="283" y="46"/>
                    <a:pt x="302" y="60"/>
                    <a:pt x="309" y="82"/>
                  </a:cubicBezTo>
                  <a:cubicBezTo>
                    <a:pt x="313" y="95"/>
                    <a:pt x="313" y="95"/>
                    <a:pt x="313" y="95"/>
                  </a:cubicBezTo>
                  <a:cubicBezTo>
                    <a:pt x="326" y="93"/>
                    <a:pt x="326" y="93"/>
                    <a:pt x="326" y="93"/>
                  </a:cubicBezTo>
                  <a:cubicBezTo>
                    <a:pt x="328" y="93"/>
                    <a:pt x="329" y="93"/>
                    <a:pt x="330" y="93"/>
                  </a:cubicBezTo>
                  <a:cubicBezTo>
                    <a:pt x="352" y="93"/>
                    <a:pt x="370" y="111"/>
                    <a:pt x="370" y="133"/>
                  </a:cubicBezTo>
                  <a:cubicBezTo>
                    <a:pt x="370" y="154"/>
                    <a:pt x="354" y="172"/>
                    <a:pt x="333" y="173"/>
                  </a:cubicBezTo>
                  <a:cubicBezTo>
                    <a:pt x="324" y="174"/>
                    <a:pt x="324" y="174"/>
                    <a:pt x="324" y="174"/>
                  </a:cubicBezTo>
                  <a:cubicBezTo>
                    <a:pt x="320" y="182"/>
                    <a:pt x="320" y="182"/>
                    <a:pt x="320" y="182"/>
                  </a:cubicBezTo>
                  <a:cubicBezTo>
                    <a:pt x="307" y="206"/>
                    <a:pt x="282" y="221"/>
                    <a:pt x="254" y="221"/>
                  </a:cubicBezTo>
                  <a:cubicBezTo>
                    <a:pt x="243" y="221"/>
                    <a:pt x="232" y="219"/>
                    <a:pt x="222" y="214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04" y="217"/>
                    <a:pt x="204" y="217"/>
                    <a:pt x="204" y="217"/>
                  </a:cubicBezTo>
                  <a:cubicBezTo>
                    <a:pt x="189" y="231"/>
                    <a:pt x="169" y="238"/>
                    <a:pt x="149" y="238"/>
                  </a:cubicBezTo>
                  <a:cubicBezTo>
                    <a:pt x="117" y="238"/>
                    <a:pt x="88" y="219"/>
                    <a:pt x="75" y="190"/>
                  </a:cubicBezTo>
                  <a:cubicBezTo>
                    <a:pt x="72" y="181"/>
                    <a:pt x="72" y="181"/>
                    <a:pt x="72" y="181"/>
                  </a:cubicBezTo>
                  <a:cubicBezTo>
                    <a:pt x="62" y="180"/>
                    <a:pt x="62" y="180"/>
                    <a:pt x="62" y="180"/>
                  </a:cubicBezTo>
                  <a:cubicBezTo>
                    <a:pt x="36" y="177"/>
                    <a:pt x="16" y="155"/>
                    <a:pt x="16" y="128"/>
                  </a:cubicBezTo>
                  <a:cubicBezTo>
                    <a:pt x="16" y="99"/>
                    <a:pt x="39" y="76"/>
                    <a:pt x="68" y="76"/>
                  </a:cubicBezTo>
                  <a:cubicBezTo>
                    <a:pt x="69" y="76"/>
                    <a:pt x="71" y="76"/>
                    <a:pt x="73" y="76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90" y="63"/>
                    <a:pt x="90" y="63"/>
                    <a:pt x="90" y="63"/>
                  </a:cubicBezTo>
                  <a:cubicBezTo>
                    <a:pt x="95" y="36"/>
                    <a:pt x="123" y="16"/>
                    <a:pt x="156" y="16"/>
                  </a:cubicBezTo>
                  <a:moveTo>
                    <a:pt x="156" y="0"/>
                  </a:moveTo>
                  <a:cubicBezTo>
                    <a:pt x="115" y="0"/>
                    <a:pt x="81" y="26"/>
                    <a:pt x="74" y="60"/>
                  </a:cubicBezTo>
                  <a:cubicBezTo>
                    <a:pt x="72" y="60"/>
                    <a:pt x="70" y="60"/>
                    <a:pt x="68" y="60"/>
                  </a:cubicBezTo>
                  <a:cubicBezTo>
                    <a:pt x="30" y="60"/>
                    <a:pt x="0" y="90"/>
                    <a:pt x="0" y="128"/>
                  </a:cubicBezTo>
                  <a:cubicBezTo>
                    <a:pt x="0" y="163"/>
                    <a:pt x="26" y="192"/>
                    <a:pt x="60" y="196"/>
                  </a:cubicBezTo>
                  <a:cubicBezTo>
                    <a:pt x="75" y="230"/>
                    <a:pt x="109" y="254"/>
                    <a:pt x="149" y="254"/>
                  </a:cubicBezTo>
                  <a:cubicBezTo>
                    <a:pt x="174" y="254"/>
                    <a:pt x="197" y="244"/>
                    <a:pt x="215" y="228"/>
                  </a:cubicBezTo>
                  <a:cubicBezTo>
                    <a:pt x="227" y="234"/>
                    <a:pt x="240" y="237"/>
                    <a:pt x="254" y="237"/>
                  </a:cubicBezTo>
                  <a:cubicBezTo>
                    <a:pt x="289" y="237"/>
                    <a:pt x="319" y="218"/>
                    <a:pt x="334" y="189"/>
                  </a:cubicBezTo>
                  <a:cubicBezTo>
                    <a:pt x="363" y="187"/>
                    <a:pt x="386" y="163"/>
                    <a:pt x="386" y="133"/>
                  </a:cubicBezTo>
                  <a:cubicBezTo>
                    <a:pt x="386" y="102"/>
                    <a:pt x="361" y="77"/>
                    <a:pt x="330" y="77"/>
                  </a:cubicBezTo>
                  <a:cubicBezTo>
                    <a:pt x="328" y="77"/>
                    <a:pt x="326" y="77"/>
                    <a:pt x="324" y="77"/>
                  </a:cubicBezTo>
                  <a:cubicBezTo>
                    <a:pt x="316" y="50"/>
                    <a:pt x="291" y="30"/>
                    <a:pt x="262" y="30"/>
                  </a:cubicBezTo>
                  <a:cubicBezTo>
                    <a:pt x="250" y="30"/>
                    <a:pt x="239" y="33"/>
                    <a:pt x="229" y="39"/>
                  </a:cubicBezTo>
                  <a:cubicBezTo>
                    <a:pt x="216" y="16"/>
                    <a:pt x="188" y="0"/>
                    <a:pt x="156" y="0"/>
                  </a:cubicBezTo>
                  <a:close/>
                </a:path>
              </a:pathLst>
            </a:custGeom>
            <a:solidFill>
              <a:srgbClr val="0093D4"/>
            </a:solidFill>
            <a:ln>
              <a:noFill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endParaRPr lang="ko-KR" altLang="en-US" sz="100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88" name="직사각형 87"/>
            <p:cNvSpPr/>
            <p:nvPr/>
          </p:nvSpPr>
          <p:spPr bwMode="gray">
            <a:xfrm>
              <a:off x="4094970" y="6881483"/>
              <a:ext cx="412969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latinLnBrk="0"/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인터넷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/>
              </a:r>
              <a:b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</a:b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VDI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89" name="직선 화살표 연결선 88"/>
          <p:cNvCxnSpPr/>
          <p:nvPr/>
        </p:nvCxnSpPr>
        <p:spPr bwMode="gray">
          <a:xfrm>
            <a:off x="2415902" y="4508527"/>
            <a:ext cx="686983" cy="0"/>
          </a:xfrm>
          <a:prstGeom prst="straightConnector1">
            <a:avLst/>
          </a:prstGeom>
          <a:ln w="15875">
            <a:solidFill>
              <a:srgbClr val="EB61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타원 51"/>
          <p:cNvSpPr/>
          <p:nvPr/>
        </p:nvSpPr>
        <p:spPr bwMode="gray">
          <a:xfrm>
            <a:off x="4534824" y="3260812"/>
            <a:ext cx="1651198" cy="23428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162531" tIns="81264" rIns="162531" bIns="81264" rtlCol="0" anchor="ctr"/>
          <a:lstStyle/>
          <a:p>
            <a:pPr algn="ctr" defTabSz="914377"/>
            <a:endParaRPr lang="ko-KR" altLang="en-US" sz="10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4911119" y="3561382"/>
            <a:ext cx="322543" cy="373679"/>
            <a:chOff x="1482725" y="6569980"/>
            <a:chExt cx="130175" cy="150813"/>
          </a:xfrm>
        </p:grpSpPr>
        <p:sp>
          <p:nvSpPr>
            <p:cNvPr id="92" name="Freeform 1684"/>
            <p:cNvSpPr>
              <a:spLocks noEditPoints="1"/>
            </p:cNvSpPr>
            <p:nvPr/>
          </p:nvSpPr>
          <p:spPr bwMode="auto">
            <a:xfrm>
              <a:off x="1536700" y="6569980"/>
              <a:ext cx="76200" cy="150813"/>
            </a:xfrm>
            <a:custGeom>
              <a:avLst/>
              <a:gdLst>
                <a:gd name="T0" fmla="*/ 71 w 82"/>
                <a:gd name="T1" fmla="*/ 2 h 162"/>
                <a:gd name="T2" fmla="*/ 9 w 82"/>
                <a:gd name="T3" fmla="*/ 2 h 162"/>
                <a:gd name="T4" fmla="*/ 0 w 82"/>
                <a:gd name="T5" fmla="*/ 19 h 162"/>
                <a:gd name="T6" fmla="*/ 80 w 82"/>
                <a:gd name="T7" fmla="*/ 162 h 162"/>
                <a:gd name="T8" fmla="*/ 80 w 82"/>
                <a:gd name="T9" fmla="*/ 17 h 162"/>
                <a:gd name="T10" fmla="*/ 54 w 82"/>
                <a:gd name="T11" fmla="*/ 13 h 162"/>
                <a:gd name="T12" fmla="*/ 33 w 82"/>
                <a:gd name="T13" fmla="*/ 4 h 162"/>
                <a:gd name="T14" fmla="*/ 33 w 82"/>
                <a:gd name="T15" fmla="*/ 13 h 162"/>
                <a:gd name="T16" fmla="*/ 10 w 82"/>
                <a:gd name="T17" fmla="*/ 111 h 162"/>
                <a:gd name="T18" fmla="*/ 21 w 82"/>
                <a:gd name="T19" fmla="*/ 111 h 162"/>
                <a:gd name="T20" fmla="*/ 10 w 82"/>
                <a:gd name="T21" fmla="*/ 81 h 162"/>
                <a:gd name="T22" fmla="*/ 21 w 82"/>
                <a:gd name="T23" fmla="*/ 74 h 162"/>
                <a:gd name="T24" fmla="*/ 21 w 82"/>
                <a:gd name="T25" fmla="*/ 62 h 162"/>
                <a:gd name="T26" fmla="*/ 10 w 82"/>
                <a:gd name="T27" fmla="*/ 56 h 162"/>
                <a:gd name="T28" fmla="*/ 21 w 82"/>
                <a:gd name="T29" fmla="*/ 56 h 162"/>
                <a:gd name="T30" fmla="*/ 10 w 82"/>
                <a:gd name="T31" fmla="*/ 26 h 162"/>
                <a:gd name="T32" fmla="*/ 22 w 82"/>
                <a:gd name="T33" fmla="*/ 13 h 162"/>
                <a:gd name="T34" fmla="*/ 22 w 82"/>
                <a:gd name="T35" fmla="*/ 4 h 162"/>
                <a:gd name="T36" fmla="*/ 30 w 82"/>
                <a:gd name="T37" fmla="*/ 4 h 162"/>
                <a:gd name="T38" fmla="*/ 25 w 82"/>
                <a:gd name="T39" fmla="*/ 4 h 162"/>
                <a:gd name="T40" fmla="*/ 27 w 82"/>
                <a:gd name="T41" fmla="*/ 99 h 162"/>
                <a:gd name="T42" fmla="*/ 38 w 82"/>
                <a:gd name="T43" fmla="*/ 92 h 162"/>
                <a:gd name="T44" fmla="*/ 38 w 82"/>
                <a:gd name="T45" fmla="*/ 81 h 162"/>
                <a:gd name="T46" fmla="*/ 27 w 82"/>
                <a:gd name="T47" fmla="*/ 74 h 162"/>
                <a:gd name="T48" fmla="*/ 38 w 82"/>
                <a:gd name="T49" fmla="*/ 74 h 162"/>
                <a:gd name="T50" fmla="*/ 27 w 82"/>
                <a:gd name="T51" fmla="*/ 44 h 162"/>
                <a:gd name="T52" fmla="*/ 38 w 82"/>
                <a:gd name="T53" fmla="*/ 37 h 162"/>
                <a:gd name="T54" fmla="*/ 38 w 82"/>
                <a:gd name="T55" fmla="*/ 26 h 162"/>
                <a:gd name="T56" fmla="*/ 46 w 82"/>
                <a:gd name="T57" fmla="*/ 4 h 162"/>
                <a:gd name="T58" fmla="*/ 41 w 82"/>
                <a:gd name="T59" fmla="*/ 4 h 162"/>
                <a:gd name="T60" fmla="*/ 44 w 82"/>
                <a:gd name="T61" fmla="*/ 99 h 162"/>
                <a:gd name="T62" fmla="*/ 55 w 82"/>
                <a:gd name="T63" fmla="*/ 92 h 162"/>
                <a:gd name="T64" fmla="*/ 55 w 82"/>
                <a:gd name="T65" fmla="*/ 81 h 162"/>
                <a:gd name="T66" fmla="*/ 44 w 82"/>
                <a:gd name="T67" fmla="*/ 74 h 162"/>
                <a:gd name="T68" fmla="*/ 55 w 82"/>
                <a:gd name="T69" fmla="*/ 74 h 162"/>
                <a:gd name="T70" fmla="*/ 44 w 82"/>
                <a:gd name="T71" fmla="*/ 44 h 162"/>
                <a:gd name="T72" fmla="*/ 55 w 82"/>
                <a:gd name="T73" fmla="*/ 37 h 162"/>
                <a:gd name="T74" fmla="*/ 55 w 82"/>
                <a:gd name="T75" fmla="*/ 26 h 162"/>
                <a:gd name="T76" fmla="*/ 62 w 82"/>
                <a:gd name="T77" fmla="*/ 4 h 162"/>
                <a:gd name="T78" fmla="*/ 58 w 82"/>
                <a:gd name="T79" fmla="*/ 4 h 162"/>
                <a:gd name="T80" fmla="*/ 61 w 82"/>
                <a:gd name="T81" fmla="*/ 99 h 162"/>
                <a:gd name="T82" fmla="*/ 72 w 82"/>
                <a:gd name="T83" fmla="*/ 92 h 162"/>
                <a:gd name="T84" fmla="*/ 72 w 82"/>
                <a:gd name="T85" fmla="*/ 81 h 162"/>
                <a:gd name="T86" fmla="*/ 61 w 82"/>
                <a:gd name="T87" fmla="*/ 74 h 162"/>
                <a:gd name="T88" fmla="*/ 72 w 82"/>
                <a:gd name="T89" fmla="*/ 74 h 162"/>
                <a:gd name="T90" fmla="*/ 61 w 82"/>
                <a:gd name="T91" fmla="*/ 44 h 162"/>
                <a:gd name="T92" fmla="*/ 72 w 82"/>
                <a:gd name="T93" fmla="*/ 37 h 162"/>
                <a:gd name="T94" fmla="*/ 72 w 82"/>
                <a:gd name="T95" fmla="*/ 2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2" h="162">
                  <a:moveTo>
                    <a:pt x="80" y="17"/>
                  </a:moveTo>
                  <a:cubicBezTo>
                    <a:pt x="71" y="17"/>
                    <a:pt x="71" y="17"/>
                    <a:pt x="71" y="17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0" y="0"/>
                    <a:pt x="6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1"/>
                    <a:pt x="9" y="2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7"/>
                    <a:pt x="0" y="18"/>
                    <a:pt x="0" y="1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60"/>
                    <a:pt x="1" y="162"/>
                    <a:pt x="2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1" y="162"/>
                    <a:pt x="82" y="160"/>
                    <a:pt x="82" y="15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8"/>
                    <a:pt x="81" y="17"/>
                    <a:pt x="80" y="17"/>
                  </a:cubicBezTo>
                  <a:close/>
                  <a:moveTo>
                    <a:pt x="50" y="4"/>
                  </a:moveTo>
                  <a:cubicBezTo>
                    <a:pt x="54" y="4"/>
                    <a:pt x="54" y="4"/>
                    <a:pt x="54" y="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0" y="13"/>
                    <a:pt x="50" y="13"/>
                    <a:pt x="50" y="13"/>
                  </a:cubicBezTo>
                  <a:lnTo>
                    <a:pt x="50" y="4"/>
                  </a:lnTo>
                  <a:close/>
                  <a:moveTo>
                    <a:pt x="33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3" y="13"/>
                    <a:pt x="33" y="13"/>
                    <a:pt x="33" y="13"/>
                  </a:cubicBezTo>
                  <a:lnTo>
                    <a:pt x="33" y="4"/>
                  </a:lnTo>
                  <a:close/>
                  <a:moveTo>
                    <a:pt x="21" y="111"/>
                  </a:moveTo>
                  <a:cubicBezTo>
                    <a:pt x="10" y="111"/>
                    <a:pt x="10" y="111"/>
                    <a:pt x="10" y="111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21" y="99"/>
                    <a:pt x="21" y="99"/>
                    <a:pt x="21" y="99"/>
                  </a:cubicBezTo>
                  <a:lnTo>
                    <a:pt x="21" y="111"/>
                  </a:lnTo>
                  <a:close/>
                  <a:moveTo>
                    <a:pt x="21" y="92"/>
                  </a:moveTo>
                  <a:cubicBezTo>
                    <a:pt x="10" y="92"/>
                    <a:pt x="10" y="92"/>
                    <a:pt x="10" y="92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21" y="81"/>
                    <a:pt x="21" y="81"/>
                    <a:pt x="21" y="81"/>
                  </a:cubicBezTo>
                  <a:lnTo>
                    <a:pt x="21" y="92"/>
                  </a:lnTo>
                  <a:close/>
                  <a:moveTo>
                    <a:pt x="21" y="74"/>
                  </a:moveTo>
                  <a:cubicBezTo>
                    <a:pt x="10" y="74"/>
                    <a:pt x="10" y="74"/>
                    <a:pt x="10" y="74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21" y="62"/>
                    <a:pt x="21" y="62"/>
                    <a:pt x="21" y="62"/>
                  </a:cubicBezTo>
                  <a:lnTo>
                    <a:pt x="21" y="74"/>
                  </a:lnTo>
                  <a:close/>
                  <a:moveTo>
                    <a:pt x="21" y="56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1" y="56"/>
                  </a:lnTo>
                  <a:close/>
                  <a:moveTo>
                    <a:pt x="21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21" y="26"/>
                    <a:pt x="21" y="26"/>
                    <a:pt x="21" y="26"/>
                  </a:cubicBezTo>
                  <a:lnTo>
                    <a:pt x="21" y="37"/>
                  </a:lnTo>
                  <a:close/>
                  <a:moveTo>
                    <a:pt x="22" y="13"/>
                  </a:moveTo>
                  <a:cubicBezTo>
                    <a:pt x="17" y="13"/>
                    <a:pt x="17" y="13"/>
                    <a:pt x="17" y="1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2" y="4"/>
                    <a:pt x="22" y="4"/>
                    <a:pt x="22" y="4"/>
                  </a:cubicBezTo>
                  <a:lnTo>
                    <a:pt x="22" y="13"/>
                  </a:lnTo>
                  <a:close/>
                  <a:moveTo>
                    <a:pt x="25" y="4"/>
                  </a:moveTo>
                  <a:cubicBezTo>
                    <a:pt x="30" y="4"/>
                    <a:pt x="30" y="4"/>
                    <a:pt x="30" y="4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5" y="13"/>
                    <a:pt x="25" y="13"/>
                    <a:pt x="25" y="13"/>
                  </a:cubicBezTo>
                  <a:lnTo>
                    <a:pt x="25" y="4"/>
                  </a:lnTo>
                  <a:close/>
                  <a:moveTo>
                    <a:pt x="38" y="111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38" y="99"/>
                    <a:pt x="38" y="99"/>
                    <a:pt x="38" y="99"/>
                  </a:cubicBezTo>
                  <a:lnTo>
                    <a:pt x="38" y="111"/>
                  </a:lnTo>
                  <a:close/>
                  <a:moveTo>
                    <a:pt x="38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38" y="81"/>
                    <a:pt x="38" y="81"/>
                    <a:pt x="38" y="81"/>
                  </a:cubicBezTo>
                  <a:lnTo>
                    <a:pt x="38" y="92"/>
                  </a:lnTo>
                  <a:close/>
                  <a:moveTo>
                    <a:pt x="38" y="74"/>
                  </a:moveTo>
                  <a:cubicBezTo>
                    <a:pt x="27" y="74"/>
                    <a:pt x="27" y="74"/>
                    <a:pt x="27" y="74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38" y="62"/>
                    <a:pt x="38" y="62"/>
                    <a:pt x="38" y="62"/>
                  </a:cubicBezTo>
                  <a:lnTo>
                    <a:pt x="38" y="74"/>
                  </a:lnTo>
                  <a:close/>
                  <a:moveTo>
                    <a:pt x="38" y="56"/>
                  </a:moveTo>
                  <a:cubicBezTo>
                    <a:pt x="27" y="56"/>
                    <a:pt x="27" y="56"/>
                    <a:pt x="27" y="56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38" y="44"/>
                    <a:pt x="38" y="44"/>
                    <a:pt x="38" y="44"/>
                  </a:cubicBezTo>
                  <a:lnTo>
                    <a:pt x="38" y="56"/>
                  </a:lnTo>
                  <a:close/>
                  <a:moveTo>
                    <a:pt x="38" y="37"/>
                  </a:moveTo>
                  <a:cubicBezTo>
                    <a:pt x="27" y="37"/>
                    <a:pt x="27" y="37"/>
                    <a:pt x="27" y="37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38" y="26"/>
                    <a:pt x="38" y="26"/>
                    <a:pt x="38" y="26"/>
                  </a:cubicBezTo>
                  <a:lnTo>
                    <a:pt x="38" y="37"/>
                  </a:lnTo>
                  <a:close/>
                  <a:moveTo>
                    <a:pt x="41" y="4"/>
                  </a:moveTo>
                  <a:cubicBezTo>
                    <a:pt x="46" y="4"/>
                    <a:pt x="46" y="4"/>
                    <a:pt x="46" y="4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1" y="4"/>
                  </a:lnTo>
                  <a:close/>
                  <a:moveTo>
                    <a:pt x="55" y="111"/>
                  </a:moveTo>
                  <a:cubicBezTo>
                    <a:pt x="44" y="111"/>
                    <a:pt x="44" y="111"/>
                    <a:pt x="44" y="111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55" y="99"/>
                    <a:pt x="55" y="99"/>
                    <a:pt x="55" y="99"/>
                  </a:cubicBezTo>
                  <a:lnTo>
                    <a:pt x="55" y="111"/>
                  </a:lnTo>
                  <a:close/>
                  <a:moveTo>
                    <a:pt x="55" y="92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55" y="81"/>
                    <a:pt x="55" y="81"/>
                    <a:pt x="55" y="81"/>
                  </a:cubicBezTo>
                  <a:lnTo>
                    <a:pt x="55" y="92"/>
                  </a:lnTo>
                  <a:close/>
                  <a:moveTo>
                    <a:pt x="55" y="74"/>
                  </a:moveTo>
                  <a:cubicBezTo>
                    <a:pt x="44" y="74"/>
                    <a:pt x="44" y="74"/>
                    <a:pt x="44" y="74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55" y="62"/>
                    <a:pt x="55" y="62"/>
                    <a:pt x="55" y="62"/>
                  </a:cubicBezTo>
                  <a:lnTo>
                    <a:pt x="55" y="74"/>
                  </a:lnTo>
                  <a:close/>
                  <a:moveTo>
                    <a:pt x="55" y="56"/>
                  </a:moveTo>
                  <a:cubicBezTo>
                    <a:pt x="44" y="56"/>
                    <a:pt x="44" y="56"/>
                    <a:pt x="44" y="5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55" y="44"/>
                    <a:pt x="55" y="44"/>
                    <a:pt x="55" y="44"/>
                  </a:cubicBezTo>
                  <a:lnTo>
                    <a:pt x="55" y="56"/>
                  </a:lnTo>
                  <a:close/>
                  <a:moveTo>
                    <a:pt x="55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55" y="26"/>
                    <a:pt x="55" y="26"/>
                    <a:pt x="55" y="26"/>
                  </a:cubicBezTo>
                  <a:lnTo>
                    <a:pt x="55" y="37"/>
                  </a:lnTo>
                  <a:close/>
                  <a:moveTo>
                    <a:pt x="58" y="4"/>
                  </a:moveTo>
                  <a:cubicBezTo>
                    <a:pt x="62" y="4"/>
                    <a:pt x="62" y="4"/>
                    <a:pt x="62" y="4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58" y="13"/>
                    <a:pt x="58" y="13"/>
                    <a:pt x="58" y="13"/>
                  </a:cubicBezTo>
                  <a:lnTo>
                    <a:pt x="58" y="4"/>
                  </a:lnTo>
                  <a:close/>
                  <a:moveTo>
                    <a:pt x="72" y="111"/>
                  </a:moveTo>
                  <a:cubicBezTo>
                    <a:pt x="61" y="111"/>
                    <a:pt x="61" y="111"/>
                    <a:pt x="61" y="111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72" y="99"/>
                    <a:pt x="72" y="99"/>
                    <a:pt x="72" y="99"/>
                  </a:cubicBezTo>
                  <a:lnTo>
                    <a:pt x="72" y="111"/>
                  </a:lnTo>
                  <a:close/>
                  <a:moveTo>
                    <a:pt x="72" y="92"/>
                  </a:moveTo>
                  <a:cubicBezTo>
                    <a:pt x="61" y="92"/>
                    <a:pt x="61" y="92"/>
                    <a:pt x="61" y="92"/>
                  </a:cubicBezTo>
                  <a:cubicBezTo>
                    <a:pt x="61" y="81"/>
                    <a:pt x="61" y="81"/>
                    <a:pt x="61" y="81"/>
                  </a:cubicBezTo>
                  <a:cubicBezTo>
                    <a:pt x="72" y="81"/>
                    <a:pt x="72" y="81"/>
                    <a:pt x="72" y="81"/>
                  </a:cubicBezTo>
                  <a:lnTo>
                    <a:pt x="72" y="92"/>
                  </a:lnTo>
                  <a:close/>
                  <a:moveTo>
                    <a:pt x="72" y="74"/>
                  </a:moveTo>
                  <a:cubicBezTo>
                    <a:pt x="61" y="74"/>
                    <a:pt x="61" y="74"/>
                    <a:pt x="61" y="74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72" y="62"/>
                    <a:pt x="72" y="62"/>
                    <a:pt x="72" y="62"/>
                  </a:cubicBezTo>
                  <a:lnTo>
                    <a:pt x="72" y="74"/>
                  </a:lnTo>
                  <a:close/>
                  <a:moveTo>
                    <a:pt x="72" y="56"/>
                  </a:moveTo>
                  <a:cubicBezTo>
                    <a:pt x="61" y="56"/>
                    <a:pt x="61" y="56"/>
                    <a:pt x="61" y="56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72" y="44"/>
                    <a:pt x="72" y="44"/>
                    <a:pt x="72" y="44"/>
                  </a:cubicBezTo>
                  <a:lnTo>
                    <a:pt x="72" y="56"/>
                  </a:lnTo>
                  <a:close/>
                  <a:moveTo>
                    <a:pt x="7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72" y="26"/>
                    <a:pt x="72" y="26"/>
                    <a:pt x="72" y="26"/>
                  </a:cubicBezTo>
                  <a:lnTo>
                    <a:pt x="72" y="37"/>
                  </a:ln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93" name="Freeform 1685"/>
            <p:cNvSpPr>
              <a:spLocks noEditPoints="1"/>
            </p:cNvSpPr>
            <p:nvPr/>
          </p:nvSpPr>
          <p:spPr bwMode="auto">
            <a:xfrm>
              <a:off x="1482725" y="6633480"/>
              <a:ext cx="53975" cy="87313"/>
            </a:xfrm>
            <a:custGeom>
              <a:avLst/>
              <a:gdLst>
                <a:gd name="T0" fmla="*/ 20 w 58"/>
                <a:gd name="T1" fmla="*/ 88 h 93"/>
                <a:gd name="T2" fmla="*/ 21 w 58"/>
                <a:gd name="T3" fmla="*/ 67 h 93"/>
                <a:gd name="T4" fmla="*/ 36 w 58"/>
                <a:gd name="T5" fmla="*/ 68 h 93"/>
                <a:gd name="T6" fmla="*/ 35 w 58"/>
                <a:gd name="T7" fmla="*/ 89 h 93"/>
                <a:gd name="T8" fmla="*/ 17 w 58"/>
                <a:gd name="T9" fmla="*/ 49 h 93"/>
                <a:gd name="T10" fmla="*/ 25 w 58"/>
                <a:gd name="T11" fmla="*/ 43 h 93"/>
                <a:gd name="T12" fmla="*/ 17 w 58"/>
                <a:gd name="T13" fmla="*/ 49 h 93"/>
                <a:gd name="T14" fmla="*/ 33 w 58"/>
                <a:gd name="T15" fmla="*/ 43 h 93"/>
                <a:gd name="T16" fmla="*/ 40 w 58"/>
                <a:gd name="T17" fmla="*/ 49 h 93"/>
                <a:gd name="T18" fmla="*/ 10 w 58"/>
                <a:gd name="T19" fmla="*/ 37 h 93"/>
                <a:gd name="T20" fmla="*/ 18 w 58"/>
                <a:gd name="T21" fmla="*/ 31 h 93"/>
                <a:gd name="T22" fmla="*/ 10 w 58"/>
                <a:gd name="T23" fmla="*/ 37 h 93"/>
                <a:gd name="T24" fmla="*/ 25 w 58"/>
                <a:gd name="T25" fmla="*/ 31 h 93"/>
                <a:gd name="T26" fmla="*/ 32 w 58"/>
                <a:gd name="T27" fmla="*/ 37 h 93"/>
                <a:gd name="T28" fmla="*/ 40 w 58"/>
                <a:gd name="T29" fmla="*/ 37 h 93"/>
                <a:gd name="T30" fmla="*/ 47 w 58"/>
                <a:gd name="T31" fmla="*/ 31 h 93"/>
                <a:gd name="T32" fmla="*/ 40 w 58"/>
                <a:gd name="T33" fmla="*/ 37 h 93"/>
                <a:gd name="T34" fmla="*/ 17 w 58"/>
                <a:gd name="T35" fmla="*/ 19 h 93"/>
                <a:gd name="T36" fmla="*/ 25 w 58"/>
                <a:gd name="T37" fmla="*/ 25 h 93"/>
                <a:gd name="T38" fmla="*/ 33 w 58"/>
                <a:gd name="T39" fmla="*/ 25 h 93"/>
                <a:gd name="T40" fmla="*/ 40 w 58"/>
                <a:gd name="T41" fmla="*/ 19 h 93"/>
                <a:gd name="T42" fmla="*/ 33 w 58"/>
                <a:gd name="T43" fmla="*/ 25 h 93"/>
                <a:gd name="T44" fmla="*/ 10 w 58"/>
                <a:gd name="T45" fmla="*/ 7 h 93"/>
                <a:gd name="T46" fmla="*/ 18 w 58"/>
                <a:gd name="T47" fmla="*/ 13 h 93"/>
                <a:gd name="T48" fmla="*/ 25 w 58"/>
                <a:gd name="T49" fmla="*/ 13 h 93"/>
                <a:gd name="T50" fmla="*/ 32 w 58"/>
                <a:gd name="T51" fmla="*/ 7 h 93"/>
                <a:gd name="T52" fmla="*/ 25 w 58"/>
                <a:gd name="T53" fmla="*/ 13 h 93"/>
                <a:gd name="T54" fmla="*/ 40 w 58"/>
                <a:gd name="T55" fmla="*/ 7 h 93"/>
                <a:gd name="T56" fmla="*/ 47 w 58"/>
                <a:gd name="T57" fmla="*/ 13 h 93"/>
                <a:gd name="T58" fmla="*/ 51 w 58"/>
                <a:gd name="T59" fmla="*/ 0 h 93"/>
                <a:gd name="T60" fmla="*/ 4 w 58"/>
                <a:gd name="T61" fmla="*/ 3 h 93"/>
                <a:gd name="T62" fmla="*/ 0 w 58"/>
                <a:gd name="T63" fmla="*/ 56 h 93"/>
                <a:gd name="T64" fmla="*/ 4 w 58"/>
                <a:gd name="T65" fmla="*/ 64 h 93"/>
                <a:gd name="T66" fmla="*/ 6 w 58"/>
                <a:gd name="T67" fmla="*/ 93 h 93"/>
                <a:gd name="T68" fmla="*/ 54 w 58"/>
                <a:gd name="T69" fmla="*/ 90 h 93"/>
                <a:gd name="T70" fmla="*/ 58 w 58"/>
                <a:gd name="T71" fmla="*/ 64 h 93"/>
                <a:gd name="T72" fmla="*/ 54 w 58"/>
                <a:gd name="T73" fmla="*/ 56 h 93"/>
                <a:gd name="T74" fmla="*/ 51 w 58"/>
                <a:gd name="T7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8" h="93">
                  <a:moveTo>
                    <a:pt x="21" y="89"/>
                  </a:moveTo>
                  <a:cubicBezTo>
                    <a:pt x="21" y="89"/>
                    <a:pt x="20" y="89"/>
                    <a:pt x="20" y="8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20" y="67"/>
                    <a:pt x="21" y="67"/>
                    <a:pt x="21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6" y="67"/>
                    <a:pt x="36" y="6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9"/>
                    <a:pt x="36" y="89"/>
                    <a:pt x="35" y="89"/>
                  </a:cubicBezTo>
                  <a:cubicBezTo>
                    <a:pt x="21" y="89"/>
                    <a:pt x="21" y="89"/>
                    <a:pt x="21" y="89"/>
                  </a:cubicBezTo>
                  <a:moveTo>
                    <a:pt x="17" y="49"/>
                  </a:moveTo>
                  <a:cubicBezTo>
                    <a:pt x="17" y="43"/>
                    <a:pt x="17" y="43"/>
                    <a:pt x="17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17" y="49"/>
                    <a:pt x="17" y="49"/>
                    <a:pt x="17" y="49"/>
                  </a:cubicBezTo>
                  <a:moveTo>
                    <a:pt x="33" y="49"/>
                  </a:moveTo>
                  <a:cubicBezTo>
                    <a:pt x="33" y="43"/>
                    <a:pt x="33" y="43"/>
                    <a:pt x="33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3" y="49"/>
                    <a:pt x="33" y="49"/>
                    <a:pt x="33" y="49"/>
                  </a:cubicBezTo>
                  <a:moveTo>
                    <a:pt x="10" y="37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0" y="37"/>
                    <a:pt x="10" y="37"/>
                    <a:pt x="10" y="37"/>
                  </a:cubicBezTo>
                  <a:moveTo>
                    <a:pt x="25" y="37"/>
                  </a:moveTo>
                  <a:cubicBezTo>
                    <a:pt x="25" y="31"/>
                    <a:pt x="25" y="31"/>
                    <a:pt x="25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25" y="37"/>
                    <a:pt x="25" y="37"/>
                    <a:pt x="25" y="37"/>
                  </a:cubicBezTo>
                  <a:moveTo>
                    <a:pt x="40" y="37"/>
                  </a:moveTo>
                  <a:cubicBezTo>
                    <a:pt x="40" y="31"/>
                    <a:pt x="40" y="31"/>
                    <a:pt x="40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0" y="37"/>
                    <a:pt x="40" y="37"/>
                    <a:pt x="40" y="37"/>
                  </a:cubicBezTo>
                  <a:moveTo>
                    <a:pt x="17" y="25"/>
                  </a:moveTo>
                  <a:cubicBezTo>
                    <a:pt x="17" y="19"/>
                    <a:pt x="17" y="19"/>
                    <a:pt x="17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17" y="25"/>
                    <a:pt x="17" y="25"/>
                    <a:pt x="17" y="25"/>
                  </a:cubicBezTo>
                  <a:moveTo>
                    <a:pt x="33" y="25"/>
                  </a:moveTo>
                  <a:cubicBezTo>
                    <a:pt x="33" y="19"/>
                    <a:pt x="33" y="19"/>
                    <a:pt x="33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3" y="25"/>
                    <a:pt x="33" y="25"/>
                    <a:pt x="33" y="25"/>
                  </a:cubicBezTo>
                  <a:moveTo>
                    <a:pt x="10" y="13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0" y="13"/>
                    <a:pt x="10" y="13"/>
                    <a:pt x="10" y="13"/>
                  </a:cubicBezTo>
                  <a:moveTo>
                    <a:pt x="25" y="13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25" y="13"/>
                    <a:pt x="25" y="13"/>
                    <a:pt x="25" y="13"/>
                  </a:cubicBezTo>
                  <a:moveTo>
                    <a:pt x="40" y="13"/>
                  </a:moveTo>
                  <a:cubicBezTo>
                    <a:pt x="40" y="7"/>
                    <a:pt x="40" y="7"/>
                    <a:pt x="40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0" y="13"/>
                    <a:pt x="40" y="13"/>
                    <a:pt x="40" y="13"/>
                  </a:cubicBezTo>
                  <a:moveTo>
                    <a:pt x="5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1"/>
                    <a:pt x="5" y="93"/>
                    <a:pt x="6" y="93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3" y="93"/>
                    <a:pt x="54" y="91"/>
                    <a:pt x="54" y="90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1"/>
                    <a:pt x="53" y="0"/>
                    <a:pt x="51" y="0"/>
                  </a:cubicBezTo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94" name="그룹 93"/>
          <p:cNvGrpSpPr/>
          <p:nvPr/>
        </p:nvGrpSpPr>
        <p:grpSpPr>
          <a:xfrm>
            <a:off x="4905164" y="4229677"/>
            <a:ext cx="322543" cy="373679"/>
            <a:chOff x="1482725" y="6569980"/>
            <a:chExt cx="130175" cy="150813"/>
          </a:xfrm>
        </p:grpSpPr>
        <p:sp>
          <p:nvSpPr>
            <p:cNvPr id="95" name="Freeform 1684"/>
            <p:cNvSpPr>
              <a:spLocks noEditPoints="1"/>
            </p:cNvSpPr>
            <p:nvPr/>
          </p:nvSpPr>
          <p:spPr bwMode="auto">
            <a:xfrm>
              <a:off x="1536700" y="6569980"/>
              <a:ext cx="76200" cy="150813"/>
            </a:xfrm>
            <a:custGeom>
              <a:avLst/>
              <a:gdLst>
                <a:gd name="T0" fmla="*/ 71 w 82"/>
                <a:gd name="T1" fmla="*/ 2 h 162"/>
                <a:gd name="T2" fmla="*/ 9 w 82"/>
                <a:gd name="T3" fmla="*/ 2 h 162"/>
                <a:gd name="T4" fmla="*/ 0 w 82"/>
                <a:gd name="T5" fmla="*/ 19 h 162"/>
                <a:gd name="T6" fmla="*/ 80 w 82"/>
                <a:gd name="T7" fmla="*/ 162 h 162"/>
                <a:gd name="T8" fmla="*/ 80 w 82"/>
                <a:gd name="T9" fmla="*/ 17 h 162"/>
                <a:gd name="T10" fmla="*/ 54 w 82"/>
                <a:gd name="T11" fmla="*/ 13 h 162"/>
                <a:gd name="T12" fmla="*/ 33 w 82"/>
                <a:gd name="T13" fmla="*/ 4 h 162"/>
                <a:gd name="T14" fmla="*/ 33 w 82"/>
                <a:gd name="T15" fmla="*/ 13 h 162"/>
                <a:gd name="T16" fmla="*/ 10 w 82"/>
                <a:gd name="T17" fmla="*/ 111 h 162"/>
                <a:gd name="T18" fmla="*/ 21 w 82"/>
                <a:gd name="T19" fmla="*/ 111 h 162"/>
                <a:gd name="T20" fmla="*/ 10 w 82"/>
                <a:gd name="T21" fmla="*/ 81 h 162"/>
                <a:gd name="T22" fmla="*/ 21 w 82"/>
                <a:gd name="T23" fmla="*/ 74 h 162"/>
                <a:gd name="T24" fmla="*/ 21 w 82"/>
                <a:gd name="T25" fmla="*/ 62 h 162"/>
                <a:gd name="T26" fmla="*/ 10 w 82"/>
                <a:gd name="T27" fmla="*/ 56 h 162"/>
                <a:gd name="T28" fmla="*/ 21 w 82"/>
                <a:gd name="T29" fmla="*/ 56 h 162"/>
                <a:gd name="T30" fmla="*/ 10 w 82"/>
                <a:gd name="T31" fmla="*/ 26 h 162"/>
                <a:gd name="T32" fmla="*/ 22 w 82"/>
                <a:gd name="T33" fmla="*/ 13 h 162"/>
                <a:gd name="T34" fmla="*/ 22 w 82"/>
                <a:gd name="T35" fmla="*/ 4 h 162"/>
                <a:gd name="T36" fmla="*/ 30 w 82"/>
                <a:gd name="T37" fmla="*/ 4 h 162"/>
                <a:gd name="T38" fmla="*/ 25 w 82"/>
                <a:gd name="T39" fmla="*/ 4 h 162"/>
                <a:gd name="T40" fmla="*/ 27 w 82"/>
                <a:gd name="T41" fmla="*/ 99 h 162"/>
                <a:gd name="T42" fmla="*/ 38 w 82"/>
                <a:gd name="T43" fmla="*/ 92 h 162"/>
                <a:gd name="T44" fmla="*/ 38 w 82"/>
                <a:gd name="T45" fmla="*/ 81 h 162"/>
                <a:gd name="T46" fmla="*/ 27 w 82"/>
                <a:gd name="T47" fmla="*/ 74 h 162"/>
                <a:gd name="T48" fmla="*/ 38 w 82"/>
                <a:gd name="T49" fmla="*/ 74 h 162"/>
                <a:gd name="T50" fmla="*/ 27 w 82"/>
                <a:gd name="T51" fmla="*/ 44 h 162"/>
                <a:gd name="T52" fmla="*/ 38 w 82"/>
                <a:gd name="T53" fmla="*/ 37 h 162"/>
                <a:gd name="T54" fmla="*/ 38 w 82"/>
                <a:gd name="T55" fmla="*/ 26 h 162"/>
                <a:gd name="T56" fmla="*/ 46 w 82"/>
                <a:gd name="T57" fmla="*/ 4 h 162"/>
                <a:gd name="T58" fmla="*/ 41 w 82"/>
                <a:gd name="T59" fmla="*/ 4 h 162"/>
                <a:gd name="T60" fmla="*/ 44 w 82"/>
                <a:gd name="T61" fmla="*/ 99 h 162"/>
                <a:gd name="T62" fmla="*/ 55 w 82"/>
                <a:gd name="T63" fmla="*/ 92 h 162"/>
                <a:gd name="T64" fmla="*/ 55 w 82"/>
                <a:gd name="T65" fmla="*/ 81 h 162"/>
                <a:gd name="T66" fmla="*/ 44 w 82"/>
                <a:gd name="T67" fmla="*/ 74 h 162"/>
                <a:gd name="T68" fmla="*/ 55 w 82"/>
                <a:gd name="T69" fmla="*/ 74 h 162"/>
                <a:gd name="T70" fmla="*/ 44 w 82"/>
                <a:gd name="T71" fmla="*/ 44 h 162"/>
                <a:gd name="T72" fmla="*/ 55 w 82"/>
                <a:gd name="T73" fmla="*/ 37 h 162"/>
                <a:gd name="T74" fmla="*/ 55 w 82"/>
                <a:gd name="T75" fmla="*/ 26 h 162"/>
                <a:gd name="T76" fmla="*/ 62 w 82"/>
                <a:gd name="T77" fmla="*/ 4 h 162"/>
                <a:gd name="T78" fmla="*/ 58 w 82"/>
                <a:gd name="T79" fmla="*/ 4 h 162"/>
                <a:gd name="T80" fmla="*/ 61 w 82"/>
                <a:gd name="T81" fmla="*/ 99 h 162"/>
                <a:gd name="T82" fmla="*/ 72 w 82"/>
                <a:gd name="T83" fmla="*/ 92 h 162"/>
                <a:gd name="T84" fmla="*/ 72 w 82"/>
                <a:gd name="T85" fmla="*/ 81 h 162"/>
                <a:gd name="T86" fmla="*/ 61 w 82"/>
                <a:gd name="T87" fmla="*/ 74 h 162"/>
                <a:gd name="T88" fmla="*/ 72 w 82"/>
                <a:gd name="T89" fmla="*/ 74 h 162"/>
                <a:gd name="T90" fmla="*/ 61 w 82"/>
                <a:gd name="T91" fmla="*/ 44 h 162"/>
                <a:gd name="T92" fmla="*/ 72 w 82"/>
                <a:gd name="T93" fmla="*/ 37 h 162"/>
                <a:gd name="T94" fmla="*/ 72 w 82"/>
                <a:gd name="T95" fmla="*/ 2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2" h="162">
                  <a:moveTo>
                    <a:pt x="80" y="17"/>
                  </a:moveTo>
                  <a:cubicBezTo>
                    <a:pt x="71" y="17"/>
                    <a:pt x="71" y="17"/>
                    <a:pt x="71" y="17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0" y="0"/>
                    <a:pt x="6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1"/>
                    <a:pt x="9" y="2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7"/>
                    <a:pt x="0" y="18"/>
                    <a:pt x="0" y="1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60"/>
                    <a:pt x="1" y="162"/>
                    <a:pt x="2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1" y="162"/>
                    <a:pt x="82" y="160"/>
                    <a:pt x="82" y="15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8"/>
                    <a:pt x="81" y="17"/>
                    <a:pt x="80" y="17"/>
                  </a:cubicBezTo>
                  <a:close/>
                  <a:moveTo>
                    <a:pt x="50" y="4"/>
                  </a:moveTo>
                  <a:cubicBezTo>
                    <a:pt x="54" y="4"/>
                    <a:pt x="54" y="4"/>
                    <a:pt x="54" y="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0" y="13"/>
                    <a:pt x="50" y="13"/>
                    <a:pt x="50" y="13"/>
                  </a:cubicBezTo>
                  <a:lnTo>
                    <a:pt x="50" y="4"/>
                  </a:lnTo>
                  <a:close/>
                  <a:moveTo>
                    <a:pt x="33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3" y="13"/>
                    <a:pt x="33" y="13"/>
                    <a:pt x="33" y="13"/>
                  </a:cubicBezTo>
                  <a:lnTo>
                    <a:pt x="33" y="4"/>
                  </a:lnTo>
                  <a:close/>
                  <a:moveTo>
                    <a:pt x="21" y="111"/>
                  </a:moveTo>
                  <a:cubicBezTo>
                    <a:pt x="10" y="111"/>
                    <a:pt x="10" y="111"/>
                    <a:pt x="10" y="111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21" y="99"/>
                    <a:pt x="21" y="99"/>
                    <a:pt x="21" y="99"/>
                  </a:cubicBezTo>
                  <a:lnTo>
                    <a:pt x="21" y="111"/>
                  </a:lnTo>
                  <a:close/>
                  <a:moveTo>
                    <a:pt x="21" y="92"/>
                  </a:moveTo>
                  <a:cubicBezTo>
                    <a:pt x="10" y="92"/>
                    <a:pt x="10" y="92"/>
                    <a:pt x="10" y="92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21" y="81"/>
                    <a:pt x="21" y="81"/>
                    <a:pt x="21" y="81"/>
                  </a:cubicBezTo>
                  <a:lnTo>
                    <a:pt x="21" y="92"/>
                  </a:lnTo>
                  <a:close/>
                  <a:moveTo>
                    <a:pt x="21" y="74"/>
                  </a:moveTo>
                  <a:cubicBezTo>
                    <a:pt x="10" y="74"/>
                    <a:pt x="10" y="74"/>
                    <a:pt x="10" y="74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21" y="62"/>
                    <a:pt x="21" y="62"/>
                    <a:pt x="21" y="62"/>
                  </a:cubicBezTo>
                  <a:lnTo>
                    <a:pt x="21" y="74"/>
                  </a:lnTo>
                  <a:close/>
                  <a:moveTo>
                    <a:pt x="21" y="56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1" y="56"/>
                  </a:lnTo>
                  <a:close/>
                  <a:moveTo>
                    <a:pt x="21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21" y="26"/>
                    <a:pt x="21" y="26"/>
                    <a:pt x="21" y="26"/>
                  </a:cubicBezTo>
                  <a:lnTo>
                    <a:pt x="21" y="37"/>
                  </a:lnTo>
                  <a:close/>
                  <a:moveTo>
                    <a:pt x="22" y="13"/>
                  </a:moveTo>
                  <a:cubicBezTo>
                    <a:pt x="17" y="13"/>
                    <a:pt x="17" y="13"/>
                    <a:pt x="17" y="1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2" y="4"/>
                    <a:pt x="22" y="4"/>
                    <a:pt x="22" y="4"/>
                  </a:cubicBezTo>
                  <a:lnTo>
                    <a:pt x="22" y="13"/>
                  </a:lnTo>
                  <a:close/>
                  <a:moveTo>
                    <a:pt x="25" y="4"/>
                  </a:moveTo>
                  <a:cubicBezTo>
                    <a:pt x="30" y="4"/>
                    <a:pt x="30" y="4"/>
                    <a:pt x="30" y="4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5" y="13"/>
                    <a:pt x="25" y="13"/>
                    <a:pt x="25" y="13"/>
                  </a:cubicBezTo>
                  <a:lnTo>
                    <a:pt x="25" y="4"/>
                  </a:lnTo>
                  <a:close/>
                  <a:moveTo>
                    <a:pt x="38" y="111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38" y="99"/>
                    <a:pt x="38" y="99"/>
                    <a:pt x="38" y="99"/>
                  </a:cubicBezTo>
                  <a:lnTo>
                    <a:pt x="38" y="111"/>
                  </a:lnTo>
                  <a:close/>
                  <a:moveTo>
                    <a:pt x="38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38" y="81"/>
                    <a:pt x="38" y="81"/>
                    <a:pt x="38" y="81"/>
                  </a:cubicBezTo>
                  <a:lnTo>
                    <a:pt x="38" y="92"/>
                  </a:lnTo>
                  <a:close/>
                  <a:moveTo>
                    <a:pt x="38" y="74"/>
                  </a:moveTo>
                  <a:cubicBezTo>
                    <a:pt x="27" y="74"/>
                    <a:pt x="27" y="74"/>
                    <a:pt x="27" y="74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38" y="62"/>
                    <a:pt x="38" y="62"/>
                    <a:pt x="38" y="62"/>
                  </a:cubicBezTo>
                  <a:lnTo>
                    <a:pt x="38" y="74"/>
                  </a:lnTo>
                  <a:close/>
                  <a:moveTo>
                    <a:pt x="38" y="56"/>
                  </a:moveTo>
                  <a:cubicBezTo>
                    <a:pt x="27" y="56"/>
                    <a:pt x="27" y="56"/>
                    <a:pt x="27" y="56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38" y="44"/>
                    <a:pt x="38" y="44"/>
                    <a:pt x="38" y="44"/>
                  </a:cubicBezTo>
                  <a:lnTo>
                    <a:pt x="38" y="56"/>
                  </a:lnTo>
                  <a:close/>
                  <a:moveTo>
                    <a:pt x="38" y="37"/>
                  </a:moveTo>
                  <a:cubicBezTo>
                    <a:pt x="27" y="37"/>
                    <a:pt x="27" y="37"/>
                    <a:pt x="27" y="37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38" y="26"/>
                    <a:pt x="38" y="26"/>
                    <a:pt x="38" y="26"/>
                  </a:cubicBezTo>
                  <a:lnTo>
                    <a:pt x="38" y="37"/>
                  </a:lnTo>
                  <a:close/>
                  <a:moveTo>
                    <a:pt x="41" y="4"/>
                  </a:moveTo>
                  <a:cubicBezTo>
                    <a:pt x="46" y="4"/>
                    <a:pt x="46" y="4"/>
                    <a:pt x="46" y="4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1" y="4"/>
                  </a:lnTo>
                  <a:close/>
                  <a:moveTo>
                    <a:pt x="55" y="111"/>
                  </a:moveTo>
                  <a:cubicBezTo>
                    <a:pt x="44" y="111"/>
                    <a:pt x="44" y="111"/>
                    <a:pt x="44" y="111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55" y="99"/>
                    <a:pt x="55" y="99"/>
                    <a:pt x="55" y="99"/>
                  </a:cubicBezTo>
                  <a:lnTo>
                    <a:pt x="55" y="111"/>
                  </a:lnTo>
                  <a:close/>
                  <a:moveTo>
                    <a:pt x="55" y="92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55" y="81"/>
                    <a:pt x="55" y="81"/>
                    <a:pt x="55" y="81"/>
                  </a:cubicBezTo>
                  <a:lnTo>
                    <a:pt x="55" y="92"/>
                  </a:lnTo>
                  <a:close/>
                  <a:moveTo>
                    <a:pt x="55" y="74"/>
                  </a:moveTo>
                  <a:cubicBezTo>
                    <a:pt x="44" y="74"/>
                    <a:pt x="44" y="74"/>
                    <a:pt x="44" y="74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55" y="62"/>
                    <a:pt x="55" y="62"/>
                    <a:pt x="55" y="62"/>
                  </a:cubicBezTo>
                  <a:lnTo>
                    <a:pt x="55" y="74"/>
                  </a:lnTo>
                  <a:close/>
                  <a:moveTo>
                    <a:pt x="55" y="56"/>
                  </a:moveTo>
                  <a:cubicBezTo>
                    <a:pt x="44" y="56"/>
                    <a:pt x="44" y="56"/>
                    <a:pt x="44" y="5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55" y="44"/>
                    <a:pt x="55" y="44"/>
                    <a:pt x="55" y="44"/>
                  </a:cubicBezTo>
                  <a:lnTo>
                    <a:pt x="55" y="56"/>
                  </a:lnTo>
                  <a:close/>
                  <a:moveTo>
                    <a:pt x="55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55" y="26"/>
                    <a:pt x="55" y="26"/>
                    <a:pt x="55" y="26"/>
                  </a:cubicBezTo>
                  <a:lnTo>
                    <a:pt x="55" y="37"/>
                  </a:lnTo>
                  <a:close/>
                  <a:moveTo>
                    <a:pt x="58" y="4"/>
                  </a:moveTo>
                  <a:cubicBezTo>
                    <a:pt x="62" y="4"/>
                    <a:pt x="62" y="4"/>
                    <a:pt x="62" y="4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58" y="13"/>
                    <a:pt x="58" y="13"/>
                    <a:pt x="58" y="13"/>
                  </a:cubicBezTo>
                  <a:lnTo>
                    <a:pt x="58" y="4"/>
                  </a:lnTo>
                  <a:close/>
                  <a:moveTo>
                    <a:pt x="72" y="111"/>
                  </a:moveTo>
                  <a:cubicBezTo>
                    <a:pt x="61" y="111"/>
                    <a:pt x="61" y="111"/>
                    <a:pt x="61" y="111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72" y="99"/>
                    <a:pt x="72" y="99"/>
                    <a:pt x="72" y="99"/>
                  </a:cubicBezTo>
                  <a:lnTo>
                    <a:pt x="72" y="111"/>
                  </a:lnTo>
                  <a:close/>
                  <a:moveTo>
                    <a:pt x="72" y="92"/>
                  </a:moveTo>
                  <a:cubicBezTo>
                    <a:pt x="61" y="92"/>
                    <a:pt x="61" y="92"/>
                    <a:pt x="61" y="92"/>
                  </a:cubicBezTo>
                  <a:cubicBezTo>
                    <a:pt x="61" y="81"/>
                    <a:pt x="61" y="81"/>
                    <a:pt x="61" y="81"/>
                  </a:cubicBezTo>
                  <a:cubicBezTo>
                    <a:pt x="72" y="81"/>
                    <a:pt x="72" y="81"/>
                    <a:pt x="72" y="81"/>
                  </a:cubicBezTo>
                  <a:lnTo>
                    <a:pt x="72" y="92"/>
                  </a:lnTo>
                  <a:close/>
                  <a:moveTo>
                    <a:pt x="72" y="74"/>
                  </a:moveTo>
                  <a:cubicBezTo>
                    <a:pt x="61" y="74"/>
                    <a:pt x="61" y="74"/>
                    <a:pt x="61" y="74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72" y="62"/>
                    <a:pt x="72" y="62"/>
                    <a:pt x="72" y="62"/>
                  </a:cubicBezTo>
                  <a:lnTo>
                    <a:pt x="72" y="74"/>
                  </a:lnTo>
                  <a:close/>
                  <a:moveTo>
                    <a:pt x="72" y="56"/>
                  </a:moveTo>
                  <a:cubicBezTo>
                    <a:pt x="61" y="56"/>
                    <a:pt x="61" y="56"/>
                    <a:pt x="61" y="56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72" y="44"/>
                    <a:pt x="72" y="44"/>
                    <a:pt x="72" y="44"/>
                  </a:cubicBezTo>
                  <a:lnTo>
                    <a:pt x="72" y="56"/>
                  </a:lnTo>
                  <a:close/>
                  <a:moveTo>
                    <a:pt x="7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72" y="26"/>
                    <a:pt x="72" y="26"/>
                    <a:pt x="72" y="26"/>
                  </a:cubicBezTo>
                  <a:lnTo>
                    <a:pt x="72" y="37"/>
                  </a:ln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96" name="Freeform 1685"/>
            <p:cNvSpPr>
              <a:spLocks noEditPoints="1"/>
            </p:cNvSpPr>
            <p:nvPr/>
          </p:nvSpPr>
          <p:spPr bwMode="auto">
            <a:xfrm>
              <a:off x="1482725" y="6633480"/>
              <a:ext cx="53975" cy="87313"/>
            </a:xfrm>
            <a:custGeom>
              <a:avLst/>
              <a:gdLst>
                <a:gd name="T0" fmla="*/ 20 w 58"/>
                <a:gd name="T1" fmla="*/ 88 h 93"/>
                <a:gd name="T2" fmla="*/ 21 w 58"/>
                <a:gd name="T3" fmla="*/ 67 h 93"/>
                <a:gd name="T4" fmla="*/ 36 w 58"/>
                <a:gd name="T5" fmla="*/ 68 h 93"/>
                <a:gd name="T6" fmla="*/ 35 w 58"/>
                <a:gd name="T7" fmla="*/ 89 h 93"/>
                <a:gd name="T8" fmla="*/ 17 w 58"/>
                <a:gd name="T9" fmla="*/ 49 h 93"/>
                <a:gd name="T10" fmla="*/ 25 w 58"/>
                <a:gd name="T11" fmla="*/ 43 h 93"/>
                <a:gd name="T12" fmla="*/ 17 w 58"/>
                <a:gd name="T13" fmla="*/ 49 h 93"/>
                <a:gd name="T14" fmla="*/ 33 w 58"/>
                <a:gd name="T15" fmla="*/ 43 h 93"/>
                <a:gd name="T16" fmla="*/ 40 w 58"/>
                <a:gd name="T17" fmla="*/ 49 h 93"/>
                <a:gd name="T18" fmla="*/ 10 w 58"/>
                <a:gd name="T19" fmla="*/ 37 h 93"/>
                <a:gd name="T20" fmla="*/ 18 w 58"/>
                <a:gd name="T21" fmla="*/ 31 h 93"/>
                <a:gd name="T22" fmla="*/ 10 w 58"/>
                <a:gd name="T23" fmla="*/ 37 h 93"/>
                <a:gd name="T24" fmla="*/ 25 w 58"/>
                <a:gd name="T25" fmla="*/ 31 h 93"/>
                <a:gd name="T26" fmla="*/ 32 w 58"/>
                <a:gd name="T27" fmla="*/ 37 h 93"/>
                <a:gd name="T28" fmla="*/ 40 w 58"/>
                <a:gd name="T29" fmla="*/ 37 h 93"/>
                <a:gd name="T30" fmla="*/ 47 w 58"/>
                <a:gd name="T31" fmla="*/ 31 h 93"/>
                <a:gd name="T32" fmla="*/ 40 w 58"/>
                <a:gd name="T33" fmla="*/ 37 h 93"/>
                <a:gd name="T34" fmla="*/ 17 w 58"/>
                <a:gd name="T35" fmla="*/ 19 h 93"/>
                <a:gd name="T36" fmla="*/ 25 w 58"/>
                <a:gd name="T37" fmla="*/ 25 h 93"/>
                <a:gd name="T38" fmla="*/ 33 w 58"/>
                <a:gd name="T39" fmla="*/ 25 h 93"/>
                <a:gd name="T40" fmla="*/ 40 w 58"/>
                <a:gd name="T41" fmla="*/ 19 h 93"/>
                <a:gd name="T42" fmla="*/ 33 w 58"/>
                <a:gd name="T43" fmla="*/ 25 h 93"/>
                <a:gd name="T44" fmla="*/ 10 w 58"/>
                <a:gd name="T45" fmla="*/ 7 h 93"/>
                <a:gd name="T46" fmla="*/ 18 w 58"/>
                <a:gd name="T47" fmla="*/ 13 h 93"/>
                <a:gd name="T48" fmla="*/ 25 w 58"/>
                <a:gd name="T49" fmla="*/ 13 h 93"/>
                <a:gd name="T50" fmla="*/ 32 w 58"/>
                <a:gd name="T51" fmla="*/ 7 h 93"/>
                <a:gd name="T52" fmla="*/ 25 w 58"/>
                <a:gd name="T53" fmla="*/ 13 h 93"/>
                <a:gd name="T54" fmla="*/ 40 w 58"/>
                <a:gd name="T55" fmla="*/ 7 h 93"/>
                <a:gd name="T56" fmla="*/ 47 w 58"/>
                <a:gd name="T57" fmla="*/ 13 h 93"/>
                <a:gd name="T58" fmla="*/ 51 w 58"/>
                <a:gd name="T59" fmla="*/ 0 h 93"/>
                <a:gd name="T60" fmla="*/ 4 w 58"/>
                <a:gd name="T61" fmla="*/ 3 h 93"/>
                <a:gd name="T62" fmla="*/ 0 w 58"/>
                <a:gd name="T63" fmla="*/ 56 h 93"/>
                <a:gd name="T64" fmla="*/ 4 w 58"/>
                <a:gd name="T65" fmla="*/ 64 h 93"/>
                <a:gd name="T66" fmla="*/ 6 w 58"/>
                <a:gd name="T67" fmla="*/ 93 h 93"/>
                <a:gd name="T68" fmla="*/ 54 w 58"/>
                <a:gd name="T69" fmla="*/ 90 h 93"/>
                <a:gd name="T70" fmla="*/ 58 w 58"/>
                <a:gd name="T71" fmla="*/ 64 h 93"/>
                <a:gd name="T72" fmla="*/ 54 w 58"/>
                <a:gd name="T73" fmla="*/ 56 h 93"/>
                <a:gd name="T74" fmla="*/ 51 w 58"/>
                <a:gd name="T7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8" h="93">
                  <a:moveTo>
                    <a:pt x="21" y="89"/>
                  </a:moveTo>
                  <a:cubicBezTo>
                    <a:pt x="21" y="89"/>
                    <a:pt x="20" y="89"/>
                    <a:pt x="20" y="8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20" y="67"/>
                    <a:pt x="21" y="67"/>
                    <a:pt x="21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6" y="67"/>
                    <a:pt x="36" y="6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9"/>
                    <a:pt x="36" y="89"/>
                    <a:pt x="35" y="89"/>
                  </a:cubicBezTo>
                  <a:cubicBezTo>
                    <a:pt x="21" y="89"/>
                    <a:pt x="21" y="89"/>
                    <a:pt x="21" y="89"/>
                  </a:cubicBezTo>
                  <a:moveTo>
                    <a:pt x="17" y="49"/>
                  </a:moveTo>
                  <a:cubicBezTo>
                    <a:pt x="17" y="43"/>
                    <a:pt x="17" y="43"/>
                    <a:pt x="17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17" y="49"/>
                    <a:pt x="17" y="49"/>
                    <a:pt x="17" y="49"/>
                  </a:cubicBezTo>
                  <a:moveTo>
                    <a:pt x="33" y="49"/>
                  </a:moveTo>
                  <a:cubicBezTo>
                    <a:pt x="33" y="43"/>
                    <a:pt x="33" y="43"/>
                    <a:pt x="33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3" y="49"/>
                    <a:pt x="33" y="49"/>
                    <a:pt x="33" y="49"/>
                  </a:cubicBezTo>
                  <a:moveTo>
                    <a:pt x="10" y="37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0" y="37"/>
                    <a:pt x="10" y="37"/>
                    <a:pt x="10" y="37"/>
                  </a:cubicBezTo>
                  <a:moveTo>
                    <a:pt x="25" y="37"/>
                  </a:moveTo>
                  <a:cubicBezTo>
                    <a:pt x="25" y="31"/>
                    <a:pt x="25" y="31"/>
                    <a:pt x="25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25" y="37"/>
                    <a:pt x="25" y="37"/>
                    <a:pt x="25" y="37"/>
                  </a:cubicBezTo>
                  <a:moveTo>
                    <a:pt x="40" y="37"/>
                  </a:moveTo>
                  <a:cubicBezTo>
                    <a:pt x="40" y="31"/>
                    <a:pt x="40" y="31"/>
                    <a:pt x="40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0" y="37"/>
                    <a:pt x="40" y="37"/>
                    <a:pt x="40" y="37"/>
                  </a:cubicBezTo>
                  <a:moveTo>
                    <a:pt x="17" y="25"/>
                  </a:moveTo>
                  <a:cubicBezTo>
                    <a:pt x="17" y="19"/>
                    <a:pt x="17" y="19"/>
                    <a:pt x="17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17" y="25"/>
                    <a:pt x="17" y="25"/>
                    <a:pt x="17" y="25"/>
                  </a:cubicBezTo>
                  <a:moveTo>
                    <a:pt x="33" y="25"/>
                  </a:moveTo>
                  <a:cubicBezTo>
                    <a:pt x="33" y="19"/>
                    <a:pt x="33" y="19"/>
                    <a:pt x="33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3" y="25"/>
                    <a:pt x="33" y="25"/>
                    <a:pt x="33" y="25"/>
                  </a:cubicBezTo>
                  <a:moveTo>
                    <a:pt x="10" y="13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0" y="13"/>
                    <a:pt x="10" y="13"/>
                    <a:pt x="10" y="13"/>
                  </a:cubicBezTo>
                  <a:moveTo>
                    <a:pt x="25" y="13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25" y="13"/>
                    <a:pt x="25" y="13"/>
                    <a:pt x="25" y="13"/>
                  </a:cubicBezTo>
                  <a:moveTo>
                    <a:pt x="40" y="13"/>
                  </a:moveTo>
                  <a:cubicBezTo>
                    <a:pt x="40" y="7"/>
                    <a:pt x="40" y="7"/>
                    <a:pt x="40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0" y="13"/>
                    <a:pt x="40" y="13"/>
                    <a:pt x="40" y="13"/>
                  </a:cubicBezTo>
                  <a:moveTo>
                    <a:pt x="5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1"/>
                    <a:pt x="5" y="93"/>
                    <a:pt x="6" y="93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3" y="93"/>
                    <a:pt x="54" y="91"/>
                    <a:pt x="54" y="90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1"/>
                    <a:pt x="53" y="0"/>
                    <a:pt x="51" y="0"/>
                  </a:cubicBezTo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4911119" y="4906743"/>
            <a:ext cx="322543" cy="373679"/>
            <a:chOff x="1482725" y="6569980"/>
            <a:chExt cx="130175" cy="150813"/>
          </a:xfrm>
        </p:grpSpPr>
        <p:sp>
          <p:nvSpPr>
            <p:cNvPr id="98" name="Freeform 1684"/>
            <p:cNvSpPr>
              <a:spLocks noEditPoints="1"/>
            </p:cNvSpPr>
            <p:nvPr/>
          </p:nvSpPr>
          <p:spPr bwMode="auto">
            <a:xfrm>
              <a:off x="1536700" y="6569980"/>
              <a:ext cx="76200" cy="150813"/>
            </a:xfrm>
            <a:custGeom>
              <a:avLst/>
              <a:gdLst>
                <a:gd name="T0" fmla="*/ 71 w 82"/>
                <a:gd name="T1" fmla="*/ 2 h 162"/>
                <a:gd name="T2" fmla="*/ 9 w 82"/>
                <a:gd name="T3" fmla="*/ 2 h 162"/>
                <a:gd name="T4" fmla="*/ 0 w 82"/>
                <a:gd name="T5" fmla="*/ 19 h 162"/>
                <a:gd name="T6" fmla="*/ 80 w 82"/>
                <a:gd name="T7" fmla="*/ 162 h 162"/>
                <a:gd name="T8" fmla="*/ 80 w 82"/>
                <a:gd name="T9" fmla="*/ 17 h 162"/>
                <a:gd name="T10" fmla="*/ 54 w 82"/>
                <a:gd name="T11" fmla="*/ 13 h 162"/>
                <a:gd name="T12" fmla="*/ 33 w 82"/>
                <a:gd name="T13" fmla="*/ 4 h 162"/>
                <a:gd name="T14" fmla="*/ 33 w 82"/>
                <a:gd name="T15" fmla="*/ 13 h 162"/>
                <a:gd name="T16" fmla="*/ 10 w 82"/>
                <a:gd name="T17" fmla="*/ 111 h 162"/>
                <a:gd name="T18" fmla="*/ 21 w 82"/>
                <a:gd name="T19" fmla="*/ 111 h 162"/>
                <a:gd name="T20" fmla="*/ 10 w 82"/>
                <a:gd name="T21" fmla="*/ 81 h 162"/>
                <a:gd name="T22" fmla="*/ 21 w 82"/>
                <a:gd name="T23" fmla="*/ 74 h 162"/>
                <a:gd name="T24" fmla="*/ 21 w 82"/>
                <a:gd name="T25" fmla="*/ 62 h 162"/>
                <a:gd name="T26" fmla="*/ 10 w 82"/>
                <a:gd name="T27" fmla="*/ 56 h 162"/>
                <a:gd name="T28" fmla="*/ 21 w 82"/>
                <a:gd name="T29" fmla="*/ 56 h 162"/>
                <a:gd name="T30" fmla="*/ 10 w 82"/>
                <a:gd name="T31" fmla="*/ 26 h 162"/>
                <a:gd name="T32" fmla="*/ 22 w 82"/>
                <a:gd name="T33" fmla="*/ 13 h 162"/>
                <a:gd name="T34" fmla="*/ 22 w 82"/>
                <a:gd name="T35" fmla="*/ 4 h 162"/>
                <a:gd name="T36" fmla="*/ 30 w 82"/>
                <a:gd name="T37" fmla="*/ 4 h 162"/>
                <a:gd name="T38" fmla="*/ 25 w 82"/>
                <a:gd name="T39" fmla="*/ 4 h 162"/>
                <a:gd name="T40" fmla="*/ 27 w 82"/>
                <a:gd name="T41" fmla="*/ 99 h 162"/>
                <a:gd name="T42" fmla="*/ 38 w 82"/>
                <a:gd name="T43" fmla="*/ 92 h 162"/>
                <a:gd name="T44" fmla="*/ 38 w 82"/>
                <a:gd name="T45" fmla="*/ 81 h 162"/>
                <a:gd name="T46" fmla="*/ 27 w 82"/>
                <a:gd name="T47" fmla="*/ 74 h 162"/>
                <a:gd name="T48" fmla="*/ 38 w 82"/>
                <a:gd name="T49" fmla="*/ 74 h 162"/>
                <a:gd name="T50" fmla="*/ 27 w 82"/>
                <a:gd name="T51" fmla="*/ 44 h 162"/>
                <a:gd name="T52" fmla="*/ 38 w 82"/>
                <a:gd name="T53" fmla="*/ 37 h 162"/>
                <a:gd name="T54" fmla="*/ 38 w 82"/>
                <a:gd name="T55" fmla="*/ 26 h 162"/>
                <a:gd name="T56" fmla="*/ 46 w 82"/>
                <a:gd name="T57" fmla="*/ 4 h 162"/>
                <a:gd name="T58" fmla="*/ 41 w 82"/>
                <a:gd name="T59" fmla="*/ 4 h 162"/>
                <a:gd name="T60" fmla="*/ 44 w 82"/>
                <a:gd name="T61" fmla="*/ 99 h 162"/>
                <a:gd name="T62" fmla="*/ 55 w 82"/>
                <a:gd name="T63" fmla="*/ 92 h 162"/>
                <a:gd name="T64" fmla="*/ 55 w 82"/>
                <a:gd name="T65" fmla="*/ 81 h 162"/>
                <a:gd name="T66" fmla="*/ 44 w 82"/>
                <a:gd name="T67" fmla="*/ 74 h 162"/>
                <a:gd name="T68" fmla="*/ 55 w 82"/>
                <a:gd name="T69" fmla="*/ 74 h 162"/>
                <a:gd name="T70" fmla="*/ 44 w 82"/>
                <a:gd name="T71" fmla="*/ 44 h 162"/>
                <a:gd name="T72" fmla="*/ 55 w 82"/>
                <a:gd name="T73" fmla="*/ 37 h 162"/>
                <a:gd name="T74" fmla="*/ 55 w 82"/>
                <a:gd name="T75" fmla="*/ 26 h 162"/>
                <a:gd name="T76" fmla="*/ 62 w 82"/>
                <a:gd name="T77" fmla="*/ 4 h 162"/>
                <a:gd name="T78" fmla="*/ 58 w 82"/>
                <a:gd name="T79" fmla="*/ 4 h 162"/>
                <a:gd name="T80" fmla="*/ 61 w 82"/>
                <a:gd name="T81" fmla="*/ 99 h 162"/>
                <a:gd name="T82" fmla="*/ 72 w 82"/>
                <a:gd name="T83" fmla="*/ 92 h 162"/>
                <a:gd name="T84" fmla="*/ 72 w 82"/>
                <a:gd name="T85" fmla="*/ 81 h 162"/>
                <a:gd name="T86" fmla="*/ 61 w 82"/>
                <a:gd name="T87" fmla="*/ 74 h 162"/>
                <a:gd name="T88" fmla="*/ 72 w 82"/>
                <a:gd name="T89" fmla="*/ 74 h 162"/>
                <a:gd name="T90" fmla="*/ 61 w 82"/>
                <a:gd name="T91" fmla="*/ 44 h 162"/>
                <a:gd name="T92" fmla="*/ 72 w 82"/>
                <a:gd name="T93" fmla="*/ 37 h 162"/>
                <a:gd name="T94" fmla="*/ 72 w 82"/>
                <a:gd name="T95" fmla="*/ 2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2" h="162">
                  <a:moveTo>
                    <a:pt x="80" y="17"/>
                  </a:moveTo>
                  <a:cubicBezTo>
                    <a:pt x="71" y="17"/>
                    <a:pt x="71" y="17"/>
                    <a:pt x="71" y="17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0" y="0"/>
                    <a:pt x="6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1"/>
                    <a:pt x="9" y="2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7"/>
                    <a:pt x="0" y="18"/>
                    <a:pt x="0" y="1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60"/>
                    <a:pt x="1" y="162"/>
                    <a:pt x="2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1" y="162"/>
                    <a:pt x="82" y="160"/>
                    <a:pt x="82" y="15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8"/>
                    <a:pt x="81" y="17"/>
                    <a:pt x="80" y="17"/>
                  </a:cubicBezTo>
                  <a:close/>
                  <a:moveTo>
                    <a:pt x="50" y="4"/>
                  </a:moveTo>
                  <a:cubicBezTo>
                    <a:pt x="54" y="4"/>
                    <a:pt x="54" y="4"/>
                    <a:pt x="54" y="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0" y="13"/>
                    <a:pt x="50" y="13"/>
                    <a:pt x="50" y="13"/>
                  </a:cubicBezTo>
                  <a:lnTo>
                    <a:pt x="50" y="4"/>
                  </a:lnTo>
                  <a:close/>
                  <a:moveTo>
                    <a:pt x="33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3" y="13"/>
                    <a:pt x="33" y="13"/>
                    <a:pt x="33" y="13"/>
                  </a:cubicBezTo>
                  <a:lnTo>
                    <a:pt x="33" y="4"/>
                  </a:lnTo>
                  <a:close/>
                  <a:moveTo>
                    <a:pt x="21" y="111"/>
                  </a:moveTo>
                  <a:cubicBezTo>
                    <a:pt x="10" y="111"/>
                    <a:pt x="10" y="111"/>
                    <a:pt x="10" y="111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21" y="99"/>
                    <a:pt x="21" y="99"/>
                    <a:pt x="21" y="99"/>
                  </a:cubicBezTo>
                  <a:lnTo>
                    <a:pt x="21" y="111"/>
                  </a:lnTo>
                  <a:close/>
                  <a:moveTo>
                    <a:pt x="21" y="92"/>
                  </a:moveTo>
                  <a:cubicBezTo>
                    <a:pt x="10" y="92"/>
                    <a:pt x="10" y="92"/>
                    <a:pt x="10" y="92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21" y="81"/>
                    <a:pt x="21" y="81"/>
                    <a:pt x="21" y="81"/>
                  </a:cubicBezTo>
                  <a:lnTo>
                    <a:pt x="21" y="92"/>
                  </a:lnTo>
                  <a:close/>
                  <a:moveTo>
                    <a:pt x="21" y="74"/>
                  </a:moveTo>
                  <a:cubicBezTo>
                    <a:pt x="10" y="74"/>
                    <a:pt x="10" y="74"/>
                    <a:pt x="10" y="74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21" y="62"/>
                    <a:pt x="21" y="62"/>
                    <a:pt x="21" y="62"/>
                  </a:cubicBezTo>
                  <a:lnTo>
                    <a:pt x="21" y="74"/>
                  </a:lnTo>
                  <a:close/>
                  <a:moveTo>
                    <a:pt x="21" y="56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1" y="56"/>
                  </a:lnTo>
                  <a:close/>
                  <a:moveTo>
                    <a:pt x="21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21" y="26"/>
                    <a:pt x="21" y="26"/>
                    <a:pt x="21" y="26"/>
                  </a:cubicBezTo>
                  <a:lnTo>
                    <a:pt x="21" y="37"/>
                  </a:lnTo>
                  <a:close/>
                  <a:moveTo>
                    <a:pt x="22" y="13"/>
                  </a:moveTo>
                  <a:cubicBezTo>
                    <a:pt x="17" y="13"/>
                    <a:pt x="17" y="13"/>
                    <a:pt x="17" y="1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2" y="4"/>
                    <a:pt x="22" y="4"/>
                    <a:pt x="22" y="4"/>
                  </a:cubicBezTo>
                  <a:lnTo>
                    <a:pt x="22" y="13"/>
                  </a:lnTo>
                  <a:close/>
                  <a:moveTo>
                    <a:pt x="25" y="4"/>
                  </a:moveTo>
                  <a:cubicBezTo>
                    <a:pt x="30" y="4"/>
                    <a:pt x="30" y="4"/>
                    <a:pt x="30" y="4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5" y="13"/>
                    <a:pt x="25" y="13"/>
                    <a:pt x="25" y="13"/>
                  </a:cubicBezTo>
                  <a:lnTo>
                    <a:pt x="25" y="4"/>
                  </a:lnTo>
                  <a:close/>
                  <a:moveTo>
                    <a:pt x="38" y="111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38" y="99"/>
                    <a:pt x="38" y="99"/>
                    <a:pt x="38" y="99"/>
                  </a:cubicBezTo>
                  <a:lnTo>
                    <a:pt x="38" y="111"/>
                  </a:lnTo>
                  <a:close/>
                  <a:moveTo>
                    <a:pt x="38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38" y="81"/>
                    <a:pt x="38" y="81"/>
                    <a:pt x="38" y="81"/>
                  </a:cubicBezTo>
                  <a:lnTo>
                    <a:pt x="38" y="92"/>
                  </a:lnTo>
                  <a:close/>
                  <a:moveTo>
                    <a:pt x="38" y="74"/>
                  </a:moveTo>
                  <a:cubicBezTo>
                    <a:pt x="27" y="74"/>
                    <a:pt x="27" y="74"/>
                    <a:pt x="27" y="74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38" y="62"/>
                    <a:pt x="38" y="62"/>
                    <a:pt x="38" y="62"/>
                  </a:cubicBezTo>
                  <a:lnTo>
                    <a:pt x="38" y="74"/>
                  </a:lnTo>
                  <a:close/>
                  <a:moveTo>
                    <a:pt x="38" y="56"/>
                  </a:moveTo>
                  <a:cubicBezTo>
                    <a:pt x="27" y="56"/>
                    <a:pt x="27" y="56"/>
                    <a:pt x="27" y="56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38" y="44"/>
                    <a:pt x="38" y="44"/>
                    <a:pt x="38" y="44"/>
                  </a:cubicBezTo>
                  <a:lnTo>
                    <a:pt x="38" y="56"/>
                  </a:lnTo>
                  <a:close/>
                  <a:moveTo>
                    <a:pt x="38" y="37"/>
                  </a:moveTo>
                  <a:cubicBezTo>
                    <a:pt x="27" y="37"/>
                    <a:pt x="27" y="37"/>
                    <a:pt x="27" y="37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38" y="26"/>
                    <a:pt x="38" y="26"/>
                    <a:pt x="38" y="26"/>
                  </a:cubicBezTo>
                  <a:lnTo>
                    <a:pt x="38" y="37"/>
                  </a:lnTo>
                  <a:close/>
                  <a:moveTo>
                    <a:pt x="41" y="4"/>
                  </a:moveTo>
                  <a:cubicBezTo>
                    <a:pt x="46" y="4"/>
                    <a:pt x="46" y="4"/>
                    <a:pt x="46" y="4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1" y="4"/>
                  </a:lnTo>
                  <a:close/>
                  <a:moveTo>
                    <a:pt x="55" y="111"/>
                  </a:moveTo>
                  <a:cubicBezTo>
                    <a:pt x="44" y="111"/>
                    <a:pt x="44" y="111"/>
                    <a:pt x="44" y="111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55" y="99"/>
                    <a:pt x="55" y="99"/>
                    <a:pt x="55" y="99"/>
                  </a:cubicBezTo>
                  <a:lnTo>
                    <a:pt x="55" y="111"/>
                  </a:lnTo>
                  <a:close/>
                  <a:moveTo>
                    <a:pt x="55" y="92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55" y="81"/>
                    <a:pt x="55" y="81"/>
                    <a:pt x="55" y="81"/>
                  </a:cubicBezTo>
                  <a:lnTo>
                    <a:pt x="55" y="92"/>
                  </a:lnTo>
                  <a:close/>
                  <a:moveTo>
                    <a:pt x="55" y="74"/>
                  </a:moveTo>
                  <a:cubicBezTo>
                    <a:pt x="44" y="74"/>
                    <a:pt x="44" y="74"/>
                    <a:pt x="44" y="74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55" y="62"/>
                    <a:pt x="55" y="62"/>
                    <a:pt x="55" y="62"/>
                  </a:cubicBezTo>
                  <a:lnTo>
                    <a:pt x="55" y="74"/>
                  </a:lnTo>
                  <a:close/>
                  <a:moveTo>
                    <a:pt x="55" y="56"/>
                  </a:moveTo>
                  <a:cubicBezTo>
                    <a:pt x="44" y="56"/>
                    <a:pt x="44" y="56"/>
                    <a:pt x="44" y="5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55" y="44"/>
                    <a:pt x="55" y="44"/>
                    <a:pt x="55" y="44"/>
                  </a:cubicBezTo>
                  <a:lnTo>
                    <a:pt x="55" y="56"/>
                  </a:lnTo>
                  <a:close/>
                  <a:moveTo>
                    <a:pt x="55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55" y="26"/>
                    <a:pt x="55" y="26"/>
                    <a:pt x="55" y="26"/>
                  </a:cubicBezTo>
                  <a:lnTo>
                    <a:pt x="55" y="37"/>
                  </a:lnTo>
                  <a:close/>
                  <a:moveTo>
                    <a:pt x="58" y="4"/>
                  </a:moveTo>
                  <a:cubicBezTo>
                    <a:pt x="62" y="4"/>
                    <a:pt x="62" y="4"/>
                    <a:pt x="62" y="4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58" y="13"/>
                    <a:pt x="58" y="13"/>
                    <a:pt x="58" y="13"/>
                  </a:cubicBezTo>
                  <a:lnTo>
                    <a:pt x="58" y="4"/>
                  </a:lnTo>
                  <a:close/>
                  <a:moveTo>
                    <a:pt x="72" y="111"/>
                  </a:moveTo>
                  <a:cubicBezTo>
                    <a:pt x="61" y="111"/>
                    <a:pt x="61" y="111"/>
                    <a:pt x="61" y="111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72" y="99"/>
                    <a:pt x="72" y="99"/>
                    <a:pt x="72" y="99"/>
                  </a:cubicBezTo>
                  <a:lnTo>
                    <a:pt x="72" y="111"/>
                  </a:lnTo>
                  <a:close/>
                  <a:moveTo>
                    <a:pt x="72" y="92"/>
                  </a:moveTo>
                  <a:cubicBezTo>
                    <a:pt x="61" y="92"/>
                    <a:pt x="61" y="92"/>
                    <a:pt x="61" y="92"/>
                  </a:cubicBezTo>
                  <a:cubicBezTo>
                    <a:pt x="61" y="81"/>
                    <a:pt x="61" y="81"/>
                    <a:pt x="61" y="81"/>
                  </a:cubicBezTo>
                  <a:cubicBezTo>
                    <a:pt x="72" y="81"/>
                    <a:pt x="72" y="81"/>
                    <a:pt x="72" y="81"/>
                  </a:cubicBezTo>
                  <a:lnTo>
                    <a:pt x="72" y="92"/>
                  </a:lnTo>
                  <a:close/>
                  <a:moveTo>
                    <a:pt x="72" y="74"/>
                  </a:moveTo>
                  <a:cubicBezTo>
                    <a:pt x="61" y="74"/>
                    <a:pt x="61" y="74"/>
                    <a:pt x="61" y="74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72" y="62"/>
                    <a:pt x="72" y="62"/>
                    <a:pt x="72" y="62"/>
                  </a:cubicBezTo>
                  <a:lnTo>
                    <a:pt x="72" y="74"/>
                  </a:lnTo>
                  <a:close/>
                  <a:moveTo>
                    <a:pt x="72" y="56"/>
                  </a:moveTo>
                  <a:cubicBezTo>
                    <a:pt x="61" y="56"/>
                    <a:pt x="61" y="56"/>
                    <a:pt x="61" y="56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72" y="44"/>
                    <a:pt x="72" y="44"/>
                    <a:pt x="72" y="44"/>
                  </a:cubicBezTo>
                  <a:lnTo>
                    <a:pt x="72" y="56"/>
                  </a:lnTo>
                  <a:close/>
                  <a:moveTo>
                    <a:pt x="7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72" y="26"/>
                    <a:pt x="72" y="26"/>
                    <a:pt x="72" y="26"/>
                  </a:cubicBezTo>
                  <a:lnTo>
                    <a:pt x="72" y="37"/>
                  </a:ln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99" name="Freeform 1685"/>
            <p:cNvSpPr>
              <a:spLocks noEditPoints="1"/>
            </p:cNvSpPr>
            <p:nvPr/>
          </p:nvSpPr>
          <p:spPr bwMode="auto">
            <a:xfrm>
              <a:off x="1482725" y="6633480"/>
              <a:ext cx="53975" cy="87313"/>
            </a:xfrm>
            <a:custGeom>
              <a:avLst/>
              <a:gdLst>
                <a:gd name="T0" fmla="*/ 20 w 58"/>
                <a:gd name="T1" fmla="*/ 88 h 93"/>
                <a:gd name="T2" fmla="*/ 21 w 58"/>
                <a:gd name="T3" fmla="*/ 67 h 93"/>
                <a:gd name="T4" fmla="*/ 36 w 58"/>
                <a:gd name="T5" fmla="*/ 68 h 93"/>
                <a:gd name="T6" fmla="*/ 35 w 58"/>
                <a:gd name="T7" fmla="*/ 89 h 93"/>
                <a:gd name="T8" fmla="*/ 17 w 58"/>
                <a:gd name="T9" fmla="*/ 49 h 93"/>
                <a:gd name="T10" fmla="*/ 25 w 58"/>
                <a:gd name="T11" fmla="*/ 43 h 93"/>
                <a:gd name="T12" fmla="*/ 17 w 58"/>
                <a:gd name="T13" fmla="*/ 49 h 93"/>
                <a:gd name="T14" fmla="*/ 33 w 58"/>
                <a:gd name="T15" fmla="*/ 43 h 93"/>
                <a:gd name="T16" fmla="*/ 40 w 58"/>
                <a:gd name="T17" fmla="*/ 49 h 93"/>
                <a:gd name="T18" fmla="*/ 10 w 58"/>
                <a:gd name="T19" fmla="*/ 37 h 93"/>
                <a:gd name="T20" fmla="*/ 18 w 58"/>
                <a:gd name="T21" fmla="*/ 31 h 93"/>
                <a:gd name="T22" fmla="*/ 10 w 58"/>
                <a:gd name="T23" fmla="*/ 37 h 93"/>
                <a:gd name="T24" fmla="*/ 25 w 58"/>
                <a:gd name="T25" fmla="*/ 31 h 93"/>
                <a:gd name="T26" fmla="*/ 32 w 58"/>
                <a:gd name="T27" fmla="*/ 37 h 93"/>
                <a:gd name="T28" fmla="*/ 40 w 58"/>
                <a:gd name="T29" fmla="*/ 37 h 93"/>
                <a:gd name="T30" fmla="*/ 47 w 58"/>
                <a:gd name="T31" fmla="*/ 31 h 93"/>
                <a:gd name="T32" fmla="*/ 40 w 58"/>
                <a:gd name="T33" fmla="*/ 37 h 93"/>
                <a:gd name="T34" fmla="*/ 17 w 58"/>
                <a:gd name="T35" fmla="*/ 19 h 93"/>
                <a:gd name="T36" fmla="*/ 25 w 58"/>
                <a:gd name="T37" fmla="*/ 25 h 93"/>
                <a:gd name="T38" fmla="*/ 33 w 58"/>
                <a:gd name="T39" fmla="*/ 25 h 93"/>
                <a:gd name="T40" fmla="*/ 40 w 58"/>
                <a:gd name="T41" fmla="*/ 19 h 93"/>
                <a:gd name="T42" fmla="*/ 33 w 58"/>
                <a:gd name="T43" fmla="*/ 25 h 93"/>
                <a:gd name="T44" fmla="*/ 10 w 58"/>
                <a:gd name="T45" fmla="*/ 7 h 93"/>
                <a:gd name="T46" fmla="*/ 18 w 58"/>
                <a:gd name="T47" fmla="*/ 13 h 93"/>
                <a:gd name="T48" fmla="*/ 25 w 58"/>
                <a:gd name="T49" fmla="*/ 13 h 93"/>
                <a:gd name="T50" fmla="*/ 32 w 58"/>
                <a:gd name="T51" fmla="*/ 7 h 93"/>
                <a:gd name="T52" fmla="*/ 25 w 58"/>
                <a:gd name="T53" fmla="*/ 13 h 93"/>
                <a:gd name="T54" fmla="*/ 40 w 58"/>
                <a:gd name="T55" fmla="*/ 7 h 93"/>
                <a:gd name="T56" fmla="*/ 47 w 58"/>
                <a:gd name="T57" fmla="*/ 13 h 93"/>
                <a:gd name="T58" fmla="*/ 51 w 58"/>
                <a:gd name="T59" fmla="*/ 0 h 93"/>
                <a:gd name="T60" fmla="*/ 4 w 58"/>
                <a:gd name="T61" fmla="*/ 3 h 93"/>
                <a:gd name="T62" fmla="*/ 0 w 58"/>
                <a:gd name="T63" fmla="*/ 56 h 93"/>
                <a:gd name="T64" fmla="*/ 4 w 58"/>
                <a:gd name="T65" fmla="*/ 64 h 93"/>
                <a:gd name="T66" fmla="*/ 6 w 58"/>
                <a:gd name="T67" fmla="*/ 93 h 93"/>
                <a:gd name="T68" fmla="*/ 54 w 58"/>
                <a:gd name="T69" fmla="*/ 90 h 93"/>
                <a:gd name="T70" fmla="*/ 58 w 58"/>
                <a:gd name="T71" fmla="*/ 64 h 93"/>
                <a:gd name="T72" fmla="*/ 54 w 58"/>
                <a:gd name="T73" fmla="*/ 56 h 93"/>
                <a:gd name="T74" fmla="*/ 51 w 58"/>
                <a:gd name="T7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8" h="93">
                  <a:moveTo>
                    <a:pt x="21" y="89"/>
                  </a:moveTo>
                  <a:cubicBezTo>
                    <a:pt x="21" y="89"/>
                    <a:pt x="20" y="89"/>
                    <a:pt x="20" y="8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20" y="67"/>
                    <a:pt x="21" y="67"/>
                    <a:pt x="21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6" y="67"/>
                    <a:pt x="36" y="6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9"/>
                    <a:pt x="36" y="89"/>
                    <a:pt x="35" y="89"/>
                  </a:cubicBezTo>
                  <a:cubicBezTo>
                    <a:pt x="21" y="89"/>
                    <a:pt x="21" y="89"/>
                    <a:pt x="21" y="89"/>
                  </a:cubicBezTo>
                  <a:moveTo>
                    <a:pt x="17" y="49"/>
                  </a:moveTo>
                  <a:cubicBezTo>
                    <a:pt x="17" y="43"/>
                    <a:pt x="17" y="43"/>
                    <a:pt x="17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17" y="49"/>
                    <a:pt x="17" y="49"/>
                    <a:pt x="17" y="49"/>
                  </a:cubicBezTo>
                  <a:moveTo>
                    <a:pt x="33" y="49"/>
                  </a:moveTo>
                  <a:cubicBezTo>
                    <a:pt x="33" y="43"/>
                    <a:pt x="33" y="43"/>
                    <a:pt x="33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3" y="49"/>
                    <a:pt x="33" y="49"/>
                    <a:pt x="33" y="49"/>
                  </a:cubicBezTo>
                  <a:moveTo>
                    <a:pt x="10" y="37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0" y="37"/>
                    <a:pt x="10" y="37"/>
                    <a:pt x="10" y="37"/>
                  </a:cubicBezTo>
                  <a:moveTo>
                    <a:pt x="25" y="37"/>
                  </a:moveTo>
                  <a:cubicBezTo>
                    <a:pt x="25" y="31"/>
                    <a:pt x="25" y="31"/>
                    <a:pt x="25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25" y="37"/>
                    <a:pt x="25" y="37"/>
                    <a:pt x="25" y="37"/>
                  </a:cubicBezTo>
                  <a:moveTo>
                    <a:pt x="40" y="37"/>
                  </a:moveTo>
                  <a:cubicBezTo>
                    <a:pt x="40" y="31"/>
                    <a:pt x="40" y="31"/>
                    <a:pt x="40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0" y="37"/>
                    <a:pt x="40" y="37"/>
                    <a:pt x="40" y="37"/>
                  </a:cubicBezTo>
                  <a:moveTo>
                    <a:pt x="17" y="25"/>
                  </a:moveTo>
                  <a:cubicBezTo>
                    <a:pt x="17" y="19"/>
                    <a:pt x="17" y="19"/>
                    <a:pt x="17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17" y="25"/>
                    <a:pt x="17" y="25"/>
                    <a:pt x="17" y="25"/>
                  </a:cubicBezTo>
                  <a:moveTo>
                    <a:pt x="33" y="25"/>
                  </a:moveTo>
                  <a:cubicBezTo>
                    <a:pt x="33" y="19"/>
                    <a:pt x="33" y="19"/>
                    <a:pt x="33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3" y="25"/>
                    <a:pt x="33" y="25"/>
                    <a:pt x="33" y="25"/>
                  </a:cubicBezTo>
                  <a:moveTo>
                    <a:pt x="10" y="13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0" y="13"/>
                    <a:pt x="10" y="13"/>
                    <a:pt x="10" y="13"/>
                  </a:cubicBezTo>
                  <a:moveTo>
                    <a:pt x="25" y="13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25" y="13"/>
                    <a:pt x="25" y="13"/>
                    <a:pt x="25" y="13"/>
                  </a:cubicBezTo>
                  <a:moveTo>
                    <a:pt x="40" y="13"/>
                  </a:moveTo>
                  <a:cubicBezTo>
                    <a:pt x="40" y="7"/>
                    <a:pt x="40" y="7"/>
                    <a:pt x="40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0" y="13"/>
                    <a:pt x="40" y="13"/>
                    <a:pt x="40" y="13"/>
                  </a:cubicBezTo>
                  <a:moveTo>
                    <a:pt x="5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1"/>
                    <a:pt x="5" y="93"/>
                    <a:pt x="6" y="93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3" y="93"/>
                    <a:pt x="54" y="91"/>
                    <a:pt x="54" y="90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1"/>
                    <a:pt x="53" y="0"/>
                    <a:pt x="51" y="0"/>
                  </a:cubicBezTo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cxnSp>
        <p:nvCxnSpPr>
          <p:cNvPr id="100" name="직선 화살표 연결선 99"/>
          <p:cNvCxnSpPr/>
          <p:nvPr/>
        </p:nvCxnSpPr>
        <p:spPr bwMode="gray">
          <a:xfrm>
            <a:off x="3838856" y="4504581"/>
            <a:ext cx="686983" cy="0"/>
          </a:xfrm>
          <a:prstGeom prst="straightConnector1">
            <a:avLst/>
          </a:prstGeom>
          <a:ln w="15875">
            <a:solidFill>
              <a:srgbClr val="EB61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그룹 100"/>
          <p:cNvGrpSpPr/>
          <p:nvPr/>
        </p:nvGrpSpPr>
        <p:grpSpPr>
          <a:xfrm>
            <a:off x="5245163" y="8049102"/>
            <a:ext cx="622070" cy="352655"/>
            <a:chOff x="7158651" y="5040612"/>
            <a:chExt cx="622070" cy="352655"/>
          </a:xfrm>
        </p:grpSpPr>
        <p:sp>
          <p:nvSpPr>
            <p:cNvPr id="102" name="원통 101"/>
            <p:cNvSpPr/>
            <p:nvPr/>
          </p:nvSpPr>
          <p:spPr>
            <a:xfrm>
              <a:off x="7158651" y="5040612"/>
              <a:ext cx="622070" cy="352655"/>
            </a:xfrm>
            <a:prstGeom prst="can">
              <a:avLst>
                <a:gd name="adj" fmla="val 32066"/>
              </a:avLst>
            </a:prstGeom>
            <a:solidFill>
              <a:srgbClr val="CCCCCC"/>
            </a:solidFill>
            <a:ln>
              <a:solidFill>
                <a:schemeClr val="bg1"/>
              </a:solidFill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 sz="100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03" name="Rectangle 39"/>
            <p:cNvSpPr>
              <a:spLocks noChangeArrowheads="1"/>
            </p:cNvSpPr>
            <p:nvPr/>
          </p:nvSpPr>
          <p:spPr bwMode="gray">
            <a:xfrm>
              <a:off x="7381521" y="5195231"/>
              <a:ext cx="176330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 anchor="ctr">
              <a:spAutoFit/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DB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5275920" y="3565779"/>
            <a:ext cx="622070" cy="352655"/>
            <a:chOff x="7158651" y="5040612"/>
            <a:chExt cx="622070" cy="352655"/>
          </a:xfrm>
        </p:grpSpPr>
        <p:sp>
          <p:nvSpPr>
            <p:cNvPr id="105" name="원통 104"/>
            <p:cNvSpPr/>
            <p:nvPr/>
          </p:nvSpPr>
          <p:spPr>
            <a:xfrm>
              <a:off x="7158651" y="5040612"/>
              <a:ext cx="622070" cy="352655"/>
            </a:xfrm>
            <a:prstGeom prst="can">
              <a:avLst>
                <a:gd name="adj" fmla="val 32066"/>
              </a:avLst>
            </a:prstGeom>
            <a:solidFill>
              <a:srgbClr val="CCCCCC"/>
            </a:solidFill>
            <a:ln>
              <a:solidFill>
                <a:schemeClr val="bg1"/>
              </a:solidFill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 sz="100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06" name="Rectangle 39"/>
            <p:cNvSpPr>
              <a:spLocks noChangeArrowheads="1"/>
            </p:cNvSpPr>
            <p:nvPr/>
          </p:nvSpPr>
          <p:spPr bwMode="gray">
            <a:xfrm>
              <a:off x="7381521" y="5195231"/>
              <a:ext cx="176330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 anchor="ctr">
              <a:spAutoFit/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DB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5266126" y="4255919"/>
            <a:ext cx="622070" cy="352655"/>
            <a:chOff x="7158651" y="5040612"/>
            <a:chExt cx="622070" cy="352655"/>
          </a:xfrm>
        </p:grpSpPr>
        <p:sp>
          <p:nvSpPr>
            <p:cNvPr id="108" name="원통 107"/>
            <p:cNvSpPr/>
            <p:nvPr/>
          </p:nvSpPr>
          <p:spPr>
            <a:xfrm>
              <a:off x="7158651" y="5040612"/>
              <a:ext cx="622070" cy="352655"/>
            </a:xfrm>
            <a:prstGeom prst="can">
              <a:avLst>
                <a:gd name="adj" fmla="val 32066"/>
              </a:avLst>
            </a:prstGeom>
            <a:solidFill>
              <a:srgbClr val="CCCCCC"/>
            </a:solidFill>
            <a:ln>
              <a:solidFill>
                <a:schemeClr val="bg1"/>
              </a:solidFill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 sz="100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09" name="Rectangle 39"/>
            <p:cNvSpPr>
              <a:spLocks noChangeArrowheads="1"/>
            </p:cNvSpPr>
            <p:nvPr/>
          </p:nvSpPr>
          <p:spPr bwMode="gray">
            <a:xfrm>
              <a:off x="7381521" y="5195231"/>
              <a:ext cx="176330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 anchor="ctr">
              <a:spAutoFit/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DB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5284905" y="4930400"/>
            <a:ext cx="622070" cy="352655"/>
            <a:chOff x="7158651" y="5040612"/>
            <a:chExt cx="622070" cy="352655"/>
          </a:xfrm>
        </p:grpSpPr>
        <p:sp>
          <p:nvSpPr>
            <p:cNvPr id="111" name="원통 110"/>
            <p:cNvSpPr/>
            <p:nvPr/>
          </p:nvSpPr>
          <p:spPr>
            <a:xfrm>
              <a:off x="7158651" y="5040612"/>
              <a:ext cx="622070" cy="352655"/>
            </a:xfrm>
            <a:prstGeom prst="can">
              <a:avLst>
                <a:gd name="adj" fmla="val 32066"/>
              </a:avLst>
            </a:prstGeom>
            <a:solidFill>
              <a:srgbClr val="CCCCCC"/>
            </a:solidFill>
            <a:ln>
              <a:solidFill>
                <a:schemeClr val="bg1"/>
              </a:solidFill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 sz="100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12" name="Rectangle 39"/>
            <p:cNvSpPr>
              <a:spLocks noChangeArrowheads="1"/>
            </p:cNvSpPr>
            <p:nvPr/>
          </p:nvSpPr>
          <p:spPr bwMode="gray">
            <a:xfrm>
              <a:off x="7381521" y="5195231"/>
              <a:ext cx="176330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 anchor="ctr">
              <a:spAutoFit/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DB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pic>
        <p:nvPicPr>
          <p:cNvPr id="113" name="그림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474" y="2652380"/>
            <a:ext cx="327253" cy="327253"/>
          </a:xfrm>
          <a:prstGeom prst="rect">
            <a:avLst/>
          </a:prstGeom>
        </p:spPr>
      </p:pic>
      <p:pic>
        <p:nvPicPr>
          <p:cNvPr id="114" name="그림 1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1003" y="2652380"/>
            <a:ext cx="327253" cy="327253"/>
          </a:xfrm>
          <a:prstGeom prst="rect">
            <a:avLst/>
          </a:prstGeom>
        </p:spPr>
      </p:pic>
      <p:pic>
        <p:nvPicPr>
          <p:cNvPr id="115" name="그림 1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786" y="2657596"/>
            <a:ext cx="322037" cy="322037"/>
          </a:xfrm>
          <a:prstGeom prst="rect">
            <a:avLst/>
          </a:prstGeom>
        </p:spPr>
      </p:pic>
      <p:pic>
        <p:nvPicPr>
          <p:cNvPr id="116" name="그림 1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3412" y="2658694"/>
            <a:ext cx="320939" cy="320939"/>
          </a:xfrm>
          <a:prstGeom prst="rect">
            <a:avLst/>
          </a:prstGeom>
        </p:spPr>
      </p:pic>
      <p:pic>
        <p:nvPicPr>
          <p:cNvPr id="117" name="그림 1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7469" y="2652380"/>
            <a:ext cx="327253" cy="327253"/>
          </a:xfrm>
          <a:prstGeom prst="rect">
            <a:avLst/>
          </a:prstGeom>
        </p:spPr>
      </p:pic>
      <p:sp>
        <p:nvSpPr>
          <p:cNvPr id="118" name="직사각형 117"/>
          <p:cNvSpPr/>
          <p:nvPr/>
        </p:nvSpPr>
        <p:spPr bwMode="gray">
          <a:xfrm>
            <a:off x="580588" y="6988997"/>
            <a:ext cx="509641" cy="311368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  <a:extLst/>
        </p:spPr>
        <p:txBody>
          <a:bodyPr wrap="none" lIns="0" tIns="0" rIns="0" bIns="0" anchor="ctr">
            <a:noAutofit/>
          </a:bodyPr>
          <a:lstStyle/>
          <a:p>
            <a:pPr algn="ctr" fontAlgn="base" latinLnBrk="0">
              <a:buClr>
                <a:srgbClr val="969696"/>
              </a:buClr>
            </a:pPr>
            <a:r>
              <a:rPr lang="en-US" altLang="ko-KR" sz="10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AS-IS</a:t>
            </a:r>
            <a:endParaRPr lang="en-US" altLang="ko-KR" sz="100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lt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119" name="직선 화살표 연결선 118"/>
          <p:cNvCxnSpPr/>
          <p:nvPr/>
        </p:nvCxnSpPr>
        <p:spPr bwMode="gray">
          <a:xfrm>
            <a:off x="1090229" y="7144681"/>
            <a:ext cx="5129495" cy="0"/>
          </a:xfrm>
          <a:prstGeom prst="straightConnector1">
            <a:avLst/>
          </a:prstGeom>
          <a:ln w="254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직사각형 119"/>
          <p:cNvSpPr/>
          <p:nvPr/>
        </p:nvSpPr>
        <p:spPr bwMode="gray">
          <a:xfrm>
            <a:off x="580588" y="2137020"/>
            <a:ext cx="509641" cy="311368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  <a:extLst/>
        </p:spPr>
        <p:txBody>
          <a:bodyPr wrap="none" lIns="0" tIns="0" rIns="0" bIns="0" anchor="ctr">
            <a:noAutofit/>
          </a:bodyPr>
          <a:lstStyle/>
          <a:p>
            <a:pPr algn="ctr" fontAlgn="base" latinLnBrk="0">
              <a:buClr>
                <a:srgbClr val="969696"/>
              </a:buClr>
            </a:pPr>
            <a:r>
              <a:rPr lang="en-US" altLang="ko-KR" sz="10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TO-BE</a:t>
            </a:r>
            <a:endParaRPr lang="en-US" altLang="ko-KR" sz="100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lt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121" name="직선 화살표 연결선 120"/>
          <p:cNvCxnSpPr/>
          <p:nvPr/>
        </p:nvCxnSpPr>
        <p:spPr bwMode="gray">
          <a:xfrm>
            <a:off x="1090229" y="2292704"/>
            <a:ext cx="5129495" cy="0"/>
          </a:xfrm>
          <a:prstGeom prst="straightConnector1">
            <a:avLst/>
          </a:prstGeom>
          <a:ln w="254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그림 1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961" y="5889104"/>
            <a:ext cx="377691" cy="377691"/>
          </a:xfrm>
          <a:prstGeom prst="rect">
            <a:avLst/>
          </a:prstGeom>
        </p:spPr>
      </p:pic>
      <p:pic>
        <p:nvPicPr>
          <p:cNvPr id="123" name="그림 1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2067" y="5899770"/>
            <a:ext cx="380091" cy="380091"/>
          </a:xfrm>
          <a:prstGeom prst="rect">
            <a:avLst/>
          </a:prstGeom>
        </p:spPr>
      </p:pic>
      <p:pic>
        <p:nvPicPr>
          <p:cNvPr id="124" name="그림 1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4170" y="5916538"/>
            <a:ext cx="409115" cy="409115"/>
          </a:xfrm>
          <a:prstGeom prst="rect">
            <a:avLst/>
          </a:prstGeom>
        </p:spPr>
      </p:pic>
      <p:sp>
        <p:nvSpPr>
          <p:cNvPr id="125" name="직사각형 124"/>
          <p:cNvSpPr>
            <a:spLocks noChangeArrowheads="1"/>
          </p:cNvSpPr>
          <p:nvPr/>
        </p:nvSpPr>
        <p:spPr bwMode="auto">
          <a:xfrm>
            <a:off x="580588" y="8855211"/>
            <a:ext cx="5690270" cy="189980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fontAlgn="ctr" latinLnBrk="0"/>
            <a:r>
              <a:rPr kumimoji="1" lang="ko-KR" altLang="en-US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텍스트 중심의 자료만 등록</a:t>
            </a:r>
          </a:p>
        </p:txBody>
      </p:sp>
      <p:sp>
        <p:nvSpPr>
          <p:cNvPr id="126" name="직사각형 125"/>
          <p:cNvSpPr>
            <a:spLocks noChangeArrowheads="1"/>
          </p:cNvSpPr>
          <p:nvPr/>
        </p:nvSpPr>
        <p:spPr bwMode="auto">
          <a:xfrm>
            <a:off x="585327" y="6357156"/>
            <a:ext cx="5690270" cy="189980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fontAlgn="ctr" latinLnBrk="0"/>
            <a:r>
              <a:rPr kumimoji="1" lang="ko-KR" altLang="en-US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 보고서</a:t>
            </a:r>
            <a:r>
              <a:rPr kumimoji="1" lang="en-US" altLang="ko-KR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kumimoji="1" lang="ko-KR" altLang="en-US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사례 연구</a:t>
            </a:r>
            <a:r>
              <a:rPr kumimoji="1" lang="en-US" altLang="ko-KR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kumimoji="1" lang="ko-KR" altLang="en-US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학술지 등 다양한 형태를 포괄</a:t>
            </a:r>
          </a:p>
        </p:txBody>
      </p:sp>
      <p:sp>
        <p:nvSpPr>
          <p:cNvPr id="127" name="직사각형 126"/>
          <p:cNvSpPr>
            <a:spLocks noChangeArrowheads="1"/>
          </p:cNvSpPr>
          <p:nvPr/>
        </p:nvSpPr>
        <p:spPr bwMode="auto">
          <a:xfrm>
            <a:off x="562052" y="3068075"/>
            <a:ext cx="5690270" cy="189980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fontAlgn="ctr" latinLnBrk="0"/>
            <a:r>
              <a:rPr kumimoji="1" lang="ko-KR" altLang="en-US" sz="1200" dirty="0" smtClean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음성</a:t>
            </a:r>
            <a:r>
              <a:rPr kumimoji="1" lang="en-US" altLang="ko-KR" sz="1200" dirty="0" smtClean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kumimoji="1" lang="ko-KR" altLang="en-US" sz="1200" dirty="0" smtClean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이미지</a:t>
            </a:r>
            <a:r>
              <a:rPr kumimoji="1" lang="en-US" altLang="ko-KR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kumimoji="1" lang="ko-KR" altLang="en-US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비디오</a:t>
            </a:r>
            <a:r>
              <a:rPr kumimoji="1" lang="en-US" altLang="ko-KR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kumimoji="1" lang="ko-KR" altLang="en-US" sz="1200" dirty="0" smtClean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오디오 등 다양한 형식 지원</a:t>
            </a:r>
            <a:endParaRPr kumimoji="1" lang="ko-KR" altLang="en-US" sz="1200" dirty="0">
              <a:solidFill>
                <a:srgbClr val="0093D4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59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518760" y="5810406"/>
            <a:ext cx="1691733" cy="1424058"/>
          </a:xfrm>
          <a:prstGeom prst="roundRect">
            <a:avLst/>
          </a:prstGeom>
          <a:solidFill>
            <a:schemeClr val="bg1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513131" y="3908884"/>
            <a:ext cx="1691733" cy="1836204"/>
          </a:xfrm>
          <a:prstGeom prst="roundRect">
            <a:avLst/>
          </a:prstGeom>
          <a:solidFill>
            <a:schemeClr val="bg1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원호 129"/>
          <p:cNvSpPr/>
          <p:nvPr/>
        </p:nvSpPr>
        <p:spPr>
          <a:xfrm flipV="1">
            <a:off x="2914144" y="4844541"/>
            <a:ext cx="811086" cy="1152575"/>
          </a:xfrm>
          <a:prstGeom prst="arc">
            <a:avLst>
              <a:gd name="adj1" fmla="val 10758337"/>
              <a:gd name="adj2" fmla="val 0"/>
            </a:avLst>
          </a:prstGeom>
          <a:ln>
            <a:solidFill>
              <a:srgbClr val="0093D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원호 130"/>
          <p:cNvSpPr/>
          <p:nvPr/>
        </p:nvSpPr>
        <p:spPr>
          <a:xfrm>
            <a:off x="2897137" y="4537934"/>
            <a:ext cx="828092" cy="1128945"/>
          </a:xfrm>
          <a:prstGeom prst="arc">
            <a:avLst>
              <a:gd name="adj1" fmla="val 10339426"/>
              <a:gd name="adj2" fmla="val 0"/>
            </a:avLst>
          </a:prstGeom>
          <a:ln>
            <a:solidFill>
              <a:srgbClr val="0093D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Text Box 10"/>
          <p:cNvSpPr txBox="1">
            <a:spLocks noChangeArrowheads="1"/>
          </p:cNvSpPr>
          <p:nvPr/>
        </p:nvSpPr>
        <p:spPr bwMode="gray">
          <a:xfrm>
            <a:off x="333376" y="852176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latinLnBrk="0">
              <a:lnSpc>
                <a:spcPct val="140000"/>
              </a:lnSpc>
              <a:defRPr kumimoji="1" sz="1600" b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2.16.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견문 자료수집 및 등록관리 구축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ko-KR" dirty="0" smtClean="0"/>
              <a:t>2.16.2. </a:t>
            </a:r>
            <a:r>
              <a:rPr lang="ko-KR" altLang="en-US" dirty="0"/>
              <a:t>자동화된 자료 수집 도구 및 자료 검증 시스템</a:t>
            </a:r>
            <a:endParaRPr lang="en-US" altLang="ko-KR" dirty="0"/>
          </a:p>
        </p:txBody>
      </p:sp>
      <p:sp>
        <p:nvSpPr>
          <p:cNvPr id="133" name="직사각형 132"/>
          <p:cNvSpPr/>
          <p:nvPr/>
        </p:nvSpPr>
        <p:spPr>
          <a:xfrm>
            <a:off x="336651" y="2434794"/>
            <a:ext cx="6184698" cy="6910818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336651" y="2180693"/>
            <a:ext cx="6184698" cy="716492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35" name="그룹 134"/>
          <p:cNvGrpSpPr/>
          <p:nvPr/>
        </p:nvGrpSpPr>
        <p:grpSpPr>
          <a:xfrm>
            <a:off x="346076" y="2216696"/>
            <a:ext cx="2232009" cy="197555"/>
            <a:chOff x="339726" y="2270532"/>
            <a:chExt cx="2232009" cy="197555"/>
          </a:xfrm>
        </p:grpSpPr>
        <p:sp>
          <p:nvSpPr>
            <p:cNvPr id="136" name="Text Box 79"/>
            <p:cNvSpPr txBox="1">
              <a:spLocks noChangeArrowheads="1"/>
            </p:cNvSpPr>
            <p:nvPr/>
          </p:nvSpPr>
          <p:spPr bwMode="gray">
            <a:xfrm>
              <a:off x="507067" y="2270532"/>
              <a:ext cx="2064668" cy="197555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최신 정보 자동 수집 시스템</a:t>
              </a:r>
              <a:endParaRPr lang="en-US" altLang="ko-KR" sz="1200" b="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137" name="Oval 472"/>
            <p:cNvSpPr>
              <a:spLocks noChangeArrowheads="1"/>
            </p:cNvSpPr>
            <p:nvPr/>
          </p:nvSpPr>
          <p:spPr bwMode="gray">
            <a:xfrm>
              <a:off x="339726" y="2329649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pic>
        <p:nvPicPr>
          <p:cNvPr id="138" name="그림 1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696" y="4965385"/>
            <a:ext cx="540060" cy="540060"/>
          </a:xfrm>
          <a:prstGeom prst="rect">
            <a:avLst/>
          </a:prstGeom>
        </p:spPr>
      </p:pic>
      <p:sp>
        <p:nvSpPr>
          <p:cNvPr id="139" name="Text Box 8"/>
          <p:cNvSpPr txBox="1">
            <a:spLocks noChangeArrowheads="1"/>
          </p:cNvSpPr>
          <p:nvPr/>
        </p:nvSpPr>
        <p:spPr bwMode="gray">
          <a:xfrm>
            <a:off x="333376" y="1374275"/>
            <a:ext cx="6121400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 algn="l"/>
            <a:r>
              <a:rPr lang="ko-KR" altLang="en-US" dirty="0">
                <a:ln>
                  <a:noFill/>
                </a:ln>
              </a:rPr>
              <a:t>웹 </a:t>
            </a:r>
            <a:r>
              <a:rPr lang="ko-KR" altLang="en-US" dirty="0" err="1">
                <a:ln>
                  <a:noFill/>
                </a:ln>
              </a:rPr>
              <a:t>크롤링</a:t>
            </a:r>
            <a:r>
              <a:rPr lang="en-US" altLang="ko-KR" dirty="0">
                <a:ln>
                  <a:noFill/>
                </a:ln>
              </a:rPr>
              <a:t>, API </a:t>
            </a:r>
            <a:r>
              <a:rPr lang="ko-KR" altLang="en-US" dirty="0">
                <a:ln>
                  <a:noFill/>
                </a:ln>
              </a:rPr>
              <a:t>통합을 통해 최신 정보를 자동으로 수집하고</a:t>
            </a:r>
            <a:r>
              <a:rPr lang="en-US" altLang="ko-KR" dirty="0">
                <a:ln>
                  <a:noFill/>
                </a:ln>
              </a:rPr>
              <a:t>, </a:t>
            </a:r>
            <a:r>
              <a:rPr lang="ko-KR" altLang="en-US" dirty="0">
                <a:ln>
                  <a:noFill/>
                </a:ln>
              </a:rPr>
              <a:t>신뢰성 검증 시스템을 통해 정보의 정확성을 </a:t>
            </a:r>
            <a:r>
              <a:rPr lang="ko-KR" altLang="en-US" dirty="0" smtClean="0">
                <a:ln>
                  <a:noFill/>
                </a:ln>
              </a:rPr>
              <a:t>확보</a:t>
            </a:r>
            <a:r>
              <a:rPr lang="en-US" altLang="ko-KR" dirty="0" smtClean="0">
                <a:ln>
                  <a:noFill/>
                </a:ln>
              </a:rPr>
              <a:t>.</a:t>
            </a:r>
            <a:endParaRPr lang="en-US" altLang="ko-KR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40" name="그룹 139"/>
          <p:cNvGrpSpPr/>
          <p:nvPr/>
        </p:nvGrpSpPr>
        <p:grpSpPr>
          <a:xfrm>
            <a:off x="620688" y="2819982"/>
            <a:ext cx="1512168" cy="898399"/>
            <a:chOff x="620688" y="2819982"/>
            <a:chExt cx="1512168" cy="898399"/>
          </a:xfrm>
        </p:grpSpPr>
        <p:sp>
          <p:nvSpPr>
            <p:cNvPr id="141" name="직사각형 140"/>
            <p:cNvSpPr/>
            <p:nvPr/>
          </p:nvSpPr>
          <p:spPr bwMode="gray">
            <a:xfrm>
              <a:off x="620688" y="2819982"/>
              <a:ext cx="1512168" cy="311368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ffectLst/>
            <a:ex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r>
                <a:rPr lang="ko-KR" altLang="en-US" sz="1000" dirty="0" smtClean="0">
                  <a:ln>
                    <a:solidFill>
                      <a:srgbClr val="9933F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수집</a:t>
              </a:r>
              <a:endParaRPr lang="en-US" altLang="ko-KR" sz="10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2" name="타원 51"/>
            <p:cNvSpPr/>
            <p:nvPr/>
          </p:nvSpPr>
          <p:spPr bwMode="gray">
            <a:xfrm>
              <a:off x="629234" y="3131350"/>
              <a:ext cx="1503621" cy="587031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lIns="108000" tIns="72000" rIns="108000" bIns="72000" rtlCol="0" anchor="ctr"/>
            <a:lstStyle/>
            <a:p>
              <a:pPr algn="ctr" defTabSz="914377"/>
              <a:r>
                <a:rPr lang="ko-KR" altLang="en-US" sz="900" b="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자동화된 수집 도구</a:t>
              </a:r>
              <a:r>
                <a:rPr lang="en-US" altLang="ko-KR" sz="900" b="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/>
              </a:r>
              <a:br>
                <a:rPr lang="en-US" altLang="ko-KR" sz="900" b="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</a:br>
              <a:r>
                <a:rPr lang="en-US" altLang="ko-KR" sz="900" b="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90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웹 </a:t>
              </a:r>
              <a:r>
                <a:rPr lang="ko-KR" altLang="en-US" sz="900" dirty="0" err="1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크롤링</a:t>
              </a:r>
              <a:r>
                <a:rPr lang="ko-KR" altLang="en-US" sz="90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90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+ API</a:t>
              </a:r>
              <a:r>
                <a:rPr lang="ko-KR" altLang="en-US" sz="90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통합</a:t>
              </a:r>
              <a:r>
                <a:rPr lang="en-US" altLang="ko-KR" sz="90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  <a:endParaRPr lang="ko-KR" altLang="en-US" sz="900" b="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2578085" y="2815138"/>
            <a:ext cx="1512168" cy="898399"/>
            <a:chOff x="620688" y="2819982"/>
            <a:chExt cx="1512168" cy="898399"/>
          </a:xfrm>
        </p:grpSpPr>
        <p:sp>
          <p:nvSpPr>
            <p:cNvPr id="144" name="직사각형 143"/>
            <p:cNvSpPr/>
            <p:nvPr/>
          </p:nvSpPr>
          <p:spPr bwMode="gray">
            <a:xfrm>
              <a:off x="620688" y="2819982"/>
              <a:ext cx="1512168" cy="311368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ffectLst/>
            <a:ex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r>
                <a:rPr lang="ko-KR" altLang="en-US" sz="1000" dirty="0" smtClean="0">
                  <a:ln>
                    <a:solidFill>
                      <a:srgbClr val="9933F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검증</a:t>
              </a:r>
              <a:endParaRPr lang="en-US" altLang="ko-KR" sz="10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5" name="타원 51"/>
            <p:cNvSpPr/>
            <p:nvPr/>
          </p:nvSpPr>
          <p:spPr bwMode="gray">
            <a:xfrm>
              <a:off x="629234" y="3131350"/>
              <a:ext cx="1503621" cy="587031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lIns="108000" tIns="72000" rIns="108000" bIns="72000" rtlCol="0" anchor="ctr"/>
            <a:lstStyle/>
            <a:p>
              <a:pPr algn="ctr" defTabSz="914377"/>
              <a:r>
                <a:rPr lang="ko-KR" altLang="en-US" sz="900" b="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자료 검증 시스템</a:t>
              </a:r>
              <a:endParaRPr lang="ko-KR" altLang="en-US" sz="900" b="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4535482" y="2813117"/>
            <a:ext cx="1512168" cy="898399"/>
            <a:chOff x="620688" y="2819982"/>
            <a:chExt cx="1512168" cy="898399"/>
          </a:xfrm>
        </p:grpSpPr>
        <p:sp>
          <p:nvSpPr>
            <p:cNvPr id="147" name="직사각형 146"/>
            <p:cNvSpPr/>
            <p:nvPr/>
          </p:nvSpPr>
          <p:spPr bwMode="gray">
            <a:xfrm>
              <a:off x="620688" y="2819982"/>
              <a:ext cx="1512168" cy="311368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ffectLst/>
            <a:ex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r>
                <a:rPr lang="ko-KR" altLang="en-US" sz="1000" dirty="0" smtClean="0">
                  <a:ln>
                    <a:solidFill>
                      <a:srgbClr val="9933F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저장</a:t>
              </a:r>
              <a:endParaRPr lang="en-US" altLang="ko-KR" sz="10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8" name="타원 51"/>
            <p:cNvSpPr/>
            <p:nvPr/>
          </p:nvSpPr>
          <p:spPr bwMode="gray">
            <a:xfrm>
              <a:off x="629234" y="3131350"/>
              <a:ext cx="1503621" cy="587031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lIns="108000" tIns="72000" rIns="108000" bIns="72000" rtlCol="0" anchor="ctr"/>
            <a:lstStyle/>
            <a:p>
              <a:pPr algn="ctr" defTabSz="914377"/>
              <a:r>
                <a:rPr lang="ko-KR" altLang="en-US" sz="900" b="0" dirty="0" smtClean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데이터 저장소</a:t>
              </a:r>
              <a:endParaRPr lang="ko-KR" altLang="en-US" sz="900" b="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pic>
        <p:nvPicPr>
          <p:cNvPr id="149" name="그림 1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34" y="4110458"/>
            <a:ext cx="504056" cy="504056"/>
          </a:xfrm>
          <a:prstGeom prst="rect">
            <a:avLst/>
          </a:prstGeom>
        </p:spPr>
      </p:pic>
      <p:pic>
        <p:nvPicPr>
          <p:cNvPr id="150" name="그림 1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80" y="5151277"/>
            <a:ext cx="497710" cy="497710"/>
          </a:xfrm>
          <a:prstGeom prst="rect">
            <a:avLst/>
          </a:prstGeom>
        </p:spPr>
      </p:pic>
      <p:pic>
        <p:nvPicPr>
          <p:cNvPr id="151" name="그림 15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799" y="4110458"/>
            <a:ext cx="504056" cy="504056"/>
          </a:xfrm>
          <a:prstGeom prst="rect">
            <a:avLst/>
          </a:prstGeom>
        </p:spPr>
      </p:pic>
      <p:pic>
        <p:nvPicPr>
          <p:cNvPr id="152" name="그림 15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4" r="16509"/>
          <a:stretch/>
        </p:blipFill>
        <p:spPr>
          <a:xfrm>
            <a:off x="1530863" y="5151277"/>
            <a:ext cx="608374" cy="497710"/>
          </a:xfrm>
          <a:prstGeom prst="rect">
            <a:avLst/>
          </a:prstGeom>
        </p:spPr>
      </p:pic>
      <p:pic>
        <p:nvPicPr>
          <p:cNvPr id="153" name="그림 1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9191" y="5990522"/>
            <a:ext cx="327253" cy="327253"/>
          </a:xfrm>
          <a:prstGeom prst="rect">
            <a:avLst/>
          </a:prstGeom>
        </p:spPr>
      </p:pic>
      <p:pic>
        <p:nvPicPr>
          <p:cNvPr id="154" name="그림 1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720" y="5990522"/>
            <a:ext cx="327253" cy="327253"/>
          </a:xfrm>
          <a:prstGeom prst="rect">
            <a:avLst/>
          </a:prstGeom>
        </p:spPr>
      </p:pic>
      <p:pic>
        <p:nvPicPr>
          <p:cNvPr id="155" name="그림 1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936" y="6703503"/>
            <a:ext cx="322037" cy="322037"/>
          </a:xfrm>
          <a:prstGeom prst="rect">
            <a:avLst/>
          </a:prstGeom>
        </p:spPr>
      </p:pic>
      <p:pic>
        <p:nvPicPr>
          <p:cNvPr id="156" name="그림 15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0562" y="6704601"/>
            <a:ext cx="320939" cy="320939"/>
          </a:xfrm>
          <a:prstGeom prst="rect">
            <a:avLst/>
          </a:prstGeom>
        </p:spPr>
      </p:pic>
      <p:cxnSp>
        <p:nvCxnSpPr>
          <p:cNvPr id="157" name="직선 화살표 연결선 156"/>
          <p:cNvCxnSpPr/>
          <p:nvPr/>
        </p:nvCxnSpPr>
        <p:spPr bwMode="gray">
          <a:xfrm>
            <a:off x="2348880" y="2540732"/>
            <a:ext cx="7528" cy="6732748"/>
          </a:xfrm>
          <a:prstGeom prst="straightConnector1">
            <a:avLst/>
          </a:prstGeom>
          <a:ln w="15875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/>
          <p:cNvCxnSpPr/>
          <p:nvPr/>
        </p:nvCxnSpPr>
        <p:spPr bwMode="gray">
          <a:xfrm>
            <a:off x="4304830" y="2523829"/>
            <a:ext cx="7528" cy="6732748"/>
          </a:xfrm>
          <a:prstGeom prst="straightConnector1">
            <a:avLst/>
          </a:prstGeom>
          <a:ln w="15875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9" name="그림 1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2956" y="4370371"/>
            <a:ext cx="864096" cy="864096"/>
          </a:xfrm>
          <a:prstGeom prst="rect">
            <a:avLst/>
          </a:prstGeom>
        </p:spPr>
      </p:pic>
      <p:pic>
        <p:nvPicPr>
          <p:cNvPr id="160" name="그림 15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2956" y="5745088"/>
            <a:ext cx="864096" cy="864096"/>
          </a:xfrm>
          <a:prstGeom prst="rect">
            <a:avLst/>
          </a:prstGeom>
        </p:spPr>
      </p:pic>
      <p:grpSp>
        <p:nvGrpSpPr>
          <p:cNvPr id="161" name="그룹 160"/>
          <p:cNvGrpSpPr/>
          <p:nvPr/>
        </p:nvGrpSpPr>
        <p:grpSpPr>
          <a:xfrm>
            <a:off x="1221574" y="4800818"/>
            <a:ext cx="155198" cy="155198"/>
            <a:chOff x="6847831" y="3666319"/>
            <a:chExt cx="214801" cy="214801"/>
          </a:xfrm>
          <a:solidFill>
            <a:schemeClr val="tx1">
              <a:alpha val="20000"/>
            </a:schemeClr>
          </a:solidFill>
        </p:grpSpPr>
        <p:sp>
          <p:nvSpPr>
            <p:cNvPr id="162" name="모서리가 둥근 직사각형 161"/>
            <p:cNvSpPr/>
            <p:nvPr/>
          </p:nvSpPr>
          <p:spPr bwMode="auto">
            <a:xfrm>
              <a:off x="6925186" y="3666319"/>
              <a:ext cx="60070" cy="21480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ffectLst/>
            <a:extLst/>
          </p:spPr>
          <p:txBody>
            <a:bodyPr wrap="none" lIns="0" tIns="0" rIns="0" bIns="0" rtlCol="0" anchor="ctr">
              <a:noAutofit/>
              <a:scene3d>
                <a:camera prst="orthographicFront"/>
                <a:lightRig rig="threePt" dir="t"/>
              </a:scene3d>
              <a:sp3d extrusionH="12700">
                <a:bevelT w="0"/>
                <a:contourClr>
                  <a:schemeClr val="bg1"/>
                </a:contourClr>
              </a:sp3d>
            </a:bodyPr>
            <a:lstStyle/>
            <a:p>
              <a:pPr algn="ctr" defTabSz="800168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06325"/>
                </a:buClr>
                <a:buSzPct val="80000"/>
              </a:pPr>
              <a:endParaRPr kumimoji="1" lang="ko-KR" altLang="en-US" sz="1400" dirty="0">
                <a:solidFill>
                  <a:srgbClr val="00DEFF"/>
                </a:solidFill>
                <a:cs typeface="Arial" charset="0"/>
              </a:endParaRPr>
            </a:p>
          </p:txBody>
        </p:sp>
        <p:sp>
          <p:nvSpPr>
            <p:cNvPr id="163" name="모서리가 둥근 직사각형 162"/>
            <p:cNvSpPr/>
            <p:nvPr/>
          </p:nvSpPr>
          <p:spPr bwMode="auto">
            <a:xfrm rot="5400000">
              <a:off x="6925197" y="3666329"/>
              <a:ext cx="60069" cy="21480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ffectLst/>
            <a:extLst/>
          </p:spPr>
          <p:txBody>
            <a:bodyPr wrap="none" lIns="0" tIns="0" rIns="0" bIns="0" rtlCol="0" anchor="ctr">
              <a:noAutofit/>
              <a:scene3d>
                <a:camera prst="orthographicFront"/>
                <a:lightRig rig="threePt" dir="t"/>
              </a:scene3d>
              <a:sp3d extrusionH="12700">
                <a:bevelT w="0"/>
                <a:contourClr>
                  <a:schemeClr val="bg1"/>
                </a:contourClr>
              </a:sp3d>
            </a:bodyPr>
            <a:lstStyle/>
            <a:p>
              <a:pPr algn="ctr" defTabSz="800168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06325"/>
                </a:buClr>
                <a:buSzPct val="80000"/>
              </a:pPr>
              <a:endParaRPr kumimoji="1" lang="ko-KR" altLang="en-US" sz="1400" dirty="0">
                <a:solidFill>
                  <a:srgbClr val="00DEFF"/>
                </a:solidFill>
                <a:cs typeface="Arial" charset="0"/>
              </a:endParaRPr>
            </a:p>
          </p:txBody>
        </p:sp>
      </p:grpSp>
      <p:sp>
        <p:nvSpPr>
          <p:cNvPr id="164" name="타원 163"/>
          <p:cNvSpPr/>
          <p:nvPr/>
        </p:nvSpPr>
        <p:spPr bwMode="auto">
          <a:xfrm>
            <a:off x="3100710" y="4362486"/>
            <a:ext cx="470164" cy="340601"/>
          </a:xfrm>
          <a:prstGeom prst="ellipse">
            <a:avLst/>
          </a:prstGeom>
          <a:solidFill>
            <a:srgbClr val="F0F0F0"/>
          </a:solidFill>
          <a:ln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1634" tIns="35817" rIns="71634" bIns="35817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출처</a:t>
            </a:r>
            <a:endParaRPr lang="en-US" altLang="ko-KR" sz="900" dirty="0" smtClean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확인</a:t>
            </a:r>
            <a:endParaRPr lang="en-US" altLang="ko-KR" sz="9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5" name="타원 164"/>
          <p:cNvSpPr/>
          <p:nvPr/>
        </p:nvSpPr>
        <p:spPr bwMode="auto">
          <a:xfrm>
            <a:off x="2536810" y="5129592"/>
            <a:ext cx="470164" cy="340601"/>
          </a:xfrm>
          <a:prstGeom prst="ellipse">
            <a:avLst/>
          </a:prstGeom>
          <a:solidFill>
            <a:srgbClr val="F0F0F0"/>
          </a:solidFill>
          <a:ln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1634" tIns="35817" rIns="71634" bIns="35817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신뢰도</a:t>
            </a:r>
            <a:endParaRPr lang="en-US" altLang="ko-KR" sz="900" dirty="0" smtClean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평가</a:t>
            </a:r>
            <a:endParaRPr lang="en-US" altLang="ko-KR" sz="9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6" name="타원 165"/>
          <p:cNvSpPr/>
          <p:nvPr/>
        </p:nvSpPr>
        <p:spPr bwMode="auto">
          <a:xfrm>
            <a:off x="3103362" y="5813547"/>
            <a:ext cx="470164" cy="340601"/>
          </a:xfrm>
          <a:prstGeom prst="ellipse">
            <a:avLst/>
          </a:prstGeom>
          <a:solidFill>
            <a:srgbClr val="F0F0F0"/>
          </a:solidFill>
          <a:ln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1634" tIns="35817" rIns="71634" bIns="35817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중복</a:t>
            </a:r>
            <a:endParaRPr lang="en-US" altLang="ko-KR" sz="900" dirty="0" smtClean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검사</a:t>
            </a:r>
            <a:endParaRPr lang="en-US" altLang="ko-KR" sz="9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7" name="타원 166"/>
          <p:cNvSpPr/>
          <p:nvPr/>
        </p:nvSpPr>
        <p:spPr bwMode="auto">
          <a:xfrm>
            <a:off x="3582696" y="5091402"/>
            <a:ext cx="470164" cy="340601"/>
          </a:xfrm>
          <a:prstGeom prst="ellipse">
            <a:avLst/>
          </a:prstGeom>
          <a:solidFill>
            <a:srgbClr val="F0F0F0"/>
          </a:solidFill>
          <a:ln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1634" tIns="35817" rIns="71634" bIns="35817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보안</a:t>
            </a:r>
            <a:endParaRPr lang="en-US" altLang="ko-KR" sz="900" dirty="0" smtClean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검사</a:t>
            </a:r>
            <a:endParaRPr lang="en-US" altLang="ko-KR" sz="9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409979" y="8045594"/>
            <a:ext cx="1844126" cy="1300019"/>
            <a:chOff x="333375" y="8045594"/>
            <a:chExt cx="1476000" cy="1300019"/>
          </a:xfrm>
        </p:grpSpPr>
        <p:sp>
          <p:nvSpPr>
            <p:cNvPr id="169" name="직사각형 168"/>
            <p:cNvSpPr/>
            <p:nvPr/>
          </p:nvSpPr>
          <p:spPr bwMode="gray">
            <a:xfrm>
              <a:off x="333375" y="8045594"/>
              <a:ext cx="1476000" cy="1300019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70" name="직사각형 169"/>
            <p:cNvSpPr/>
            <p:nvPr/>
          </p:nvSpPr>
          <p:spPr bwMode="gray">
            <a:xfrm>
              <a:off x="333375" y="8045595"/>
              <a:ext cx="1476000" cy="288000"/>
            </a:xfrm>
            <a:prstGeom prst="rect">
              <a:avLst/>
            </a:prstGeom>
            <a:solidFill>
              <a:srgbClr val="9B9B9B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실시간 자동 수집</a:t>
              </a:r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71" name="Rectangle 25"/>
            <p:cNvSpPr>
              <a:spLocks noChangeArrowheads="1"/>
            </p:cNvSpPr>
            <p:nvPr/>
          </p:nvSpPr>
          <p:spPr bwMode="auto">
            <a:xfrm flipH="1">
              <a:off x="415936" y="8394664"/>
              <a:ext cx="1292214" cy="276999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특정 웹사이트에서 필요한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데이터를 자동으로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수집</a:t>
              </a:r>
              <a:endPara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72" name="그룹 171"/>
          <p:cNvGrpSpPr/>
          <p:nvPr/>
        </p:nvGrpSpPr>
        <p:grpSpPr>
          <a:xfrm>
            <a:off x="2451183" y="8066137"/>
            <a:ext cx="1815151" cy="1279476"/>
            <a:chOff x="333375" y="8045594"/>
            <a:chExt cx="1476000" cy="1300019"/>
          </a:xfrm>
        </p:grpSpPr>
        <p:sp>
          <p:nvSpPr>
            <p:cNvPr id="173" name="직사각형 172"/>
            <p:cNvSpPr/>
            <p:nvPr/>
          </p:nvSpPr>
          <p:spPr bwMode="gray">
            <a:xfrm>
              <a:off x="333375" y="8045594"/>
              <a:ext cx="1476000" cy="1300019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74" name="직사각형 173"/>
            <p:cNvSpPr/>
            <p:nvPr/>
          </p:nvSpPr>
          <p:spPr bwMode="gray">
            <a:xfrm>
              <a:off x="333375" y="8045595"/>
              <a:ext cx="1476000" cy="288000"/>
            </a:xfrm>
            <a:prstGeom prst="rect">
              <a:avLst/>
            </a:prstGeom>
            <a:solidFill>
              <a:srgbClr val="9B9B9B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출처 신뢰도 검증</a:t>
              </a:r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75" name="Rectangle 25"/>
            <p:cNvSpPr>
              <a:spLocks noChangeArrowheads="1"/>
            </p:cNvSpPr>
            <p:nvPr/>
          </p:nvSpPr>
          <p:spPr bwMode="auto">
            <a:xfrm flipH="1">
              <a:off x="415936" y="8394664"/>
              <a:ext cx="1292214" cy="138499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95%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이상 정확도</a:t>
              </a:r>
              <a:endPara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4393821" y="8045594"/>
            <a:ext cx="2060956" cy="1300019"/>
            <a:chOff x="333375" y="8045594"/>
            <a:chExt cx="1476000" cy="1300019"/>
          </a:xfrm>
        </p:grpSpPr>
        <p:sp>
          <p:nvSpPr>
            <p:cNvPr id="177" name="직사각형 176"/>
            <p:cNvSpPr/>
            <p:nvPr/>
          </p:nvSpPr>
          <p:spPr bwMode="gray">
            <a:xfrm>
              <a:off x="333375" y="8045594"/>
              <a:ext cx="1476000" cy="1300019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78" name="직사각형 177"/>
            <p:cNvSpPr/>
            <p:nvPr/>
          </p:nvSpPr>
          <p:spPr bwMode="gray">
            <a:xfrm>
              <a:off x="333375" y="8045595"/>
              <a:ext cx="1476000" cy="288000"/>
            </a:xfrm>
            <a:prstGeom prst="rect">
              <a:avLst/>
            </a:prstGeom>
            <a:solidFill>
              <a:srgbClr val="9B9B9B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보안 위협 차단</a:t>
              </a:r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79" name="Rectangle 25"/>
            <p:cNvSpPr>
              <a:spLocks noChangeArrowheads="1"/>
            </p:cNvSpPr>
            <p:nvPr/>
          </p:nvSpPr>
          <p:spPr bwMode="auto">
            <a:xfrm flipH="1">
              <a:off x="415936" y="8394664"/>
              <a:ext cx="1292214" cy="138499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99%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이상 악성 코드 탐지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70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2.17. 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</a:t>
            </a:r>
            <a:r>
              <a:rPr lang="ko-KR" altLang="en-US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평가관리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구축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2.17.1. </a:t>
            </a:r>
            <a:r>
              <a:rPr lang="ko-KR" altLang="en-US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 기준 및 정보 등급 관리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endParaRPr lang="en-US" altLang="ko-KR" sz="1600" b="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5287962" y="2486748"/>
            <a:ext cx="1230644" cy="198000"/>
            <a:chOff x="5287962" y="1441732"/>
            <a:chExt cx="1230644" cy="198000"/>
          </a:xfrm>
        </p:grpSpPr>
        <p:sp>
          <p:nvSpPr>
            <p:cNvPr id="8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86" name="직사각형 8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87" name="직사각형 86"/>
            <p:cNvSpPr/>
            <p:nvPr/>
          </p:nvSpPr>
          <p:spPr bwMode="gray">
            <a:xfrm>
              <a:off x="6004121" y="1471482"/>
              <a:ext cx="431207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900" dirty="0" smtClean="0"/>
                <a:t>SFR-016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336651" y="2720974"/>
            <a:ext cx="6184698" cy="6624640"/>
            <a:chOff x="336651" y="2720974"/>
            <a:chExt cx="6184698" cy="6624640"/>
          </a:xfrm>
        </p:grpSpPr>
        <p:sp>
          <p:nvSpPr>
            <p:cNvPr id="46" name="직사각형 45"/>
            <p:cNvSpPr/>
            <p:nvPr/>
          </p:nvSpPr>
          <p:spPr>
            <a:xfrm>
              <a:off x="336651" y="2973388"/>
              <a:ext cx="6184698" cy="6372226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36651" y="2720974"/>
              <a:ext cx="6184698" cy="662463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346076" y="2739221"/>
            <a:ext cx="2478871" cy="197555"/>
            <a:chOff x="339726" y="2214106"/>
            <a:chExt cx="2478871" cy="197555"/>
          </a:xfrm>
        </p:grpSpPr>
        <p:sp>
          <p:nvSpPr>
            <p:cNvPr id="49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311530" cy="197555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정보의 신뢰성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, 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최신성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, 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전문성</a:t>
              </a:r>
              <a:endParaRPr lang="en-US" altLang="ko-KR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0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aphicFrame>
        <p:nvGraphicFramePr>
          <p:cNvPr id="74" name="표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095228"/>
              </p:ext>
            </p:extLst>
          </p:nvPr>
        </p:nvGraphicFramePr>
        <p:xfrm>
          <a:off x="338294" y="2982878"/>
          <a:ext cx="6191249" cy="190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632">
                  <a:extLst>
                    <a:ext uri="{9D8B030D-6E8A-4147-A177-3AD203B41FA5}">
                      <a16:colId xmlns:a16="http://schemas.microsoft.com/office/drawing/2014/main" val="976765858"/>
                    </a:ext>
                  </a:extLst>
                </a:gridCol>
                <a:gridCol w="3023617">
                  <a:extLst>
                    <a:ext uri="{9D8B030D-6E8A-4147-A177-3AD203B41FA5}">
                      <a16:colId xmlns:a16="http://schemas.microsoft.com/office/drawing/2014/main" val="162804457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AS-IS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TO-BE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77816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평가 기준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-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명확한 기준 부재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평가자 개인의 주관적 판단에 의존</a:t>
                      </a: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정보 등급 관리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단일 등급 체계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복합 정보 권한 관리 미비</a:t>
                      </a: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접근 제어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-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역할별 접근 권한 </a:t>
                      </a:r>
                      <a:r>
                        <a:rPr lang="ko-KR" altLang="en-US" sz="1000" kern="1200" spc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미적용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보안 취약</a:t>
                      </a: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문제점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-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정보 신뢰도 하락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보안 사고 위험</a:t>
                      </a:r>
                      <a:r>
                        <a:rPr lang="en-US" altLang="ko-KR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의사결정 지연</a:t>
                      </a: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기준</a:t>
                      </a:r>
                    </a:p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- 3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대 핵심 기준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(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신뢰성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최신성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전문성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),</a:t>
                      </a:r>
                    </a:p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  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세부 지표 정의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.</a:t>
                      </a:r>
                    </a:p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정보 등급</a:t>
                      </a:r>
                    </a:p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- 3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단계 등급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(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일반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/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중요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/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기밀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복합 정보 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 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권한 규칙 마련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.</a:t>
                      </a:r>
                    </a:p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접근 관리</a:t>
                      </a:r>
                    </a:p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- RBAC(Role-Based Access Control)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시스템 도입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.</a:t>
                      </a:r>
                    </a:p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자동화</a:t>
                      </a:r>
                    </a:p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- AI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기반 자동 평가 모듈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+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수동 검증 프로세스 결합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.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38547"/>
                  </a:ext>
                </a:extLst>
              </a:tr>
            </a:tbl>
          </a:graphicData>
        </a:graphic>
      </p:graphicFrame>
      <p:sp>
        <p:nvSpPr>
          <p:cNvPr id="75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81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오늘날 정보의 양이 폭발적으로 증가함에 따라</a:t>
            </a:r>
            <a:r>
              <a:rPr lang="en-US" altLang="ko-KR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체계적이고 신뢰할 수 있는 정보 관리가 필수적입니다</a:t>
            </a:r>
            <a:r>
              <a:rPr lang="en-US" altLang="ko-KR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</a:p>
          <a:p>
            <a:pPr algn="l"/>
            <a:r>
              <a:rPr lang="ko-KR" altLang="en-US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정보의 신뢰성과 </a:t>
            </a:r>
            <a:r>
              <a:rPr lang="ko-KR" altLang="en-US" spc="0" dirty="0" err="1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활용성을</a:t>
            </a:r>
            <a:r>
              <a:rPr lang="ko-KR" altLang="en-US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극대화하기 위해 평가 기준을 정의하고</a:t>
            </a:r>
            <a:r>
              <a:rPr lang="en-US" altLang="ko-KR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등급을 설정하여 정보의 신뢰도를 관리한다</a:t>
            </a:r>
            <a:r>
              <a:rPr lang="en-US" altLang="ko-KR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  <a:p>
            <a:pPr algn="l"/>
            <a:r>
              <a:rPr lang="ko-KR" altLang="en-US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이를 통해 사용자에게 신뢰할 수 있는 정보를 제공하고</a:t>
            </a:r>
            <a:r>
              <a:rPr lang="en-US" altLang="ko-KR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정보 유통 및 활용의 체계를 수립한다</a:t>
            </a:r>
            <a:r>
              <a:rPr lang="en-US" altLang="ko-KR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33375" y="5200815"/>
            <a:ext cx="6194424" cy="1811010"/>
            <a:chOff x="333375" y="4918617"/>
            <a:chExt cx="6194424" cy="1811010"/>
          </a:xfrm>
        </p:grpSpPr>
        <p:sp>
          <p:nvSpPr>
            <p:cNvPr id="77" name="직사각형 76"/>
            <p:cNvSpPr/>
            <p:nvPr/>
          </p:nvSpPr>
          <p:spPr bwMode="gray">
            <a:xfrm>
              <a:off x="333375" y="4918617"/>
              <a:ext cx="1980000" cy="1811009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 bwMode="gray">
            <a:xfrm>
              <a:off x="2440587" y="4918618"/>
              <a:ext cx="1980000" cy="1811009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79" name="직사각형 78"/>
            <p:cNvSpPr/>
            <p:nvPr/>
          </p:nvSpPr>
          <p:spPr bwMode="gray">
            <a:xfrm>
              <a:off x="4547799" y="4918618"/>
              <a:ext cx="1980000" cy="1811008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82" name="직사각형 81"/>
            <p:cNvSpPr/>
            <p:nvPr/>
          </p:nvSpPr>
          <p:spPr bwMode="gray">
            <a:xfrm>
              <a:off x="333375" y="4918619"/>
              <a:ext cx="1980000" cy="288000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평가 기준 정의</a:t>
              </a:r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83" name="Rectangle 25"/>
            <p:cNvSpPr>
              <a:spLocks noChangeArrowheads="1"/>
            </p:cNvSpPr>
            <p:nvPr/>
          </p:nvSpPr>
          <p:spPr bwMode="auto">
            <a:xfrm flipH="1">
              <a:off x="415936" y="5267688"/>
              <a:ext cx="1804023" cy="1184940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신뢰성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자료 출처의 신뢰도와 내용의 정확성 평가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최신성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자료 생성 및 업데이트 시기 평가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중요도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업무와의 관련성 및 활용 가능성 평가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전문성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자료 작성자의 전문성과 내용의 깊이 평가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88" name="직사각형 87"/>
            <p:cNvSpPr/>
            <p:nvPr/>
          </p:nvSpPr>
          <p:spPr bwMode="gray">
            <a:xfrm>
              <a:off x="2440587" y="4918619"/>
              <a:ext cx="1980000" cy="288000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정보 등급 설정</a:t>
              </a:r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89" name="Rectangle 25"/>
            <p:cNvSpPr>
              <a:spLocks noChangeArrowheads="1"/>
            </p:cNvSpPr>
            <p:nvPr/>
          </p:nvSpPr>
          <p:spPr bwMode="auto">
            <a:xfrm flipH="1">
              <a:off x="2523148" y="5267688"/>
              <a:ext cx="1804023" cy="1461939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등록된 정보와 병합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분석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요약된 정보를 대상으로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5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단계 등급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(S, A, B, C, D)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설정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등급별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열람 권한과 유통 범위 설정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-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상위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등급은 관리자 및 주요 의사결정자만 접근 가능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-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하위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등급은 일반 사용자도 열람 가능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90" name="직사각형 89"/>
            <p:cNvSpPr/>
            <p:nvPr/>
          </p:nvSpPr>
          <p:spPr bwMode="gray">
            <a:xfrm>
              <a:off x="4547799" y="4918619"/>
              <a:ext cx="1980000" cy="288000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열람 권한 관리</a:t>
              </a:r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91" name="Rectangle 25"/>
            <p:cNvSpPr>
              <a:spLocks noChangeArrowheads="1"/>
            </p:cNvSpPr>
            <p:nvPr/>
          </p:nvSpPr>
          <p:spPr bwMode="auto">
            <a:xfrm flipH="1">
              <a:off x="4630360" y="5267688"/>
              <a:ext cx="1804023" cy="1174681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입력된 원본 데이터와 병합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분석된 데이터에 대해 차별화된 열람 권한 부여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사용자 역할 기반 접근 제어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(Role-Based Access Control, RBAC)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적용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-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관리자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,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분석가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,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일반 사용자 등 역할에 따른 접근 권한 설정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333375" y="7550294"/>
            <a:ext cx="6194424" cy="1842622"/>
            <a:chOff x="333375" y="5942807"/>
            <a:chExt cx="6194424" cy="1842622"/>
          </a:xfrm>
        </p:grpSpPr>
        <p:sp>
          <p:nvSpPr>
            <p:cNvPr id="110" name="직사각형 109"/>
            <p:cNvSpPr/>
            <p:nvPr/>
          </p:nvSpPr>
          <p:spPr bwMode="gray">
            <a:xfrm>
              <a:off x="333375" y="6230808"/>
              <a:ext cx="1980000" cy="1507193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1" name="직사각형 110"/>
            <p:cNvSpPr/>
            <p:nvPr/>
          </p:nvSpPr>
          <p:spPr bwMode="gray">
            <a:xfrm>
              <a:off x="2440587" y="6230808"/>
              <a:ext cx="1980000" cy="1507193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2" name="직사각형 111"/>
            <p:cNvSpPr/>
            <p:nvPr/>
          </p:nvSpPr>
          <p:spPr bwMode="gray">
            <a:xfrm>
              <a:off x="4547799" y="6189830"/>
              <a:ext cx="1980000" cy="1548172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3" name="Rectangle 25"/>
            <p:cNvSpPr>
              <a:spLocks noChangeArrowheads="1"/>
            </p:cNvSpPr>
            <p:nvPr/>
          </p:nvSpPr>
          <p:spPr bwMode="auto">
            <a:xfrm flipH="1">
              <a:off x="415934" y="6297842"/>
              <a:ext cx="1804023" cy="1487587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자동 평가 엔진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- AI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기반 키워드 분석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(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예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"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기밀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"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키워드 감지 시 자동 등급 상향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).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-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메타데이터 추출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(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생성 일자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작성자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).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수동 검증 프로세스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-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전문가 검토를 통한 등급 최종 확정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114" name="Rectangle 25"/>
            <p:cNvSpPr>
              <a:spLocks noChangeArrowheads="1"/>
            </p:cNvSpPr>
            <p:nvPr/>
          </p:nvSpPr>
          <p:spPr bwMode="auto">
            <a:xfrm flipH="1">
              <a:off x="2523146" y="6297842"/>
              <a:ext cx="1804023" cy="1400383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RBAC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구현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-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역할별 권한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  일반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사용자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일반 정보 접근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관리자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중요 정보 접근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 슈퍼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관리자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기밀 정보 접근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-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감사 추적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 모든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접근 이력 기록 및 실시간 모니터링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115" name="Rectangle 25"/>
            <p:cNvSpPr>
              <a:spLocks noChangeArrowheads="1"/>
            </p:cNvSpPr>
            <p:nvPr/>
          </p:nvSpPr>
          <p:spPr bwMode="auto">
            <a:xfrm flipH="1">
              <a:off x="4630358" y="6297842"/>
              <a:ext cx="1804023" cy="605294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대시보드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-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등급별 정보 </a:t>
              </a:r>
              <a:r>
                <a:rPr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필터링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기능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-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실시간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알림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(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예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기밀 정보 등록 시 관리자 알림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).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116" name="직사각형 115"/>
            <p:cNvSpPr/>
            <p:nvPr/>
          </p:nvSpPr>
          <p:spPr bwMode="gray">
            <a:xfrm>
              <a:off x="333375" y="5942808"/>
              <a:ext cx="1979812" cy="288000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평가 및 등급 관리 모듈</a:t>
              </a:r>
              <a:endParaRPr lang="en-US" altLang="ko-KR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7" name="직사각형 116"/>
            <p:cNvSpPr/>
            <p:nvPr/>
          </p:nvSpPr>
          <p:spPr bwMode="gray">
            <a:xfrm>
              <a:off x="333375" y="5942807"/>
              <a:ext cx="1979812" cy="1795194"/>
            </a:xfrm>
            <a:prstGeom prst="rect">
              <a:avLst/>
            </a:prstGeom>
            <a:noFill/>
            <a:ln w="9525">
              <a:solidFill>
                <a:srgbClr val="84B9EA"/>
              </a:solidFill>
              <a:miter lim="800000"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latinLnBrk="0"/>
              <a:endParaRPr lang="en-US" altLang="ko-KR" sz="1200" b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8" name="직사각형 117"/>
            <p:cNvSpPr/>
            <p:nvPr/>
          </p:nvSpPr>
          <p:spPr bwMode="gray">
            <a:xfrm>
              <a:off x="2437178" y="5942808"/>
              <a:ext cx="1979812" cy="288000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접근 제어 시스템</a:t>
              </a:r>
              <a:endParaRPr lang="en-US" altLang="ko-KR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9" name="직사각형 118"/>
            <p:cNvSpPr/>
            <p:nvPr/>
          </p:nvSpPr>
          <p:spPr bwMode="gray">
            <a:xfrm>
              <a:off x="2437178" y="5942807"/>
              <a:ext cx="1979812" cy="1795194"/>
            </a:xfrm>
            <a:prstGeom prst="rect">
              <a:avLst/>
            </a:prstGeom>
            <a:noFill/>
            <a:ln w="9525">
              <a:solidFill>
                <a:srgbClr val="84B9EA"/>
              </a:solidFill>
              <a:miter lim="800000"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latinLnBrk="0"/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20" name="직사각형 119"/>
            <p:cNvSpPr/>
            <p:nvPr/>
          </p:nvSpPr>
          <p:spPr bwMode="gray">
            <a:xfrm>
              <a:off x="4540982" y="5942808"/>
              <a:ext cx="1979812" cy="288000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데이터 유통 플랫폼</a:t>
              </a:r>
              <a:endParaRPr lang="en-US" altLang="ko-KR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21" name="직사각형 120"/>
            <p:cNvSpPr/>
            <p:nvPr/>
          </p:nvSpPr>
          <p:spPr bwMode="gray">
            <a:xfrm>
              <a:off x="4540982" y="5942807"/>
              <a:ext cx="1979812" cy="1795194"/>
            </a:xfrm>
            <a:prstGeom prst="rect">
              <a:avLst/>
            </a:prstGeom>
            <a:noFill/>
            <a:ln w="9525">
              <a:solidFill>
                <a:srgbClr val="84B9EA"/>
              </a:solidFill>
              <a:miter lim="800000"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latinLnBrk="0"/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268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2.17. 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</a:t>
            </a:r>
            <a:r>
              <a:rPr lang="ko-KR" altLang="en-US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평가관리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구축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2.17.2. </a:t>
            </a:r>
            <a:r>
              <a:rPr lang="ko-KR" altLang="en-US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 처리 관리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endParaRPr lang="en-US" altLang="ko-KR" sz="1600" b="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5287962" y="2486748"/>
            <a:ext cx="1230644" cy="198000"/>
            <a:chOff x="5287962" y="1441732"/>
            <a:chExt cx="1230644" cy="198000"/>
          </a:xfrm>
        </p:grpSpPr>
        <p:sp>
          <p:nvSpPr>
            <p:cNvPr id="8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86" name="직사각형 8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87" name="직사각형 86"/>
            <p:cNvSpPr/>
            <p:nvPr/>
          </p:nvSpPr>
          <p:spPr bwMode="gray">
            <a:xfrm>
              <a:off x="5996747" y="1471482"/>
              <a:ext cx="445956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900" spc="-30" dirty="0" smtClean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SFR-017</a:t>
              </a:r>
              <a:endParaRPr lang="en-US" altLang="ko-KR" sz="900" spc="-3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45" name="그룹 44"/>
          <p:cNvGrpSpPr/>
          <p:nvPr/>
        </p:nvGrpSpPr>
        <p:grpSpPr>
          <a:xfrm>
            <a:off x="336651" y="2720974"/>
            <a:ext cx="6184698" cy="6624640"/>
            <a:chOff x="336651" y="2720974"/>
            <a:chExt cx="6184698" cy="6624640"/>
          </a:xfrm>
        </p:grpSpPr>
        <p:sp>
          <p:nvSpPr>
            <p:cNvPr id="46" name="직사각형 45"/>
            <p:cNvSpPr/>
            <p:nvPr/>
          </p:nvSpPr>
          <p:spPr>
            <a:xfrm>
              <a:off x="336651" y="2973388"/>
              <a:ext cx="6184698" cy="6372226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36651" y="2720974"/>
              <a:ext cx="6184698" cy="662463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352022" y="4232920"/>
            <a:ext cx="1276619" cy="203133"/>
            <a:chOff x="339726" y="2214106"/>
            <a:chExt cx="1276619" cy="203133"/>
          </a:xfrm>
        </p:grpSpPr>
        <p:sp>
          <p:nvSpPr>
            <p:cNvPr id="49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1109278" cy="203133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평가 처리 관리</a:t>
              </a:r>
              <a:endParaRPr lang="en-US" altLang="ko-KR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0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75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자동 평가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(1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+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수동 평가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(2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이중 체계 를 구축하고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 결과에 따른 자동화된 알림 및 후속 작업 생성 기능을 도입하여 신속한 정보 공유 와 체계적 업무 처리 를 </a:t>
            </a:r>
            <a:r>
              <a:rPr lang="ko-KR" altLang="en-US" spc="0" dirty="0" smtClean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실현함</a:t>
            </a:r>
            <a:endParaRPr lang="en-US" altLang="ko-KR" spc="0" dirty="0" smtClean="0">
              <a:ln>
                <a:noFill/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 지표를 표준화하여 주관성 배제 및 신뢰성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강화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 완료 시 실시간 알림 및 자동 작업 생성 </a:t>
            </a:r>
            <a:r>
              <a:rPr lang="ko-KR" altLang="en-US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업무 효율성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제고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33375" y="4436054"/>
            <a:ext cx="6194424" cy="1727780"/>
            <a:chOff x="333375" y="4918618"/>
            <a:chExt cx="6194424" cy="1727780"/>
          </a:xfrm>
        </p:grpSpPr>
        <p:sp>
          <p:nvSpPr>
            <p:cNvPr id="77" name="직사각형 76"/>
            <p:cNvSpPr/>
            <p:nvPr/>
          </p:nvSpPr>
          <p:spPr bwMode="gray">
            <a:xfrm>
              <a:off x="333375" y="4918618"/>
              <a:ext cx="1980000" cy="172778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 bwMode="gray">
            <a:xfrm>
              <a:off x="2440587" y="4918618"/>
              <a:ext cx="1980000" cy="172778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79" name="직사각형 78"/>
            <p:cNvSpPr/>
            <p:nvPr/>
          </p:nvSpPr>
          <p:spPr bwMode="gray">
            <a:xfrm>
              <a:off x="4547799" y="4918618"/>
              <a:ext cx="1980000" cy="172778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82" name="직사각형 81"/>
            <p:cNvSpPr/>
            <p:nvPr/>
          </p:nvSpPr>
          <p:spPr bwMode="gray">
            <a:xfrm>
              <a:off x="333375" y="4918619"/>
              <a:ext cx="1980000" cy="288000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자동 평가 기능</a:t>
              </a:r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83" name="Rectangle 25"/>
            <p:cNvSpPr>
              <a:spLocks noChangeArrowheads="1"/>
            </p:cNvSpPr>
            <p:nvPr/>
          </p:nvSpPr>
          <p:spPr bwMode="auto">
            <a:xfrm flipH="1">
              <a:off x="415936" y="5267688"/>
              <a:ext cx="1804023" cy="1282402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키워드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분석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"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긴급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", "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기밀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"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등 키워드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감지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메타데이터 추출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생성 일자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작성자 자동 수집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.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위험도 계산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: AI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모델이 위험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신호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-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가짜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뉴스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패턴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탐지 등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88" name="직사각형 87"/>
            <p:cNvSpPr/>
            <p:nvPr/>
          </p:nvSpPr>
          <p:spPr bwMode="gray">
            <a:xfrm>
              <a:off x="2440587" y="4918619"/>
              <a:ext cx="1980000" cy="288000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수동 평가</a:t>
              </a:r>
              <a:r>
                <a:rPr lang="en-US" altLang="ko-KR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ko-KR" altLang="en-US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전문가 검증</a:t>
              </a:r>
              <a:r>
                <a:rPr lang="en-US" altLang="ko-KR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89" name="Rectangle 25"/>
            <p:cNvSpPr>
              <a:spLocks noChangeArrowheads="1"/>
            </p:cNvSpPr>
            <p:nvPr/>
          </p:nvSpPr>
          <p:spPr bwMode="auto">
            <a:xfrm flipH="1">
              <a:off x="2523148" y="5267688"/>
              <a:ext cx="1804023" cy="974626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2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차 수동 검토 인터페이스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제공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전문가가 자동 분류 결과를 검토하고 필요시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수정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사용자 친화적인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UI/UX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로 효율적인 검토 환경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제공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90" name="직사각형 89"/>
            <p:cNvSpPr/>
            <p:nvPr/>
          </p:nvSpPr>
          <p:spPr bwMode="gray">
            <a:xfrm>
              <a:off x="4547799" y="4918619"/>
              <a:ext cx="1980000" cy="288000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지표 기반 평가 지원</a:t>
              </a:r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91" name="Rectangle 25"/>
            <p:cNvSpPr>
              <a:spLocks noChangeArrowheads="1"/>
            </p:cNvSpPr>
            <p:nvPr/>
          </p:nvSpPr>
          <p:spPr bwMode="auto">
            <a:xfrm flipH="1">
              <a:off x="4630360" y="5267688"/>
              <a:ext cx="1804023" cy="795089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각종 평가 지표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(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중요도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최신성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신뢰도 등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)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를 시각화하여 대시보드로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제공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실시간으로 업데이트되는 지표를 통해 빠른 판단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지원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333374" y="6415279"/>
            <a:ext cx="6194425" cy="1153122"/>
            <a:chOff x="333374" y="5942807"/>
            <a:chExt cx="6194425" cy="1153122"/>
          </a:xfrm>
        </p:grpSpPr>
        <p:sp>
          <p:nvSpPr>
            <p:cNvPr id="110" name="직사각형 109"/>
            <p:cNvSpPr/>
            <p:nvPr/>
          </p:nvSpPr>
          <p:spPr bwMode="gray">
            <a:xfrm>
              <a:off x="333375" y="6230808"/>
              <a:ext cx="2951608" cy="865121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2" name="직사각형 111"/>
            <p:cNvSpPr/>
            <p:nvPr/>
          </p:nvSpPr>
          <p:spPr bwMode="gray">
            <a:xfrm>
              <a:off x="3429000" y="6189830"/>
              <a:ext cx="3098799" cy="906099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3" name="Rectangle 25"/>
            <p:cNvSpPr>
              <a:spLocks noChangeArrowheads="1"/>
            </p:cNvSpPr>
            <p:nvPr/>
          </p:nvSpPr>
          <p:spPr bwMode="auto">
            <a:xfrm flipH="1">
              <a:off x="415933" y="6297842"/>
              <a:ext cx="2797042" cy="641201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자료의 평가가 완료되면 관련자에게 실시간으로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통보</a:t>
              </a:r>
              <a:endPara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평가 결과에 따라 후속 작업이 필요할 경우 담당자에게 작업 요청 알림 전송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115" name="Rectangle 25"/>
            <p:cNvSpPr>
              <a:spLocks noChangeArrowheads="1"/>
            </p:cNvSpPr>
            <p:nvPr/>
          </p:nvSpPr>
          <p:spPr bwMode="auto">
            <a:xfrm flipH="1">
              <a:off x="3501007" y="6297842"/>
              <a:ext cx="2933373" cy="487313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사용자는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자신에게 필요한 알림 유형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(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평가 완료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,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후속 작업 생성 등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)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을 선택 가능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우선순위에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따른 알림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필터링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기능 제공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116" name="직사각형 115"/>
            <p:cNvSpPr/>
            <p:nvPr/>
          </p:nvSpPr>
          <p:spPr bwMode="gray">
            <a:xfrm>
              <a:off x="333374" y="5942808"/>
              <a:ext cx="2951609" cy="288000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알림 기능</a:t>
              </a:r>
              <a:endParaRPr lang="en-US" altLang="ko-KR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7" name="직사각형 116"/>
            <p:cNvSpPr/>
            <p:nvPr/>
          </p:nvSpPr>
          <p:spPr bwMode="gray">
            <a:xfrm>
              <a:off x="333374" y="5942807"/>
              <a:ext cx="2951609" cy="1153122"/>
            </a:xfrm>
            <a:prstGeom prst="rect">
              <a:avLst/>
            </a:prstGeom>
            <a:noFill/>
            <a:ln w="9525">
              <a:solidFill>
                <a:srgbClr val="84B9EA"/>
              </a:solidFill>
              <a:miter lim="800000"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latinLnBrk="0"/>
              <a:endParaRPr lang="en-US" altLang="ko-KR" sz="1200" b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20" name="직사각형 119"/>
            <p:cNvSpPr/>
            <p:nvPr/>
          </p:nvSpPr>
          <p:spPr bwMode="gray">
            <a:xfrm>
              <a:off x="3429000" y="5942808"/>
              <a:ext cx="3091794" cy="288000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사용자 맞춤형 알림 설정</a:t>
              </a:r>
              <a:endParaRPr lang="en-US" altLang="ko-KR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21" name="직사각형 120"/>
            <p:cNvSpPr/>
            <p:nvPr/>
          </p:nvSpPr>
          <p:spPr bwMode="gray">
            <a:xfrm>
              <a:off x="3429000" y="5942807"/>
              <a:ext cx="3091794" cy="1153122"/>
            </a:xfrm>
            <a:prstGeom prst="rect">
              <a:avLst/>
            </a:prstGeom>
            <a:noFill/>
            <a:ln w="9525">
              <a:solidFill>
                <a:srgbClr val="84B9EA"/>
              </a:solidFill>
              <a:miter lim="800000"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latinLnBrk="0"/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681677"/>
              </p:ext>
            </p:extLst>
          </p:nvPr>
        </p:nvGraphicFramePr>
        <p:xfrm>
          <a:off x="338294" y="2720752"/>
          <a:ext cx="6191249" cy="1462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632">
                  <a:extLst>
                    <a:ext uri="{9D8B030D-6E8A-4147-A177-3AD203B41FA5}">
                      <a16:colId xmlns:a16="http://schemas.microsoft.com/office/drawing/2014/main" val="976765858"/>
                    </a:ext>
                  </a:extLst>
                </a:gridCol>
                <a:gridCol w="3023617">
                  <a:extLst>
                    <a:ext uri="{9D8B030D-6E8A-4147-A177-3AD203B41FA5}">
                      <a16:colId xmlns:a16="http://schemas.microsoft.com/office/drawing/2014/main" val="1628044570"/>
                    </a:ext>
                  </a:extLst>
                </a:gridCol>
              </a:tblGrid>
              <a:tr h="2371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문제점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필요성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778166"/>
                  </a:ext>
                </a:extLst>
              </a:tr>
              <a:tr h="1185577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평가 완료 후 관련자에게 수동으로 통보하는 방식은 시간 소모와 누락 가능성이 존재</a:t>
                      </a: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평가 결과를 후속 작업에 반영하는 과정이 비효율적이며 </a:t>
                      </a:r>
                      <a:r>
                        <a:rPr lang="ko-KR" altLang="en-US" sz="1000" kern="1200" spc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자동화되지</a:t>
                      </a: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않음</a:t>
                      </a: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평가 기준과 지표가 명확하지 않아 평가 속도와 정확성이 떨어짐</a:t>
                      </a:r>
                      <a:endParaRPr lang="en-US" altLang="ko-KR" sz="10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결과를 실시간으로 공유하여 신속한 의사결정을 지원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자동화된 알림 및 후속 작업 생성 기능을 통해 업무 효율성을 증대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  <a:p>
                      <a:pPr marL="171450" indent="-171450"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명확한 평가 기준과 지표를 통해 체계적인 정보 관리 체계 구축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38547"/>
                  </a:ext>
                </a:extLst>
              </a:tr>
            </a:tbl>
          </a:graphicData>
        </a:graphic>
      </p:graphicFrame>
      <p:grpSp>
        <p:nvGrpSpPr>
          <p:cNvPr id="44" name="그룹 43"/>
          <p:cNvGrpSpPr/>
          <p:nvPr/>
        </p:nvGrpSpPr>
        <p:grpSpPr>
          <a:xfrm>
            <a:off x="336651" y="6200249"/>
            <a:ext cx="1738284" cy="203133"/>
            <a:chOff x="339726" y="2214106"/>
            <a:chExt cx="1738284" cy="203133"/>
          </a:xfrm>
        </p:grpSpPr>
        <p:sp>
          <p:nvSpPr>
            <p:cNvPr id="51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1570943" cy="203133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자동화된 알림 시스템</a:t>
              </a:r>
              <a:endParaRPr lang="en-US" altLang="ko-KR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2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352022" y="7635435"/>
            <a:ext cx="875868" cy="203133"/>
            <a:chOff x="339726" y="2214106"/>
            <a:chExt cx="875868" cy="203133"/>
          </a:xfrm>
        </p:grpSpPr>
        <p:sp>
          <p:nvSpPr>
            <p:cNvPr id="54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708527" cy="203133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기대 효과</a:t>
              </a:r>
              <a:endParaRPr lang="en-US" altLang="ko-KR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5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333375" y="7816679"/>
            <a:ext cx="6194424" cy="1482714"/>
            <a:chOff x="333375" y="8045594"/>
            <a:chExt cx="6194424" cy="1482714"/>
          </a:xfrm>
        </p:grpSpPr>
        <p:grpSp>
          <p:nvGrpSpPr>
            <p:cNvPr id="57" name="그룹 56"/>
            <p:cNvGrpSpPr/>
            <p:nvPr/>
          </p:nvGrpSpPr>
          <p:grpSpPr>
            <a:xfrm>
              <a:off x="333375" y="8045594"/>
              <a:ext cx="1476000" cy="1482714"/>
              <a:chOff x="333375" y="8045594"/>
              <a:chExt cx="1476000" cy="1482714"/>
            </a:xfrm>
          </p:grpSpPr>
          <p:sp>
            <p:nvSpPr>
              <p:cNvPr id="70" name="직사각형 69"/>
              <p:cNvSpPr/>
              <p:nvPr/>
            </p:nvSpPr>
            <p:spPr bwMode="gray">
              <a:xfrm>
                <a:off x="333375" y="8045594"/>
                <a:ext cx="1476000" cy="1482714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업무 효율성 향상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2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995144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자동화된 평가와 알림 시스템으로 수작업을 최소화하여 시간과 비용 절감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후속 작업이 자동으로 생성되어 업무 흐름이 </a:t>
                </a: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원활해짐</a:t>
                </a:r>
                <a:endPara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8" name="그룹 57"/>
            <p:cNvGrpSpPr/>
            <p:nvPr/>
          </p:nvGrpSpPr>
          <p:grpSpPr>
            <a:xfrm>
              <a:off x="1906183" y="8045594"/>
              <a:ext cx="1476000" cy="1482714"/>
              <a:chOff x="333375" y="8045594"/>
              <a:chExt cx="1476000" cy="1482714"/>
            </a:xfrm>
          </p:grpSpPr>
          <p:sp>
            <p:nvSpPr>
              <p:cNvPr id="67" name="직사각형 66"/>
              <p:cNvSpPr/>
              <p:nvPr/>
            </p:nvSpPr>
            <p:spPr bwMode="gray">
              <a:xfrm>
                <a:off x="333375" y="8045594"/>
                <a:ext cx="1476000" cy="1482714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8" name="직사각형 67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신속한 정보 공유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9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85664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실시간 알림을 통해 관련자가 즉시 정보를 확인하고 대응 가능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긴급 상황에서도 빠르고 정확한 의사결정 지원</a:t>
                </a:r>
                <a:endPara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3478991" y="8045594"/>
              <a:ext cx="1476000" cy="1482714"/>
              <a:chOff x="333375" y="8045594"/>
              <a:chExt cx="1476000" cy="1482714"/>
            </a:xfrm>
          </p:grpSpPr>
          <p:sp>
            <p:nvSpPr>
              <p:cNvPr id="64" name="직사각형 63"/>
              <p:cNvSpPr/>
              <p:nvPr/>
            </p:nvSpPr>
            <p:spPr bwMode="gray">
              <a:xfrm>
                <a:off x="333375" y="8045594"/>
                <a:ext cx="1476000" cy="1482714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5" name="직사각형 64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품질 및 신뢰성 향상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6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1133644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명확한 기준과 체계적인 관리를 통해 데이터의 품질과 신뢰성을 확보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중요도가 높은 정보를 우선적으로 처리하여 조직 내 데이터 활용도 증가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0" name="그룹 59"/>
            <p:cNvGrpSpPr/>
            <p:nvPr/>
          </p:nvGrpSpPr>
          <p:grpSpPr>
            <a:xfrm>
              <a:off x="5051799" y="8045594"/>
              <a:ext cx="1476000" cy="1482714"/>
              <a:chOff x="333375" y="8045594"/>
              <a:chExt cx="1476000" cy="1482714"/>
            </a:xfrm>
          </p:grpSpPr>
          <p:sp>
            <p:nvSpPr>
              <p:cNvPr id="61" name="직사각형 60"/>
              <p:cNvSpPr/>
              <p:nvPr/>
            </p:nvSpPr>
            <p:spPr bwMode="gray">
              <a:xfrm>
                <a:off x="333375" y="8045594"/>
                <a:ext cx="1476000" cy="1482714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조직 대응력 강화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3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1133644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평가 결과를 기반으로 한 신속한 후속 작업 생성으로 대응력이 향상됨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정보 흐름이 체계적으로 관리되어 업무 중단이나 병목 현상이 감소</a:t>
                </a:r>
                <a:endPara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509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8" name="직사각형 127"/>
          <p:cNvSpPr/>
          <p:nvPr/>
        </p:nvSpPr>
        <p:spPr>
          <a:xfrm>
            <a:off x="336651" y="2684748"/>
            <a:ext cx="6184698" cy="666086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336651" y="2396715"/>
            <a:ext cx="6184698" cy="694889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404664" y="2433980"/>
            <a:ext cx="2276893" cy="203133"/>
            <a:chOff x="339726" y="2214106"/>
            <a:chExt cx="2276893" cy="203133"/>
          </a:xfrm>
        </p:grpSpPr>
        <p:sp>
          <p:nvSpPr>
            <p:cNvPr id="131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109552" cy="203133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다중 </a:t>
              </a:r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평가자 및</a:t>
              </a:r>
              <a:r>
                <a:rPr lang="en-US" altLang="ko-KR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 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실시간 평가 피드백</a:t>
              </a:r>
              <a:endParaRPr lang="en-US" altLang="ko-KR" sz="1200" b="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132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133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84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2.17. 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</a:t>
            </a:r>
            <a:r>
              <a:rPr lang="ko-KR" altLang="en-US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평가관리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구축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2.17.3.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평가자 시스템</a:t>
            </a:r>
            <a:endParaRPr lang="en-US" altLang="ko-KR" sz="1600" b="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4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다양한 전문가의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참여를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통해 자료 평가의 다각적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검토를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실현하고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실시간 피드백 기능을 도입하여 평가의 정확성 과 신속성 을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향상한다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35" name="그룹 134"/>
          <p:cNvGrpSpPr/>
          <p:nvPr/>
        </p:nvGrpSpPr>
        <p:grpSpPr>
          <a:xfrm>
            <a:off x="579793" y="3142598"/>
            <a:ext cx="970722" cy="970720"/>
            <a:chOff x="1952836" y="3584848"/>
            <a:chExt cx="970722" cy="970720"/>
          </a:xfrm>
        </p:grpSpPr>
        <p:sp>
          <p:nvSpPr>
            <p:cNvPr id="136" name="타원 135"/>
            <p:cNvSpPr/>
            <p:nvPr/>
          </p:nvSpPr>
          <p:spPr bwMode="auto">
            <a:xfrm>
              <a:off x="1952836" y="3584848"/>
              <a:ext cx="970722" cy="97072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auto" latinLnBrk="0">
                <a:spcAft>
                  <a:spcPts val="0"/>
                </a:spcAft>
              </a:pPr>
              <a:endParaRPr kumimoji="0" lang="ko-KR" altLang="en-US" sz="11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7" name="타원 136"/>
            <p:cNvSpPr/>
            <p:nvPr/>
          </p:nvSpPr>
          <p:spPr bwMode="auto">
            <a:xfrm>
              <a:off x="2066350" y="3692013"/>
              <a:ext cx="743696" cy="743694"/>
            </a:xfrm>
            <a:prstGeom prst="ellipse">
              <a:avLst/>
            </a:prstGeom>
            <a:solidFill>
              <a:srgbClr val="A5CFF5"/>
            </a:solidFill>
            <a:ln>
              <a:noFill/>
            </a:ln>
            <a:effectLst/>
          </p:spPr>
          <p:txBody>
            <a:bodyPr wrap="square"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  <a:bevelB w="0" h="0"/>
              </a:sp3d>
            </a:bodyPr>
            <a:lstStyle/>
            <a:p>
              <a:pPr algn="ctr" latinLnBrk="0">
                <a:spcBef>
                  <a:spcPts val="100"/>
                </a:spcBef>
              </a:pPr>
              <a:r>
                <a:rPr lang="ko-KR" altLang="en-US" sz="1000" dirty="0" smtClean="0">
                  <a:ln>
                    <a:solidFill>
                      <a:srgbClr val="8FCC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기술</a:t>
              </a:r>
              <a:endParaRPr lang="en-US" altLang="ko-KR" sz="1000" dirty="0" smtClean="0">
                <a:ln>
                  <a:solidFill>
                    <a:srgbClr val="8FCCF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algn="ctr" latinLnBrk="0">
                <a:spcBef>
                  <a:spcPts val="100"/>
                </a:spcBef>
              </a:pPr>
              <a:r>
                <a:rPr lang="ko-KR" altLang="en-US" sz="1000" dirty="0" smtClean="0">
                  <a:ln>
                    <a:solidFill>
                      <a:srgbClr val="8FCC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전문가</a:t>
              </a:r>
              <a:endParaRPr lang="ko-KR" altLang="ko-KR" sz="1000" dirty="0">
                <a:ln>
                  <a:solidFill>
                    <a:srgbClr val="8FCCF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572005" y="4806017"/>
            <a:ext cx="970722" cy="970720"/>
            <a:chOff x="1468411" y="4451547"/>
            <a:chExt cx="970722" cy="970720"/>
          </a:xfrm>
        </p:grpSpPr>
        <p:sp>
          <p:nvSpPr>
            <p:cNvPr id="144" name="타원 143"/>
            <p:cNvSpPr/>
            <p:nvPr/>
          </p:nvSpPr>
          <p:spPr bwMode="auto">
            <a:xfrm>
              <a:off x="1468411" y="4451547"/>
              <a:ext cx="970722" cy="97072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auto" latinLnBrk="0">
                <a:spcAft>
                  <a:spcPts val="0"/>
                </a:spcAft>
              </a:pPr>
              <a:endParaRPr kumimoji="0" lang="ko-KR" altLang="en-US" sz="11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45" name="타원 144"/>
            <p:cNvSpPr/>
            <p:nvPr/>
          </p:nvSpPr>
          <p:spPr bwMode="auto">
            <a:xfrm>
              <a:off x="1581925" y="4564498"/>
              <a:ext cx="743694" cy="744820"/>
            </a:xfrm>
            <a:prstGeom prst="ellipse">
              <a:avLst/>
            </a:prstGeom>
            <a:solidFill>
              <a:srgbClr val="A5CFF5"/>
            </a:solidFill>
            <a:ln>
              <a:noFill/>
            </a:ln>
            <a:effectLst/>
          </p:spPr>
          <p:txBody>
            <a:bodyPr wrap="square"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  <a:bevelB w="0" h="0"/>
              </a:sp3d>
            </a:bodyPr>
            <a:lstStyle/>
            <a:p>
              <a:pPr algn="ctr" latinLnBrk="0">
                <a:spcBef>
                  <a:spcPts val="100"/>
                </a:spcBef>
              </a:pPr>
              <a:r>
                <a:rPr lang="ko-KR" altLang="en-US" sz="1000" dirty="0" smtClean="0">
                  <a:ln>
                    <a:solidFill>
                      <a:srgbClr val="8FCC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법률</a:t>
              </a:r>
              <a:endParaRPr lang="en-US" altLang="ko-KR" sz="1000" dirty="0" smtClean="0">
                <a:ln>
                  <a:solidFill>
                    <a:srgbClr val="8FCCF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algn="ctr" latinLnBrk="0">
                <a:spcBef>
                  <a:spcPts val="100"/>
                </a:spcBef>
              </a:pPr>
              <a:r>
                <a:rPr lang="ko-KR" altLang="en-US" sz="1000" dirty="0" smtClean="0">
                  <a:ln>
                    <a:solidFill>
                      <a:srgbClr val="8FCC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전문가</a:t>
              </a:r>
              <a:endParaRPr lang="ko-KR" altLang="en-US" sz="1000" dirty="0">
                <a:ln>
                  <a:solidFill>
                    <a:srgbClr val="8FCCF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5302189" y="4805570"/>
            <a:ext cx="970722" cy="971614"/>
            <a:chOff x="2944415" y="5325142"/>
            <a:chExt cx="970722" cy="971614"/>
          </a:xfrm>
        </p:grpSpPr>
        <p:sp>
          <p:nvSpPr>
            <p:cNvPr id="147" name="타원 146"/>
            <p:cNvSpPr/>
            <p:nvPr/>
          </p:nvSpPr>
          <p:spPr bwMode="auto">
            <a:xfrm>
              <a:off x="2944415" y="5325142"/>
              <a:ext cx="970722" cy="97161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auto" latinLnBrk="0">
                <a:spcAft>
                  <a:spcPts val="0"/>
                </a:spcAft>
              </a:pPr>
              <a:endParaRPr kumimoji="0" lang="ko-KR" altLang="en-US" sz="11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48" name="타원 147"/>
            <p:cNvSpPr/>
            <p:nvPr/>
          </p:nvSpPr>
          <p:spPr bwMode="auto">
            <a:xfrm>
              <a:off x="3057929" y="5438540"/>
              <a:ext cx="743694" cy="744820"/>
            </a:xfrm>
            <a:prstGeom prst="ellipse">
              <a:avLst/>
            </a:prstGeom>
            <a:solidFill>
              <a:srgbClr val="D1EBFF"/>
            </a:solidFill>
            <a:ln w="22225">
              <a:solidFill>
                <a:srgbClr val="8FCC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no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>
                <a:spcBef>
                  <a:spcPts val="100"/>
                </a:spcBef>
              </a:pPr>
              <a:r>
                <a:rPr lang="ko-KR" altLang="en-US" sz="1000" dirty="0" smtClean="0">
                  <a:ln>
                    <a:solidFill>
                      <a:srgbClr val="8FCC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사용자</a:t>
              </a:r>
              <a:endParaRPr lang="ko-KR" altLang="en-US" sz="1000" dirty="0">
                <a:ln>
                  <a:solidFill>
                    <a:srgbClr val="8FCCF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579793" y="6466062"/>
            <a:ext cx="970722" cy="970720"/>
            <a:chOff x="1952836" y="5325588"/>
            <a:chExt cx="970722" cy="970720"/>
          </a:xfrm>
        </p:grpSpPr>
        <p:sp>
          <p:nvSpPr>
            <p:cNvPr id="150" name="타원 149"/>
            <p:cNvSpPr/>
            <p:nvPr/>
          </p:nvSpPr>
          <p:spPr bwMode="auto">
            <a:xfrm>
              <a:off x="1952836" y="5325588"/>
              <a:ext cx="970722" cy="97072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auto" latinLnBrk="0">
                <a:spcAft>
                  <a:spcPts val="0"/>
                </a:spcAft>
              </a:pPr>
              <a:endParaRPr kumimoji="0" lang="ko-KR" altLang="en-US" sz="11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1" name="타원 150"/>
            <p:cNvSpPr/>
            <p:nvPr/>
          </p:nvSpPr>
          <p:spPr bwMode="auto">
            <a:xfrm>
              <a:off x="2065787" y="5438540"/>
              <a:ext cx="743429" cy="744820"/>
            </a:xfrm>
            <a:prstGeom prst="ellipse">
              <a:avLst/>
            </a:prstGeom>
            <a:solidFill>
              <a:srgbClr val="A5CFF5"/>
            </a:solidFill>
            <a:ln>
              <a:noFill/>
            </a:ln>
            <a:effectLst/>
          </p:spPr>
          <p:txBody>
            <a:bodyPr wrap="square"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  <a:bevelB w="0" h="0"/>
              </a:sp3d>
            </a:bodyPr>
            <a:lstStyle/>
            <a:p>
              <a:pPr algn="ctr" latinLnBrk="0">
                <a:spcBef>
                  <a:spcPts val="100"/>
                </a:spcBef>
              </a:pPr>
              <a:r>
                <a:rPr lang="ko-KR" altLang="en-US" sz="1000" dirty="0" smtClean="0">
                  <a:ln>
                    <a:solidFill>
                      <a:srgbClr val="8FCC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최종</a:t>
              </a:r>
              <a:endParaRPr lang="en-US" altLang="ko-KR" sz="1000" dirty="0" smtClean="0">
                <a:ln>
                  <a:solidFill>
                    <a:srgbClr val="8FCCF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algn="ctr" latinLnBrk="0">
                <a:spcBef>
                  <a:spcPts val="100"/>
                </a:spcBef>
              </a:pPr>
              <a:r>
                <a:rPr lang="ko-KR" altLang="en-US" sz="1000" dirty="0" smtClean="0">
                  <a:ln>
                    <a:solidFill>
                      <a:srgbClr val="8FCC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검토자</a:t>
              </a:r>
              <a:endParaRPr lang="ko-KR" altLang="en-US" sz="1000" dirty="0">
                <a:ln>
                  <a:solidFill>
                    <a:srgbClr val="8FCCF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538269" y="4520956"/>
            <a:ext cx="1682819" cy="1620176"/>
            <a:chOff x="2502265" y="4520956"/>
            <a:chExt cx="1682819" cy="1620176"/>
          </a:xfrm>
        </p:grpSpPr>
        <p:sp>
          <p:nvSpPr>
            <p:cNvPr id="159" name="눈물 방울 75"/>
            <p:cNvSpPr/>
            <p:nvPr/>
          </p:nvSpPr>
          <p:spPr bwMode="auto">
            <a:xfrm flipH="1">
              <a:off x="2502265" y="4520956"/>
              <a:ext cx="1682819" cy="1620176"/>
            </a:xfrm>
            <a:prstGeom prst="ellipse">
              <a:avLst/>
            </a:prstGeom>
            <a:solidFill>
              <a:schemeClr val="bg1"/>
            </a:solidFill>
            <a:ln w="63500" algn="ctr">
              <a:solidFill>
                <a:srgbClr val="0185C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  <a:bevelB w="0" h="0"/>
              </a:sp3d>
            </a:bodyPr>
            <a:lstStyle/>
            <a:p>
              <a:endPara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Monotype Sorts"/>
              </a:endParaRPr>
            </a:p>
          </p:txBody>
        </p:sp>
        <p:grpSp>
          <p:nvGrpSpPr>
            <p:cNvPr id="152" name="그룹 151"/>
            <p:cNvGrpSpPr/>
            <p:nvPr/>
          </p:nvGrpSpPr>
          <p:grpSpPr>
            <a:xfrm>
              <a:off x="2971113" y="4928348"/>
              <a:ext cx="738781" cy="738000"/>
              <a:chOff x="889217" y="4615359"/>
              <a:chExt cx="1089601" cy="1077504"/>
            </a:xfrm>
          </p:grpSpPr>
          <p:sp>
            <p:nvSpPr>
              <p:cNvPr id="153" name="타원 152"/>
              <p:cNvSpPr/>
              <p:nvPr/>
            </p:nvSpPr>
            <p:spPr>
              <a:xfrm rot="16200000">
                <a:off x="901311" y="4615356"/>
                <a:ext cx="1077504" cy="1077510"/>
              </a:xfrm>
              <a:prstGeom prst="ellipse">
                <a:avLst/>
              </a:prstGeom>
              <a:solidFill>
                <a:srgbClr val="0185CF"/>
              </a:solidFill>
              <a:ln>
                <a:noFill/>
              </a:ln>
              <a:effectLst/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</a:bodyPr>
              <a:lstStyle/>
              <a:p>
                <a:pPr algn="ctr" latinLnBrk="0"/>
                <a:endParaRPr kumimoji="0" lang="ko-KR" altLang="en-US" sz="1100" dirty="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grpSp>
            <p:nvGrpSpPr>
              <p:cNvPr id="154" name="그룹 153"/>
              <p:cNvGrpSpPr/>
              <p:nvPr/>
            </p:nvGrpSpPr>
            <p:grpSpPr>
              <a:xfrm>
                <a:off x="901511" y="4706048"/>
                <a:ext cx="1077102" cy="896128"/>
                <a:chOff x="901571" y="4706047"/>
                <a:chExt cx="1077102" cy="896128"/>
              </a:xfrm>
            </p:grpSpPr>
            <p:sp>
              <p:nvSpPr>
                <p:cNvPr id="156" name="타원 155"/>
                <p:cNvSpPr/>
                <p:nvPr/>
              </p:nvSpPr>
              <p:spPr>
                <a:xfrm rot="16200000">
                  <a:off x="992058" y="4706043"/>
                  <a:ext cx="896128" cy="89613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latinLnBrk="0"/>
                  <a:endParaRPr lang="ko-KR" altLang="en-US" sz="11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0070C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157" name="타원 156"/>
                <p:cNvSpPr/>
                <p:nvPr/>
              </p:nvSpPr>
              <p:spPr>
                <a:xfrm rot="5400000">
                  <a:off x="1887945" y="5110083"/>
                  <a:ext cx="90728" cy="9072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defTabSz="914314" latinLnBrk="0"/>
                  <a:endParaRPr lang="ko-KR" altLang="en-US" sz="1100" b="1" dirty="0">
                    <a:solidFill>
                      <a:srgbClr val="0070C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158" name="타원 157"/>
                <p:cNvSpPr/>
                <p:nvPr/>
              </p:nvSpPr>
              <p:spPr>
                <a:xfrm rot="5400000">
                  <a:off x="901571" y="5110083"/>
                  <a:ext cx="90728" cy="9072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defTabSz="914314" latinLnBrk="0"/>
                  <a:endParaRPr lang="ko-KR" altLang="en-US" sz="1100" b="1" dirty="0">
                    <a:solidFill>
                      <a:srgbClr val="0070C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sp>
            <p:nvSpPr>
              <p:cNvPr id="155" name="직사각형 154"/>
              <p:cNvSpPr/>
              <p:nvPr/>
            </p:nvSpPr>
            <p:spPr>
              <a:xfrm>
                <a:off x="889217" y="4875775"/>
                <a:ext cx="1089396" cy="5392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0" lvl="1" algn="ctr" defTabSz="762000" latinLnBrk="0"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tabLst>
                    <a:tab pos="814888" algn="l"/>
                  </a:tabLst>
                  <a:defRPr/>
                </a:pPr>
                <a:r>
                  <a:rPr lang="ko-KR" altLang="en-US" sz="1200" dirty="0" smtClean="0">
                    <a:solidFill>
                      <a:srgbClr val="00206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평가</a:t>
                </a:r>
                <a:endParaRPr lang="en-US" altLang="ko-KR" sz="1200" dirty="0" smtClean="0">
                  <a:solidFill>
                    <a:srgbClr val="00206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0" lvl="1" algn="ctr" defTabSz="762000" latinLnBrk="0"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tabLst>
                    <a:tab pos="814888" algn="l"/>
                  </a:tabLst>
                  <a:defRPr/>
                </a:pPr>
                <a:r>
                  <a:rPr lang="ko-KR" altLang="en-US" sz="1200" dirty="0" smtClean="0">
                    <a:solidFill>
                      <a:srgbClr val="00206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시스템</a:t>
                </a:r>
                <a:endParaRPr lang="ko-KR" altLang="en-US" sz="1200" dirty="0">
                  <a:solidFill>
                    <a:srgbClr val="00206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</p:grpSp>
      <p:sp>
        <p:nvSpPr>
          <p:cNvPr id="160" name="왼쪽 화살표 159"/>
          <p:cNvSpPr/>
          <p:nvPr/>
        </p:nvSpPr>
        <p:spPr bwMode="gray">
          <a:xfrm flipH="1">
            <a:off x="1796572" y="4985503"/>
            <a:ext cx="660320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61" name="왼쪽 화살표 160"/>
          <p:cNvSpPr/>
          <p:nvPr/>
        </p:nvSpPr>
        <p:spPr bwMode="gray">
          <a:xfrm rot="2407936" flipH="1">
            <a:off x="1915977" y="4006487"/>
            <a:ext cx="709470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62" name="왼쪽 화살표 161"/>
          <p:cNvSpPr/>
          <p:nvPr/>
        </p:nvSpPr>
        <p:spPr bwMode="gray">
          <a:xfrm rot="18592161" flipH="1">
            <a:off x="1892513" y="6235118"/>
            <a:ext cx="796153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63" name="왼쪽 화살표 162"/>
          <p:cNvSpPr/>
          <p:nvPr/>
        </p:nvSpPr>
        <p:spPr bwMode="gray">
          <a:xfrm flipH="1">
            <a:off x="4440256" y="5032296"/>
            <a:ext cx="796153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  <p:grpSp>
        <p:nvGrpSpPr>
          <p:cNvPr id="164" name="그룹 163"/>
          <p:cNvGrpSpPr/>
          <p:nvPr/>
        </p:nvGrpSpPr>
        <p:grpSpPr>
          <a:xfrm>
            <a:off x="5302189" y="3144960"/>
            <a:ext cx="970722" cy="971614"/>
            <a:chOff x="2944415" y="5325142"/>
            <a:chExt cx="970722" cy="971614"/>
          </a:xfrm>
        </p:grpSpPr>
        <p:sp>
          <p:nvSpPr>
            <p:cNvPr id="165" name="타원 164"/>
            <p:cNvSpPr/>
            <p:nvPr/>
          </p:nvSpPr>
          <p:spPr bwMode="auto">
            <a:xfrm>
              <a:off x="2944415" y="5325142"/>
              <a:ext cx="970722" cy="97161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auto" latinLnBrk="0">
                <a:spcAft>
                  <a:spcPts val="0"/>
                </a:spcAft>
              </a:pPr>
              <a:endParaRPr kumimoji="0" lang="ko-KR" altLang="en-US" sz="11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66" name="타원 165"/>
            <p:cNvSpPr/>
            <p:nvPr/>
          </p:nvSpPr>
          <p:spPr bwMode="auto">
            <a:xfrm>
              <a:off x="3057929" y="5438540"/>
              <a:ext cx="743694" cy="744820"/>
            </a:xfrm>
            <a:prstGeom prst="ellipse">
              <a:avLst/>
            </a:prstGeom>
            <a:solidFill>
              <a:srgbClr val="D1EBFF"/>
            </a:solidFill>
            <a:ln w="22225">
              <a:solidFill>
                <a:srgbClr val="8FCC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no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>
                <a:spcBef>
                  <a:spcPts val="100"/>
                </a:spcBef>
              </a:pPr>
              <a:r>
                <a:rPr lang="ko-KR" altLang="en-US" sz="1000" dirty="0" smtClean="0">
                  <a:ln>
                    <a:solidFill>
                      <a:srgbClr val="8FCC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사용자</a:t>
              </a:r>
              <a:endParaRPr lang="ko-KR" altLang="en-US" sz="1000" dirty="0">
                <a:ln>
                  <a:solidFill>
                    <a:srgbClr val="8FCCF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67" name="왼쪽 화살표 166"/>
          <p:cNvSpPr/>
          <p:nvPr/>
        </p:nvSpPr>
        <p:spPr bwMode="gray">
          <a:xfrm rot="19854126" flipH="1">
            <a:off x="4543799" y="3876581"/>
            <a:ext cx="796153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5302189" y="6462956"/>
            <a:ext cx="970722" cy="971614"/>
            <a:chOff x="2944415" y="5325142"/>
            <a:chExt cx="970722" cy="971614"/>
          </a:xfrm>
        </p:grpSpPr>
        <p:sp>
          <p:nvSpPr>
            <p:cNvPr id="169" name="타원 168"/>
            <p:cNvSpPr/>
            <p:nvPr/>
          </p:nvSpPr>
          <p:spPr bwMode="auto">
            <a:xfrm>
              <a:off x="2944415" y="5325142"/>
              <a:ext cx="970722" cy="97161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auto" latinLnBrk="0">
                <a:spcAft>
                  <a:spcPts val="0"/>
                </a:spcAft>
              </a:pPr>
              <a:endParaRPr kumimoji="0" lang="ko-KR" altLang="en-US" sz="11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0" name="타원 169"/>
            <p:cNvSpPr/>
            <p:nvPr/>
          </p:nvSpPr>
          <p:spPr bwMode="auto">
            <a:xfrm>
              <a:off x="3057929" y="5438540"/>
              <a:ext cx="743694" cy="744820"/>
            </a:xfrm>
            <a:prstGeom prst="ellipse">
              <a:avLst/>
            </a:prstGeom>
            <a:solidFill>
              <a:srgbClr val="D1EBFF"/>
            </a:solidFill>
            <a:ln w="22225">
              <a:solidFill>
                <a:srgbClr val="8FCC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no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>
                <a:spcBef>
                  <a:spcPts val="100"/>
                </a:spcBef>
              </a:pPr>
              <a:r>
                <a:rPr lang="ko-KR" altLang="en-US" sz="1000" dirty="0" smtClean="0">
                  <a:ln>
                    <a:solidFill>
                      <a:srgbClr val="8FCC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사용자</a:t>
              </a:r>
              <a:endParaRPr lang="ko-KR" altLang="en-US" sz="1000" dirty="0">
                <a:ln>
                  <a:solidFill>
                    <a:srgbClr val="8FCCF1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71" name="왼쪽 화살표 170"/>
          <p:cNvSpPr/>
          <p:nvPr/>
        </p:nvSpPr>
        <p:spPr bwMode="gray">
          <a:xfrm rot="2090550" flipH="1">
            <a:off x="4608028" y="6133251"/>
            <a:ext cx="796153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  <p:grpSp>
        <p:nvGrpSpPr>
          <p:cNvPr id="172" name="그룹 171"/>
          <p:cNvGrpSpPr/>
          <p:nvPr/>
        </p:nvGrpSpPr>
        <p:grpSpPr>
          <a:xfrm>
            <a:off x="342752" y="8301002"/>
            <a:ext cx="6178597" cy="950790"/>
            <a:chOff x="342752" y="6682913"/>
            <a:chExt cx="6178597" cy="770400"/>
          </a:xfrm>
        </p:grpSpPr>
        <p:sp>
          <p:nvSpPr>
            <p:cNvPr id="173" name="직사각형 172"/>
            <p:cNvSpPr/>
            <p:nvPr/>
          </p:nvSpPr>
          <p:spPr>
            <a:xfrm>
              <a:off x="1264157" y="6682913"/>
              <a:ext cx="5257192" cy="7704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spc="-3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424227" y="6758966"/>
              <a:ext cx="659506" cy="2031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latinLnBrk="0">
                <a:lnSpc>
                  <a:spcPct val="110000"/>
                </a:lnSpc>
                <a:defRPr/>
              </a:pPr>
              <a:r>
                <a:rPr lang="ko-KR" altLang="en-US" sz="1200" dirty="0" smtClean="0">
                  <a:solidFill>
                    <a:prstClr val="black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</a:t>
              </a:r>
              <a:r>
                <a:rPr lang="ko-KR" altLang="en-US" sz="1200" b="0" dirty="0" smtClean="0">
                  <a:solidFill>
                    <a:prstClr val="black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효과</a:t>
              </a:r>
              <a:endParaRPr lang="ko-KR" altLang="en-US" sz="1200" b="0" dirty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175" name="그룹 174"/>
            <p:cNvGrpSpPr/>
            <p:nvPr/>
          </p:nvGrpSpPr>
          <p:grpSpPr>
            <a:xfrm>
              <a:off x="988912" y="7167852"/>
              <a:ext cx="225560" cy="208554"/>
              <a:chOff x="-1220788" y="7861300"/>
              <a:chExt cx="400050" cy="369888"/>
            </a:xfrm>
            <a:solidFill>
              <a:srgbClr val="CBCBCB"/>
            </a:solidFill>
          </p:grpSpPr>
          <p:sp>
            <p:nvSpPr>
              <p:cNvPr id="177" name="Freeform 18"/>
              <p:cNvSpPr>
                <a:spLocks noEditPoints="1"/>
              </p:cNvSpPr>
              <p:nvPr/>
            </p:nvSpPr>
            <p:spPr bwMode="auto">
              <a:xfrm>
                <a:off x="-1098551" y="7861300"/>
                <a:ext cx="231775" cy="369888"/>
              </a:xfrm>
              <a:custGeom>
                <a:avLst/>
                <a:gdLst>
                  <a:gd name="T0" fmla="*/ 52 w 60"/>
                  <a:gd name="T1" fmla="*/ 11 h 96"/>
                  <a:gd name="T2" fmla="*/ 52 w 60"/>
                  <a:gd name="T3" fmla="*/ 84 h 96"/>
                  <a:gd name="T4" fmla="*/ 8 w 60"/>
                  <a:gd name="T5" fmla="*/ 56 h 96"/>
                  <a:gd name="T6" fmla="*/ 8 w 60"/>
                  <a:gd name="T7" fmla="*/ 39 h 96"/>
                  <a:gd name="T8" fmla="*/ 52 w 60"/>
                  <a:gd name="T9" fmla="*/ 11 h 96"/>
                  <a:gd name="T10" fmla="*/ 52 w 60"/>
                  <a:gd name="T11" fmla="*/ 0 h 96"/>
                  <a:gd name="T12" fmla="*/ 0 w 60"/>
                  <a:gd name="T13" fmla="*/ 32 h 96"/>
                  <a:gd name="T14" fmla="*/ 0 w 60"/>
                  <a:gd name="T15" fmla="*/ 64 h 96"/>
                  <a:gd name="T16" fmla="*/ 52 w 60"/>
                  <a:gd name="T17" fmla="*/ 96 h 96"/>
                  <a:gd name="T18" fmla="*/ 52 w 60"/>
                  <a:gd name="T19" fmla="*/ 96 h 96"/>
                  <a:gd name="T20" fmla="*/ 60 w 60"/>
                  <a:gd name="T21" fmla="*/ 88 h 96"/>
                  <a:gd name="T22" fmla="*/ 60 w 60"/>
                  <a:gd name="T23" fmla="*/ 8 h 96"/>
                  <a:gd name="T24" fmla="*/ 52 w 60"/>
                  <a:gd name="T2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96">
                    <a:moveTo>
                      <a:pt x="52" y="11"/>
                    </a:moveTo>
                    <a:cubicBezTo>
                      <a:pt x="52" y="84"/>
                      <a:pt x="52" y="84"/>
                      <a:pt x="52" y="84"/>
                    </a:cubicBezTo>
                    <a:cubicBezTo>
                      <a:pt x="46" y="75"/>
                      <a:pt x="36" y="59"/>
                      <a:pt x="8" y="56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36" y="37"/>
                      <a:pt x="46" y="21"/>
                      <a:pt x="52" y="11"/>
                    </a:cubicBezTo>
                    <a:moveTo>
                      <a:pt x="52" y="0"/>
                    </a:moveTo>
                    <a:cubicBezTo>
                      <a:pt x="44" y="0"/>
                      <a:pt x="43" y="32"/>
                      <a:pt x="0" y="32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43" y="64"/>
                      <a:pt x="44" y="96"/>
                      <a:pt x="52" y="96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6" y="96"/>
                      <a:pt x="60" y="96"/>
                      <a:pt x="60" y="88"/>
                    </a:cubicBezTo>
                    <a:cubicBezTo>
                      <a:pt x="60" y="80"/>
                      <a:pt x="60" y="16"/>
                      <a:pt x="60" y="8"/>
                    </a:cubicBezTo>
                    <a:cubicBezTo>
                      <a:pt x="60" y="0"/>
                      <a:pt x="56" y="0"/>
                      <a:pt x="5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8" name="Freeform 19"/>
              <p:cNvSpPr>
                <a:spLocks/>
              </p:cNvSpPr>
              <p:nvPr/>
            </p:nvSpPr>
            <p:spPr bwMode="auto">
              <a:xfrm>
                <a:off x="-896938" y="7999413"/>
                <a:ext cx="76200" cy="93663"/>
              </a:xfrm>
              <a:custGeom>
                <a:avLst/>
                <a:gdLst>
                  <a:gd name="T0" fmla="*/ 8 w 20"/>
                  <a:gd name="T1" fmla="*/ 0 h 24"/>
                  <a:gd name="T2" fmla="*/ 0 w 20"/>
                  <a:gd name="T3" fmla="*/ 0 h 24"/>
                  <a:gd name="T4" fmla="*/ 0 w 20"/>
                  <a:gd name="T5" fmla="*/ 24 h 24"/>
                  <a:gd name="T6" fmla="*/ 8 w 20"/>
                  <a:gd name="T7" fmla="*/ 24 h 24"/>
                  <a:gd name="T8" fmla="*/ 20 w 20"/>
                  <a:gd name="T9" fmla="*/ 12 h 24"/>
                  <a:gd name="T10" fmla="*/ 20 w 20"/>
                  <a:gd name="T11" fmla="*/ 12 h 24"/>
                  <a:gd name="T12" fmla="*/ 8 w 20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4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4" y="24"/>
                      <a:pt x="20" y="18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5"/>
                      <a:pt x="14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9" name="Freeform 20"/>
              <p:cNvSpPr>
                <a:spLocks/>
              </p:cNvSpPr>
              <p:nvPr/>
            </p:nvSpPr>
            <p:spPr bwMode="auto">
              <a:xfrm>
                <a:off x="-1174751" y="8123238"/>
                <a:ext cx="107950" cy="107950"/>
              </a:xfrm>
              <a:custGeom>
                <a:avLst/>
                <a:gdLst>
                  <a:gd name="T0" fmla="*/ 12 w 28"/>
                  <a:gd name="T1" fmla="*/ 28 h 28"/>
                  <a:gd name="T2" fmla="*/ 7 w 28"/>
                  <a:gd name="T3" fmla="*/ 24 h 28"/>
                  <a:gd name="T4" fmla="*/ 0 w 28"/>
                  <a:gd name="T5" fmla="*/ 0 h 28"/>
                  <a:gd name="T6" fmla="*/ 19 w 28"/>
                  <a:gd name="T7" fmla="*/ 0 h 28"/>
                  <a:gd name="T8" fmla="*/ 21 w 28"/>
                  <a:gd name="T9" fmla="*/ 15 h 28"/>
                  <a:gd name="T10" fmla="*/ 20 w 28"/>
                  <a:gd name="T11" fmla="*/ 28 h 28"/>
                  <a:gd name="T12" fmla="*/ 12 w 28"/>
                  <a:gd name="T1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28">
                    <a:moveTo>
                      <a:pt x="12" y="28"/>
                    </a:moveTo>
                    <a:cubicBezTo>
                      <a:pt x="9" y="28"/>
                      <a:pt x="7" y="26"/>
                      <a:pt x="7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6" y="11"/>
                      <a:pt x="21" y="15"/>
                    </a:cubicBezTo>
                    <a:cubicBezTo>
                      <a:pt x="28" y="21"/>
                      <a:pt x="26" y="28"/>
                      <a:pt x="20" y="28"/>
                    </a:cubicBezTo>
                    <a:lnTo>
                      <a:pt x="12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0" name="Freeform 21"/>
              <p:cNvSpPr>
                <a:spLocks noEditPoints="1"/>
              </p:cNvSpPr>
              <p:nvPr/>
            </p:nvSpPr>
            <p:spPr bwMode="auto">
              <a:xfrm>
                <a:off x="-1220788" y="7985125"/>
                <a:ext cx="292100" cy="122238"/>
              </a:xfrm>
              <a:custGeom>
                <a:avLst/>
                <a:gdLst>
                  <a:gd name="T0" fmla="*/ 12 w 76"/>
                  <a:gd name="T1" fmla="*/ 0 h 32"/>
                  <a:gd name="T2" fmla="*/ 0 w 76"/>
                  <a:gd name="T3" fmla="*/ 12 h 32"/>
                  <a:gd name="T4" fmla="*/ 0 w 76"/>
                  <a:gd name="T5" fmla="*/ 20 h 32"/>
                  <a:gd name="T6" fmla="*/ 12 w 76"/>
                  <a:gd name="T7" fmla="*/ 32 h 32"/>
                  <a:gd name="T8" fmla="*/ 40 w 76"/>
                  <a:gd name="T9" fmla="*/ 32 h 32"/>
                  <a:gd name="T10" fmla="*/ 40 w 76"/>
                  <a:gd name="T11" fmla="*/ 0 h 32"/>
                  <a:gd name="T12" fmla="*/ 12 w 76"/>
                  <a:gd name="T13" fmla="*/ 0 h 32"/>
                  <a:gd name="T14" fmla="*/ 32 w 76"/>
                  <a:gd name="T15" fmla="*/ 16 h 32"/>
                  <a:gd name="T16" fmla="*/ 12 w 76"/>
                  <a:gd name="T17" fmla="*/ 16 h 32"/>
                  <a:gd name="T18" fmla="*/ 18 w 76"/>
                  <a:gd name="T19" fmla="*/ 8 h 32"/>
                  <a:gd name="T20" fmla="*/ 32 w 76"/>
                  <a:gd name="T21" fmla="*/ 8 h 32"/>
                  <a:gd name="T22" fmla="*/ 32 w 76"/>
                  <a:gd name="T23" fmla="*/ 16 h 32"/>
                  <a:gd name="T24" fmla="*/ 76 w 76"/>
                  <a:gd name="T25" fmla="*/ 12 h 32"/>
                  <a:gd name="T26" fmla="*/ 48 w 76"/>
                  <a:gd name="T27" fmla="*/ 16 h 32"/>
                  <a:gd name="T28" fmla="*/ 48 w 76"/>
                  <a:gd name="T29" fmla="*/ 12 h 32"/>
                  <a:gd name="T30" fmla="*/ 76 w 76"/>
                  <a:gd name="T31" fmla="*/ 0 h 32"/>
                  <a:gd name="T32" fmla="*/ 76 w 76"/>
                  <a:gd name="T33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6" h="32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6"/>
                      <a:pt x="5" y="32"/>
                      <a:pt x="12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12" y="0"/>
                    </a:lnTo>
                    <a:close/>
                    <a:moveTo>
                      <a:pt x="32" y="16"/>
                    </a:move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8"/>
                      <a:pt x="18" y="8"/>
                      <a:pt x="18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6"/>
                    </a:lnTo>
                    <a:close/>
                    <a:moveTo>
                      <a:pt x="76" y="12"/>
                    </a:moveTo>
                    <a:cubicBezTo>
                      <a:pt x="76" y="12"/>
                      <a:pt x="63" y="16"/>
                      <a:pt x="48" y="16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63" y="12"/>
                      <a:pt x="76" y="0"/>
                      <a:pt x="76" y="0"/>
                    </a:cubicBezTo>
                    <a:lnTo>
                      <a:pt x="76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76" name="직사각형 776"/>
            <p:cNvSpPr/>
            <p:nvPr/>
          </p:nvSpPr>
          <p:spPr>
            <a:xfrm flipH="1">
              <a:off x="342752" y="6687589"/>
              <a:ext cx="864000" cy="761048"/>
            </a:xfrm>
            <a:custGeom>
              <a:avLst/>
              <a:gdLst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0 w 1049934"/>
                <a:gd name="connsiteY4" fmla="*/ 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91440 w 1049934"/>
                <a:gd name="connsiteY4" fmla="*/ 9144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934" h="899429">
                  <a:moveTo>
                    <a:pt x="0" y="0"/>
                  </a:moveTo>
                  <a:lnTo>
                    <a:pt x="1049934" y="0"/>
                  </a:lnTo>
                  <a:lnTo>
                    <a:pt x="1049934" y="899429"/>
                  </a:lnTo>
                  <a:lnTo>
                    <a:pt x="0" y="899429"/>
                  </a:lnTo>
                </a:path>
              </a:pathLst>
            </a:custGeom>
            <a:ln w="12700">
              <a:solidFill>
                <a:schemeClr val="bg1">
                  <a:lumMod val="6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1397158" y="8337376"/>
            <a:ext cx="4986603" cy="872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 defTabSz="914400">
              <a:defRPr sz="1800"/>
            </a:lvl1pPr>
            <a:lvl2pPr marL="87313" lvl="1" indent="-87313" defTabSz="914400" latinLnBrk="0">
              <a:spcBef>
                <a:spcPts val="300"/>
              </a:spcBef>
              <a:buFontTx/>
              <a:buChar char="•"/>
              <a:defRPr sz="10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 marL="177800" lvl="2" indent="-85725" defTabSz="914400" latinLnBrk="0">
              <a:spcBef>
                <a:spcPts val="300"/>
              </a:spcBef>
              <a:buFont typeface="KoPub돋움체 Medium" panose="02020603020101020101" pitchFamily="18" charset="-127"/>
              <a:buChar char="-"/>
              <a:defRPr sz="9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신뢰성 향상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</a:t>
            </a:r>
            <a:r>
              <a:rPr lang="ko-KR" altLang="en-US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다양한 전문가의 참여로 편향된 평가 방지</a:t>
            </a:r>
            <a:r>
              <a:rPr lang="en-US" altLang="ko-KR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, </a:t>
            </a:r>
            <a:r>
              <a:rPr lang="ko-KR" altLang="en-US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다각적인 시각 확보 및 종합적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판단 가능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신속성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실시간 피드백으로 </a:t>
            </a:r>
            <a:r>
              <a:rPr lang="ko-KR" altLang="en-US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신속한 평가 진행 가능</a:t>
            </a:r>
            <a:endParaRPr lang="ko-KR" altLang="en-US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평가 품질 개선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</a:t>
            </a:r>
            <a:r>
              <a:rPr lang="ko-KR" altLang="en-US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즉각적인 피드백과 토론을 통한 평가의 질적 향상</a:t>
            </a:r>
            <a:endParaRPr lang="ko-KR" altLang="en-US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전문가 네트워크 강화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다양한 분야의 전문가들 간 교류 증진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데이터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기반 의사결정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축적된 평가 데이터를 통한 </a:t>
            </a:r>
            <a:r>
              <a:rPr lang="ko-KR" altLang="en-US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인사이트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도출 및 의사결정 지원</a:t>
            </a:r>
          </a:p>
        </p:txBody>
      </p:sp>
      <p:sp>
        <p:nvSpPr>
          <p:cNvPr id="55" name="직사각형 54"/>
          <p:cNvSpPr/>
          <p:nvPr/>
        </p:nvSpPr>
        <p:spPr bwMode="gray">
          <a:xfrm>
            <a:off x="4392959" y="3142598"/>
            <a:ext cx="509641" cy="4416883"/>
          </a:xfrm>
          <a:prstGeom prst="rect">
            <a:avLst/>
          </a:prstGeom>
          <a:solidFill>
            <a:srgbClr val="D5EDFF"/>
          </a:solidFill>
          <a:ln>
            <a:noFill/>
          </a:ln>
          <a:effectLst/>
          <a:extLst/>
        </p:spPr>
        <p:txBody>
          <a:bodyPr wrap="none" lIns="0" tIns="0" rIns="0" bIns="0" anchor="ctr">
            <a:noAutofit/>
          </a:bodyPr>
          <a:lstStyle/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실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간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평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가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endParaRPr lang="en-US" altLang="ko-KR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피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드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백</a:t>
            </a:r>
          </a:p>
        </p:txBody>
      </p:sp>
      <p:sp>
        <p:nvSpPr>
          <p:cNvPr id="56" name="직사각형 55"/>
          <p:cNvSpPr/>
          <p:nvPr/>
        </p:nvSpPr>
        <p:spPr bwMode="gray">
          <a:xfrm>
            <a:off x="1664804" y="3149816"/>
            <a:ext cx="509641" cy="4416883"/>
          </a:xfrm>
          <a:prstGeom prst="rect">
            <a:avLst/>
          </a:prstGeom>
          <a:solidFill>
            <a:srgbClr val="D5EDFF"/>
          </a:solidFill>
          <a:ln>
            <a:noFill/>
          </a:ln>
          <a:effectLst/>
          <a:extLst/>
        </p:spPr>
        <p:txBody>
          <a:bodyPr wrap="none" lIns="0" tIns="0" rIns="0" bIns="0" anchor="ctr">
            <a:noAutofit/>
          </a:bodyPr>
          <a:lstStyle/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다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중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endParaRPr lang="en-US" altLang="ko-KR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평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가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스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 fontAlgn="base" latinLnBrk="0">
              <a:buClr>
                <a:srgbClr val="969696"/>
              </a:buClr>
            </a:pPr>
            <a:r>
              <a:rPr lang="ko-KR" altLang="en-US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템</a:t>
            </a:r>
            <a:endParaRPr lang="en-US" altLang="ko-KR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662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3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2.18. </a:t>
            </a:r>
            <a:r>
              <a:rPr lang="ko-KR" altLang="en-US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활용 및 </a:t>
            </a:r>
            <a:r>
              <a:rPr lang="ko-KR" altLang="en-US" sz="1100" b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열람관리</a:t>
            </a:r>
            <a:r>
              <a:rPr lang="ko-KR" altLang="en-US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고도화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2.18.1. </a:t>
            </a:r>
            <a:r>
              <a:rPr lang="ko-KR" altLang="en-US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활용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방안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(1/2)</a:t>
            </a:r>
          </a:p>
        </p:txBody>
      </p:sp>
      <p:sp>
        <p:nvSpPr>
          <p:cNvPr id="134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효율적인 정보 관리를 통해 조직의 업무 생산성을 높이고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정보 활용도를 극대화하기 위한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방안 가이드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 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 방안은 정보의 수집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분류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검색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열람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이첩 등 전 과정을 체계적으로 관리하며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</a:p>
          <a:p>
            <a:pPr algn="l"/>
            <a:r>
              <a:rPr lang="ko-KR" altLang="en-US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조직별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권한을 강화하여 정보의 보안성과 접근성을 동시에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확보한다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342752" y="7281077"/>
            <a:ext cx="6178597" cy="2064534"/>
            <a:chOff x="342752" y="7281077"/>
            <a:chExt cx="6178597" cy="2064534"/>
          </a:xfrm>
        </p:grpSpPr>
        <p:sp>
          <p:nvSpPr>
            <p:cNvPr id="56" name="직사각형 55"/>
            <p:cNvSpPr/>
            <p:nvPr/>
          </p:nvSpPr>
          <p:spPr>
            <a:xfrm>
              <a:off x="1264157" y="7281077"/>
              <a:ext cx="5257192" cy="2064534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spc="-3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24227" y="7342155"/>
              <a:ext cx="659506" cy="2031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latinLnBrk="0">
                <a:lnSpc>
                  <a:spcPct val="110000"/>
                </a:lnSpc>
                <a:defRPr/>
              </a:pPr>
              <a:r>
                <a:rPr lang="ko-KR" altLang="en-US" sz="1200" dirty="0" smtClean="0">
                  <a:solidFill>
                    <a:prstClr val="black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개선</a:t>
              </a:r>
              <a:r>
                <a:rPr lang="ko-KR" altLang="en-US" sz="1200" b="0" dirty="0" smtClean="0">
                  <a:solidFill>
                    <a:prstClr val="black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효과</a:t>
              </a:r>
              <a:endParaRPr lang="ko-KR" altLang="en-US" sz="1200" b="0" dirty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58" name="그룹 57"/>
            <p:cNvGrpSpPr/>
            <p:nvPr/>
          </p:nvGrpSpPr>
          <p:grpSpPr>
            <a:xfrm>
              <a:off x="988912" y="9064925"/>
              <a:ext cx="225560" cy="208554"/>
              <a:chOff x="-1220788" y="11225890"/>
              <a:chExt cx="400050" cy="369887"/>
            </a:xfrm>
            <a:solidFill>
              <a:srgbClr val="CBCBCB"/>
            </a:solidFill>
          </p:grpSpPr>
          <p:sp>
            <p:nvSpPr>
              <p:cNvPr id="60" name="Freeform 18"/>
              <p:cNvSpPr>
                <a:spLocks noEditPoints="1"/>
              </p:cNvSpPr>
              <p:nvPr/>
            </p:nvSpPr>
            <p:spPr bwMode="auto">
              <a:xfrm>
                <a:off x="-1098551" y="11225890"/>
                <a:ext cx="231776" cy="369887"/>
              </a:xfrm>
              <a:custGeom>
                <a:avLst/>
                <a:gdLst>
                  <a:gd name="T0" fmla="*/ 52 w 60"/>
                  <a:gd name="T1" fmla="*/ 11 h 96"/>
                  <a:gd name="T2" fmla="*/ 52 w 60"/>
                  <a:gd name="T3" fmla="*/ 84 h 96"/>
                  <a:gd name="T4" fmla="*/ 8 w 60"/>
                  <a:gd name="T5" fmla="*/ 56 h 96"/>
                  <a:gd name="T6" fmla="*/ 8 w 60"/>
                  <a:gd name="T7" fmla="*/ 39 h 96"/>
                  <a:gd name="T8" fmla="*/ 52 w 60"/>
                  <a:gd name="T9" fmla="*/ 11 h 96"/>
                  <a:gd name="T10" fmla="*/ 52 w 60"/>
                  <a:gd name="T11" fmla="*/ 0 h 96"/>
                  <a:gd name="T12" fmla="*/ 0 w 60"/>
                  <a:gd name="T13" fmla="*/ 32 h 96"/>
                  <a:gd name="T14" fmla="*/ 0 w 60"/>
                  <a:gd name="T15" fmla="*/ 64 h 96"/>
                  <a:gd name="T16" fmla="*/ 52 w 60"/>
                  <a:gd name="T17" fmla="*/ 96 h 96"/>
                  <a:gd name="T18" fmla="*/ 52 w 60"/>
                  <a:gd name="T19" fmla="*/ 96 h 96"/>
                  <a:gd name="T20" fmla="*/ 60 w 60"/>
                  <a:gd name="T21" fmla="*/ 88 h 96"/>
                  <a:gd name="T22" fmla="*/ 60 w 60"/>
                  <a:gd name="T23" fmla="*/ 8 h 96"/>
                  <a:gd name="T24" fmla="*/ 52 w 60"/>
                  <a:gd name="T2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96">
                    <a:moveTo>
                      <a:pt x="52" y="11"/>
                    </a:moveTo>
                    <a:cubicBezTo>
                      <a:pt x="52" y="84"/>
                      <a:pt x="52" y="84"/>
                      <a:pt x="52" y="84"/>
                    </a:cubicBezTo>
                    <a:cubicBezTo>
                      <a:pt x="46" y="75"/>
                      <a:pt x="36" y="59"/>
                      <a:pt x="8" y="56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36" y="37"/>
                      <a:pt x="46" y="21"/>
                      <a:pt x="52" y="11"/>
                    </a:cubicBezTo>
                    <a:moveTo>
                      <a:pt x="52" y="0"/>
                    </a:moveTo>
                    <a:cubicBezTo>
                      <a:pt x="44" y="0"/>
                      <a:pt x="43" y="32"/>
                      <a:pt x="0" y="32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43" y="64"/>
                      <a:pt x="44" y="96"/>
                      <a:pt x="52" y="96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6" y="96"/>
                      <a:pt x="60" y="96"/>
                      <a:pt x="60" y="88"/>
                    </a:cubicBezTo>
                    <a:cubicBezTo>
                      <a:pt x="60" y="80"/>
                      <a:pt x="60" y="16"/>
                      <a:pt x="60" y="8"/>
                    </a:cubicBezTo>
                    <a:cubicBezTo>
                      <a:pt x="60" y="0"/>
                      <a:pt x="56" y="0"/>
                      <a:pt x="5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Freeform 19"/>
              <p:cNvSpPr>
                <a:spLocks/>
              </p:cNvSpPr>
              <p:nvPr/>
            </p:nvSpPr>
            <p:spPr bwMode="auto">
              <a:xfrm>
                <a:off x="-896938" y="11374404"/>
                <a:ext cx="76200" cy="93663"/>
              </a:xfrm>
              <a:custGeom>
                <a:avLst/>
                <a:gdLst>
                  <a:gd name="T0" fmla="*/ 8 w 20"/>
                  <a:gd name="T1" fmla="*/ 0 h 24"/>
                  <a:gd name="T2" fmla="*/ 0 w 20"/>
                  <a:gd name="T3" fmla="*/ 0 h 24"/>
                  <a:gd name="T4" fmla="*/ 0 w 20"/>
                  <a:gd name="T5" fmla="*/ 24 h 24"/>
                  <a:gd name="T6" fmla="*/ 8 w 20"/>
                  <a:gd name="T7" fmla="*/ 24 h 24"/>
                  <a:gd name="T8" fmla="*/ 20 w 20"/>
                  <a:gd name="T9" fmla="*/ 12 h 24"/>
                  <a:gd name="T10" fmla="*/ 20 w 20"/>
                  <a:gd name="T11" fmla="*/ 12 h 24"/>
                  <a:gd name="T12" fmla="*/ 8 w 20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4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4" y="24"/>
                      <a:pt x="20" y="18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5"/>
                      <a:pt x="14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2" name="Freeform 20"/>
              <p:cNvSpPr>
                <a:spLocks/>
              </p:cNvSpPr>
              <p:nvPr/>
            </p:nvSpPr>
            <p:spPr bwMode="auto">
              <a:xfrm>
                <a:off x="-1174751" y="11487828"/>
                <a:ext cx="107949" cy="107949"/>
              </a:xfrm>
              <a:custGeom>
                <a:avLst/>
                <a:gdLst>
                  <a:gd name="T0" fmla="*/ 12 w 28"/>
                  <a:gd name="T1" fmla="*/ 28 h 28"/>
                  <a:gd name="T2" fmla="*/ 7 w 28"/>
                  <a:gd name="T3" fmla="*/ 24 h 28"/>
                  <a:gd name="T4" fmla="*/ 0 w 28"/>
                  <a:gd name="T5" fmla="*/ 0 h 28"/>
                  <a:gd name="T6" fmla="*/ 19 w 28"/>
                  <a:gd name="T7" fmla="*/ 0 h 28"/>
                  <a:gd name="T8" fmla="*/ 21 w 28"/>
                  <a:gd name="T9" fmla="*/ 15 h 28"/>
                  <a:gd name="T10" fmla="*/ 20 w 28"/>
                  <a:gd name="T11" fmla="*/ 28 h 28"/>
                  <a:gd name="T12" fmla="*/ 12 w 28"/>
                  <a:gd name="T1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28">
                    <a:moveTo>
                      <a:pt x="12" y="28"/>
                    </a:moveTo>
                    <a:cubicBezTo>
                      <a:pt x="9" y="28"/>
                      <a:pt x="7" y="26"/>
                      <a:pt x="7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6" y="11"/>
                      <a:pt x="21" y="15"/>
                    </a:cubicBezTo>
                    <a:cubicBezTo>
                      <a:pt x="28" y="21"/>
                      <a:pt x="26" y="28"/>
                      <a:pt x="20" y="28"/>
                    </a:cubicBezTo>
                    <a:lnTo>
                      <a:pt x="12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3" name="Freeform 21"/>
              <p:cNvSpPr>
                <a:spLocks noEditPoints="1"/>
              </p:cNvSpPr>
              <p:nvPr/>
            </p:nvSpPr>
            <p:spPr bwMode="auto">
              <a:xfrm>
                <a:off x="-1220788" y="11349714"/>
                <a:ext cx="292101" cy="122237"/>
              </a:xfrm>
              <a:custGeom>
                <a:avLst/>
                <a:gdLst>
                  <a:gd name="T0" fmla="*/ 12 w 76"/>
                  <a:gd name="T1" fmla="*/ 0 h 32"/>
                  <a:gd name="T2" fmla="*/ 0 w 76"/>
                  <a:gd name="T3" fmla="*/ 12 h 32"/>
                  <a:gd name="T4" fmla="*/ 0 w 76"/>
                  <a:gd name="T5" fmla="*/ 20 h 32"/>
                  <a:gd name="T6" fmla="*/ 12 w 76"/>
                  <a:gd name="T7" fmla="*/ 32 h 32"/>
                  <a:gd name="T8" fmla="*/ 40 w 76"/>
                  <a:gd name="T9" fmla="*/ 32 h 32"/>
                  <a:gd name="T10" fmla="*/ 40 w 76"/>
                  <a:gd name="T11" fmla="*/ 0 h 32"/>
                  <a:gd name="T12" fmla="*/ 12 w 76"/>
                  <a:gd name="T13" fmla="*/ 0 h 32"/>
                  <a:gd name="T14" fmla="*/ 32 w 76"/>
                  <a:gd name="T15" fmla="*/ 16 h 32"/>
                  <a:gd name="T16" fmla="*/ 12 w 76"/>
                  <a:gd name="T17" fmla="*/ 16 h 32"/>
                  <a:gd name="T18" fmla="*/ 18 w 76"/>
                  <a:gd name="T19" fmla="*/ 8 h 32"/>
                  <a:gd name="T20" fmla="*/ 32 w 76"/>
                  <a:gd name="T21" fmla="*/ 8 h 32"/>
                  <a:gd name="T22" fmla="*/ 32 w 76"/>
                  <a:gd name="T23" fmla="*/ 16 h 32"/>
                  <a:gd name="T24" fmla="*/ 76 w 76"/>
                  <a:gd name="T25" fmla="*/ 12 h 32"/>
                  <a:gd name="T26" fmla="*/ 48 w 76"/>
                  <a:gd name="T27" fmla="*/ 16 h 32"/>
                  <a:gd name="T28" fmla="*/ 48 w 76"/>
                  <a:gd name="T29" fmla="*/ 12 h 32"/>
                  <a:gd name="T30" fmla="*/ 76 w 76"/>
                  <a:gd name="T31" fmla="*/ 0 h 32"/>
                  <a:gd name="T32" fmla="*/ 76 w 76"/>
                  <a:gd name="T33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6" h="32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6"/>
                      <a:pt x="5" y="32"/>
                      <a:pt x="12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12" y="0"/>
                    </a:lnTo>
                    <a:close/>
                    <a:moveTo>
                      <a:pt x="32" y="16"/>
                    </a:move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8"/>
                      <a:pt x="18" y="8"/>
                      <a:pt x="18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6"/>
                    </a:lnTo>
                    <a:close/>
                    <a:moveTo>
                      <a:pt x="76" y="12"/>
                    </a:moveTo>
                    <a:cubicBezTo>
                      <a:pt x="76" y="12"/>
                      <a:pt x="63" y="16"/>
                      <a:pt x="48" y="16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63" y="12"/>
                      <a:pt x="76" y="0"/>
                      <a:pt x="76" y="0"/>
                    </a:cubicBezTo>
                    <a:lnTo>
                      <a:pt x="76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59" name="직사각형 776"/>
            <p:cNvSpPr/>
            <p:nvPr/>
          </p:nvSpPr>
          <p:spPr>
            <a:xfrm flipH="1">
              <a:off x="342752" y="7281077"/>
              <a:ext cx="864000" cy="2064534"/>
            </a:xfrm>
            <a:custGeom>
              <a:avLst/>
              <a:gdLst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0 w 1049934"/>
                <a:gd name="connsiteY4" fmla="*/ 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91440 w 1049934"/>
                <a:gd name="connsiteY4" fmla="*/ 9144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934" h="899429">
                  <a:moveTo>
                    <a:pt x="0" y="0"/>
                  </a:moveTo>
                  <a:lnTo>
                    <a:pt x="1049934" y="0"/>
                  </a:lnTo>
                  <a:lnTo>
                    <a:pt x="1049934" y="899429"/>
                  </a:lnTo>
                  <a:lnTo>
                    <a:pt x="0" y="899429"/>
                  </a:lnTo>
                </a:path>
              </a:pathLst>
            </a:custGeom>
            <a:ln w="12700">
              <a:solidFill>
                <a:schemeClr val="bg1">
                  <a:lumMod val="6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336651" y="2517948"/>
            <a:ext cx="6184698" cy="6827665"/>
            <a:chOff x="336651" y="2517948"/>
            <a:chExt cx="6184698" cy="6827665"/>
          </a:xfrm>
        </p:grpSpPr>
        <p:sp>
          <p:nvSpPr>
            <p:cNvPr id="72" name="직사각형 71"/>
            <p:cNvSpPr/>
            <p:nvPr/>
          </p:nvSpPr>
          <p:spPr>
            <a:xfrm>
              <a:off x="336651" y="2770361"/>
              <a:ext cx="6184698" cy="6575251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336651" y="2517948"/>
              <a:ext cx="6184698" cy="6827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346076" y="2483723"/>
            <a:ext cx="1379211" cy="203133"/>
            <a:chOff x="339726" y="2214106"/>
            <a:chExt cx="1379211" cy="203133"/>
          </a:xfrm>
        </p:grpSpPr>
        <p:sp>
          <p:nvSpPr>
            <p:cNvPr id="78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1211870" cy="203133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견문 활용 주요 기능</a:t>
              </a:r>
              <a:endParaRPr lang="en-US" altLang="ko-KR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79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80" name="Rectangle 13"/>
          <p:cNvSpPr>
            <a:spLocks noChangeArrowheads="1"/>
          </p:cNvSpPr>
          <p:nvPr/>
        </p:nvSpPr>
        <p:spPr bwMode="gray">
          <a:xfrm>
            <a:off x="2053628" y="2974402"/>
            <a:ext cx="2750753" cy="270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600" b="0" kern="0" dirty="0" smtClean="0">
                <a:solidFill>
                  <a:srgbClr val="EB61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정보관리 시스템의 한계 극복</a:t>
            </a:r>
            <a:endParaRPr lang="en-US" altLang="ko-KR" sz="1600" b="0" dirty="0">
              <a:solidFill>
                <a:prstClr val="black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81" name="그룹 80"/>
          <p:cNvGrpSpPr/>
          <p:nvPr/>
        </p:nvGrpSpPr>
        <p:grpSpPr>
          <a:xfrm>
            <a:off x="1749940" y="2978409"/>
            <a:ext cx="3351569" cy="112027"/>
            <a:chOff x="1753215" y="2773308"/>
            <a:chExt cx="3351569" cy="112027"/>
          </a:xfrm>
        </p:grpSpPr>
        <p:grpSp>
          <p:nvGrpSpPr>
            <p:cNvPr id="82" name="그룹 81"/>
            <p:cNvGrpSpPr/>
            <p:nvPr/>
          </p:nvGrpSpPr>
          <p:grpSpPr>
            <a:xfrm>
              <a:off x="1753215" y="2773308"/>
              <a:ext cx="167172" cy="112027"/>
              <a:chOff x="2083209" y="1553008"/>
              <a:chExt cx="167172" cy="112027"/>
            </a:xfrm>
          </p:grpSpPr>
          <p:sp>
            <p:nvSpPr>
              <p:cNvPr id="86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87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3" name="그룹 82"/>
            <p:cNvGrpSpPr/>
            <p:nvPr/>
          </p:nvGrpSpPr>
          <p:grpSpPr>
            <a:xfrm rot="10800000">
              <a:off x="4937612" y="2773308"/>
              <a:ext cx="167172" cy="112027"/>
              <a:chOff x="2083209" y="1553008"/>
              <a:chExt cx="167172" cy="112027"/>
            </a:xfrm>
          </p:grpSpPr>
          <p:sp>
            <p:nvSpPr>
              <p:cNvPr id="84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88" name="그룹 87"/>
          <p:cNvGrpSpPr/>
          <p:nvPr/>
        </p:nvGrpSpPr>
        <p:grpSpPr>
          <a:xfrm>
            <a:off x="801464" y="3584715"/>
            <a:ext cx="5258247" cy="1257805"/>
            <a:chOff x="693820" y="3379614"/>
            <a:chExt cx="5258247" cy="1257805"/>
          </a:xfrm>
        </p:grpSpPr>
        <p:sp>
          <p:nvSpPr>
            <p:cNvPr id="89" name="모서리가 둥근 직사각형 88"/>
            <p:cNvSpPr/>
            <p:nvPr/>
          </p:nvSpPr>
          <p:spPr>
            <a:xfrm>
              <a:off x="693820" y="3379614"/>
              <a:ext cx="5258247" cy="1257805"/>
            </a:xfrm>
            <a:prstGeom prst="roundRect">
              <a:avLst>
                <a:gd name="adj" fmla="val 50000"/>
              </a:avLst>
            </a:prstGeom>
            <a:noFill/>
            <a:ln w="25400" cap="rnd" cmpd="sng" algn="ctr">
              <a:gradFill flip="none" rotWithShape="1">
                <a:gsLst>
                  <a:gs pos="0">
                    <a:srgbClr val="004C98"/>
                  </a:gs>
                  <a:gs pos="5000">
                    <a:schemeClr val="bg1"/>
                  </a:gs>
                  <a:gs pos="95000">
                    <a:schemeClr val="bg1"/>
                  </a:gs>
                  <a:gs pos="100000">
                    <a:srgbClr val="004C98"/>
                  </a:gs>
                </a:gsLst>
                <a:lin ang="10800000" scaled="1"/>
                <a:tileRect/>
              </a:gradFill>
              <a:prstDash val="sysDot"/>
              <a:miter lim="800000"/>
            </a:ln>
            <a:effectLst/>
          </p:spPr>
          <p:txBody>
            <a:bodyPr lIns="91432" tIns="45718" rIns="91432" bIns="45718" rtlCol="0" anchor="ctr"/>
            <a:lstStyle/>
            <a:p>
              <a:pPr algn="ctr" defTabSz="914286" latinLnBrk="0"/>
              <a:endParaRPr lang="ko-KR" altLang="en-US" sz="2000" kern="0" dirty="0">
                <a:solidFill>
                  <a:prstClr val="white"/>
                </a:solidFill>
              </a:endParaRPr>
            </a:p>
          </p:txBody>
        </p:sp>
        <p:grpSp>
          <p:nvGrpSpPr>
            <p:cNvPr id="90" name="그룹 89"/>
            <p:cNvGrpSpPr/>
            <p:nvPr/>
          </p:nvGrpSpPr>
          <p:grpSpPr>
            <a:xfrm>
              <a:off x="815830" y="3494896"/>
              <a:ext cx="5014226" cy="1027240"/>
              <a:chOff x="804941" y="3494896"/>
              <a:chExt cx="5014226" cy="1027240"/>
            </a:xfrm>
          </p:grpSpPr>
          <p:sp>
            <p:nvSpPr>
              <p:cNvPr id="91" name="타원 90"/>
              <p:cNvSpPr/>
              <p:nvPr/>
            </p:nvSpPr>
            <p:spPr bwMode="auto">
              <a:xfrm>
                <a:off x="804941" y="3494896"/>
                <a:ext cx="1027240" cy="1027240"/>
              </a:xfrm>
              <a:prstGeom prst="ellipse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1634" tIns="35817" rIns="71634" bIns="35817" anchor="ctr"/>
              <a:lstStyle/>
              <a:p>
                <a:pPr algn="ctr"/>
                <a:r>
                  <a:rPr lang="ko-KR" altLang="en-US" sz="1300" dirty="0" err="1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테그</a:t>
                </a:r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및 </a:t>
                </a:r>
                <a:endParaRPr lang="en-US" altLang="ko-KR" sz="1300" dirty="0" smtClean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메타정보</a:t>
                </a:r>
                <a:endParaRPr lang="en-US" altLang="ko-KR" sz="1300" dirty="0" smtClean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관리 </a:t>
                </a:r>
                <a:endParaRPr lang="en-US" altLang="ko-KR" sz="1300" dirty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92" name="그룹 91"/>
              <p:cNvGrpSpPr/>
              <p:nvPr/>
            </p:nvGrpSpPr>
            <p:grpSpPr>
              <a:xfrm>
                <a:off x="1905460" y="3930918"/>
                <a:ext cx="155198" cy="155198"/>
                <a:chOff x="6847831" y="3666319"/>
                <a:chExt cx="214801" cy="214801"/>
              </a:xfrm>
              <a:solidFill>
                <a:schemeClr val="tx1">
                  <a:alpha val="20000"/>
                </a:schemeClr>
              </a:solidFill>
            </p:grpSpPr>
            <p:sp>
              <p:nvSpPr>
                <p:cNvPr id="102" name="모서리가 둥근 직사각형 101"/>
                <p:cNvSpPr/>
                <p:nvPr/>
              </p:nvSpPr>
              <p:spPr bwMode="auto">
                <a:xfrm>
                  <a:off x="6925186" y="3666319"/>
                  <a:ext cx="60070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  <p:sp>
              <p:nvSpPr>
                <p:cNvPr id="103" name="모서리가 둥근 직사각형 102"/>
                <p:cNvSpPr/>
                <p:nvPr/>
              </p:nvSpPr>
              <p:spPr bwMode="auto">
                <a:xfrm rot="5400000">
                  <a:off x="6925197" y="3666329"/>
                  <a:ext cx="60069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93" name="타원 92"/>
              <p:cNvSpPr/>
              <p:nvPr/>
            </p:nvSpPr>
            <p:spPr bwMode="auto">
              <a:xfrm>
                <a:off x="2133937" y="3494896"/>
                <a:ext cx="1027240" cy="1027240"/>
              </a:xfrm>
              <a:prstGeom prst="ellipse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1634" tIns="35817" rIns="71634" bIns="35817" anchor="ctr"/>
              <a:lstStyle/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다양한</a:t>
                </a:r>
                <a:endParaRPr lang="en-US" altLang="ko-KR" sz="1300" dirty="0" smtClean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검색 및</a:t>
                </a:r>
                <a:endParaRPr lang="en-US" altLang="ko-KR" sz="1300" dirty="0" smtClean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탐색 기능</a:t>
                </a:r>
                <a:endParaRPr lang="en-US" altLang="ko-KR" sz="1300" dirty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94" name="타원 93"/>
              <p:cNvSpPr/>
              <p:nvPr/>
            </p:nvSpPr>
            <p:spPr bwMode="auto">
              <a:xfrm>
                <a:off x="3462933" y="3494896"/>
                <a:ext cx="1027240" cy="1027240"/>
              </a:xfrm>
              <a:prstGeom prst="ellipse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1634" tIns="35817" rIns="71634" bIns="35817" anchor="ctr"/>
              <a:lstStyle/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부서</a:t>
                </a:r>
                <a:endParaRPr lang="en-US" altLang="ko-KR" sz="1300" dirty="0" smtClean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협업 체계</a:t>
                </a:r>
                <a:endParaRPr lang="en-US" altLang="ko-KR" sz="1300" dirty="0" smtClean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강화</a:t>
                </a:r>
                <a:endParaRPr lang="en-US" altLang="ko-KR" sz="1300" dirty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95" name="타원 94"/>
              <p:cNvSpPr/>
              <p:nvPr/>
            </p:nvSpPr>
            <p:spPr bwMode="auto">
              <a:xfrm>
                <a:off x="4791927" y="3494896"/>
                <a:ext cx="1027240" cy="1027240"/>
              </a:xfrm>
              <a:prstGeom prst="ellipse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1634" tIns="35817" rIns="71634" bIns="35817" anchor="ctr"/>
              <a:lstStyle/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정보</a:t>
                </a:r>
                <a:endParaRPr lang="en-US" altLang="ko-KR" sz="1300" dirty="0" smtClean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접근 권한</a:t>
                </a:r>
                <a:endParaRPr lang="en-US" altLang="ko-KR" sz="1300" dirty="0" smtClean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300" dirty="0" smtClean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관리</a:t>
                </a:r>
                <a:endParaRPr lang="en-US" altLang="ko-KR" sz="1300" dirty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96" name="그룹 95"/>
              <p:cNvGrpSpPr/>
              <p:nvPr/>
            </p:nvGrpSpPr>
            <p:grpSpPr>
              <a:xfrm>
                <a:off x="3234456" y="3930918"/>
                <a:ext cx="155198" cy="155198"/>
                <a:chOff x="6847831" y="3666319"/>
                <a:chExt cx="214801" cy="214801"/>
              </a:xfrm>
              <a:solidFill>
                <a:schemeClr val="tx1">
                  <a:alpha val="20000"/>
                </a:schemeClr>
              </a:solidFill>
            </p:grpSpPr>
            <p:sp>
              <p:nvSpPr>
                <p:cNvPr id="100" name="모서리가 둥근 직사각형 99"/>
                <p:cNvSpPr/>
                <p:nvPr/>
              </p:nvSpPr>
              <p:spPr bwMode="auto">
                <a:xfrm>
                  <a:off x="6925186" y="3666319"/>
                  <a:ext cx="60070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  <p:sp>
              <p:nvSpPr>
                <p:cNvPr id="101" name="모서리가 둥근 직사각형 100"/>
                <p:cNvSpPr/>
                <p:nvPr/>
              </p:nvSpPr>
              <p:spPr bwMode="auto">
                <a:xfrm rot="5400000">
                  <a:off x="6925197" y="3666329"/>
                  <a:ext cx="60069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</p:grpSp>
          <p:grpSp>
            <p:nvGrpSpPr>
              <p:cNvPr id="97" name="그룹 96"/>
              <p:cNvGrpSpPr/>
              <p:nvPr/>
            </p:nvGrpSpPr>
            <p:grpSpPr>
              <a:xfrm>
                <a:off x="4563452" y="3930918"/>
                <a:ext cx="155198" cy="155198"/>
                <a:chOff x="6847831" y="3666319"/>
                <a:chExt cx="214801" cy="214801"/>
              </a:xfrm>
              <a:solidFill>
                <a:schemeClr val="tx1">
                  <a:alpha val="20000"/>
                </a:schemeClr>
              </a:solidFill>
            </p:grpSpPr>
            <p:sp>
              <p:nvSpPr>
                <p:cNvPr id="98" name="모서리가 둥근 직사각형 97"/>
                <p:cNvSpPr/>
                <p:nvPr/>
              </p:nvSpPr>
              <p:spPr bwMode="auto">
                <a:xfrm>
                  <a:off x="6925186" y="3666319"/>
                  <a:ext cx="60070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  <p:sp>
              <p:nvSpPr>
                <p:cNvPr id="99" name="모서리가 둥근 직사각형 98"/>
                <p:cNvSpPr/>
                <p:nvPr/>
              </p:nvSpPr>
              <p:spPr bwMode="auto">
                <a:xfrm rot="5400000">
                  <a:off x="6925197" y="3666329"/>
                  <a:ext cx="60069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</p:grpSp>
        </p:grpSp>
      </p:grpSp>
      <p:sp>
        <p:nvSpPr>
          <p:cNvPr id="104" name="TextBox 103"/>
          <p:cNvSpPr txBox="1"/>
          <p:nvPr/>
        </p:nvSpPr>
        <p:spPr>
          <a:xfrm>
            <a:off x="1437094" y="7319550"/>
            <a:ext cx="4986603" cy="1872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 defTabSz="914400">
              <a:defRPr sz="1800"/>
            </a:lvl1pPr>
            <a:lvl2pPr marL="87313" lvl="1" indent="-87313" defTabSz="914400" latinLnBrk="0">
              <a:spcBef>
                <a:spcPts val="300"/>
              </a:spcBef>
              <a:buFontTx/>
              <a:buChar char="•"/>
              <a:defRPr sz="10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 marL="177800" lvl="2" indent="-85725" defTabSz="914400" latinLnBrk="0">
              <a:spcBef>
                <a:spcPts val="300"/>
              </a:spcBef>
              <a:buFont typeface="KoPub돋움체 Medium" panose="02020603020101020101" pitchFamily="18" charset="-127"/>
              <a:buChar char="-"/>
              <a:defRPr sz="9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정보 </a:t>
            </a:r>
            <a:r>
              <a:rPr lang="ko-KR" altLang="en-US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활용성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증대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체계적인 검색 및 탐색 기능으로 업무 효율성 향상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데이터 기반 의사결정 지원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업무 협업 강화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 smtClean="0">
                <a:ln>
                  <a:noFill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 </a:t>
            </a:r>
            <a:r>
              <a:rPr lang="en-US" altLang="ko-KR" sz="900" dirty="0">
                <a:ln>
                  <a:noFill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>
                <a:ln>
                  <a:noFill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자료 등록 및 평가 과정에서 부서 간 협업 체계 개선</a:t>
            </a:r>
            <a:r>
              <a:rPr lang="en-US" altLang="ko-KR" sz="900" dirty="0">
                <a:ln>
                  <a:noFill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 smtClean="0">
                <a:ln>
                  <a:noFill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 </a:t>
            </a:r>
            <a:r>
              <a:rPr lang="en-US" altLang="ko-KR" sz="900" dirty="0">
                <a:ln>
                  <a:noFill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>
                <a:ln>
                  <a:noFill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정보 이첩 프로세스 간소화로 신속한 대응 가능</a:t>
            </a:r>
            <a:r>
              <a:rPr lang="en-US" altLang="ko-KR" sz="900" dirty="0">
                <a:ln>
                  <a:noFill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보안 및 권한 관리 최적화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조직별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권한 설정으로 정보 유출 방지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민감 정보에 대한 접근 통제 강화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치안 활동 효율화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범죄 첩보 및 공공 치안 정보를 체계적으로 관리하여 치안 대응력 향상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  <a:endParaRPr lang="ko-KR" altLang="en-US" sz="90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115" name="왼쪽 화살표 114"/>
          <p:cNvSpPr/>
          <p:nvPr/>
        </p:nvSpPr>
        <p:spPr bwMode="gray">
          <a:xfrm rot="16200000" flipH="1">
            <a:off x="3174762" y="3357880"/>
            <a:ext cx="508477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5287962" y="2234720"/>
            <a:ext cx="1230644" cy="198000"/>
            <a:chOff x="5287962" y="1441732"/>
            <a:chExt cx="1230644" cy="198000"/>
          </a:xfrm>
        </p:grpSpPr>
        <p:sp>
          <p:nvSpPr>
            <p:cNvPr id="12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26" name="직사각형 12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27" name="직사각형 126"/>
            <p:cNvSpPr/>
            <p:nvPr/>
          </p:nvSpPr>
          <p:spPr bwMode="gray">
            <a:xfrm>
              <a:off x="5996747" y="1471482"/>
              <a:ext cx="445956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900" spc="-30" dirty="0" smtClean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SFR-018</a:t>
              </a:r>
              <a:endParaRPr lang="en-US" altLang="ko-KR" sz="900" spc="-3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aphicFrame>
        <p:nvGraphicFramePr>
          <p:cNvPr id="138" name="표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982564"/>
              </p:ext>
            </p:extLst>
          </p:nvPr>
        </p:nvGraphicFramePr>
        <p:xfrm>
          <a:off x="333377" y="5097208"/>
          <a:ext cx="6191247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411">
                  <a:extLst>
                    <a:ext uri="{9D8B030D-6E8A-4147-A177-3AD203B41FA5}">
                      <a16:colId xmlns:a16="http://schemas.microsoft.com/office/drawing/2014/main" val="976765858"/>
                    </a:ext>
                  </a:extLst>
                </a:gridCol>
                <a:gridCol w="2303861">
                  <a:extLst>
                    <a:ext uri="{9D8B030D-6E8A-4147-A177-3AD203B41FA5}">
                      <a16:colId xmlns:a16="http://schemas.microsoft.com/office/drawing/2014/main" val="3336654322"/>
                    </a:ext>
                  </a:extLst>
                </a:gridCol>
                <a:gridCol w="2699975">
                  <a:extLst>
                    <a:ext uri="{9D8B030D-6E8A-4147-A177-3AD203B41FA5}">
                      <a16:colId xmlns:a16="http://schemas.microsoft.com/office/drawing/2014/main" val="162804457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분야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기능 강화 내용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기대 효과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7781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정보 상황</a:t>
                      </a:r>
                      <a:r>
                        <a:rPr lang="en-US" altLang="ko-KR" sz="11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속보</a:t>
                      </a:r>
                      <a:r>
                        <a:rPr lang="en-US" altLang="ko-KR" sz="11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실시간 태그 분류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긴급도 표시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AEAEA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신속한 상황 전파 및 대응 시간 단축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38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정책자료 관리</a:t>
                      </a:r>
                      <a:endParaRPr lang="en-US" altLang="ko-KR" sz="11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정책 유형별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메타 데이터 체계화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AEAEA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정책 연관성 분석 및 의사결정 지원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3934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범죄첩보</a:t>
                      </a:r>
                      <a:endParaRPr lang="en-US" altLang="ko-KR" sz="11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암호화 저장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제한된 부서 접근 권한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AEAEA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기밀 유출 방지 및 수사 효율성 증대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3924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공공치안정보</a:t>
                      </a:r>
                      <a:endParaRPr lang="en-US" altLang="ko-KR" sz="11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지역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, 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유형별 검색 </a:t>
                      </a:r>
                      <a:r>
                        <a:rPr lang="ko-KR" altLang="en-US" sz="1000" spc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필터링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AEAEA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치안 리스크 예측 및 자원 최적화</a:t>
                      </a:r>
                      <a:endParaRPr lang="en-US" altLang="ko-KR" sz="1000" spc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001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73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3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2.18. </a:t>
            </a:r>
            <a:r>
              <a:rPr lang="ko-KR" altLang="en-US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활용 및 </a:t>
            </a:r>
            <a:r>
              <a:rPr lang="ko-KR" altLang="en-US" sz="1100" b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열람관리</a:t>
            </a:r>
            <a:r>
              <a:rPr lang="ko-KR" altLang="en-US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고도화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2.18.1. </a:t>
            </a:r>
            <a:r>
              <a:rPr lang="ko-KR" altLang="en-US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활용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방안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(2/2)</a:t>
            </a:r>
          </a:p>
        </p:txBody>
      </p:sp>
      <p:sp>
        <p:nvSpPr>
          <p:cNvPr id="134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81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효율적인 정보 제공과 사용자 중심의 서비스 강화를 위해 검색 기능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대시보드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추천 시스템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피드백 시스템 등 다양한 기술을 통합한 정보 관리 시스템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고도화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 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이를 통해 사용자는 필요한 정보를 신속하고 정확하게 얻을 수 있으며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시스템은 지속적으로 개선되어 최적의 사용자 경험을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제공한다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342752" y="7281077"/>
            <a:ext cx="6178597" cy="2064534"/>
            <a:chOff x="342752" y="7281077"/>
            <a:chExt cx="6178597" cy="2064534"/>
          </a:xfrm>
        </p:grpSpPr>
        <p:sp>
          <p:nvSpPr>
            <p:cNvPr id="56" name="직사각형 55"/>
            <p:cNvSpPr/>
            <p:nvPr/>
          </p:nvSpPr>
          <p:spPr>
            <a:xfrm>
              <a:off x="1264157" y="7281077"/>
              <a:ext cx="5257192" cy="2064534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spc="-3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24227" y="7342155"/>
              <a:ext cx="659506" cy="2031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latinLnBrk="0">
                <a:lnSpc>
                  <a:spcPct val="110000"/>
                </a:lnSpc>
                <a:defRPr/>
              </a:pPr>
              <a:r>
                <a:rPr lang="ko-KR" altLang="en-US" sz="1200" dirty="0" smtClean="0">
                  <a:solidFill>
                    <a:prstClr val="black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</a:t>
              </a:r>
              <a:r>
                <a:rPr lang="ko-KR" altLang="en-US" sz="1200" b="0" dirty="0" smtClean="0">
                  <a:solidFill>
                    <a:prstClr val="black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효과</a:t>
              </a:r>
              <a:endParaRPr lang="ko-KR" altLang="en-US" sz="1200" b="0" dirty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58" name="그룹 57"/>
            <p:cNvGrpSpPr/>
            <p:nvPr/>
          </p:nvGrpSpPr>
          <p:grpSpPr>
            <a:xfrm>
              <a:off x="988912" y="9064925"/>
              <a:ext cx="225560" cy="208554"/>
              <a:chOff x="-1220788" y="11225890"/>
              <a:chExt cx="400050" cy="369887"/>
            </a:xfrm>
            <a:solidFill>
              <a:srgbClr val="CBCBCB"/>
            </a:solidFill>
          </p:grpSpPr>
          <p:sp>
            <p:nvSpPr>
              <p:cNvPr id="60" name="Freeform 18"/>
              <p:cNvSpPr>
                <a:spLocks noEditPoints="1"/>
              </p:cNvSpPr>
              <p:nvPr/>
            </p:nvSpPr>
            <p:spPr bwMode="auto">
              <a:xfrm>
                <a:off x="-1098551" y="11225890"/>
                <a:ext cx="231776" cy="369887"/>
              </a:xfrm>
              <a:custGeom>
                <a:avLst/>
                <a:gdLst>
                  <a:gd name="T0" fmla="*/ 52 w 60"/>
                  <a:gd name="T1" fmla="*/ 11 h 96"/>
                  <a:gd name="T2" fmla="*/ 52 w 60"/>
                  <a:gd name="T3" fmla="*/ 84 h 96"/>
                  <a:gd name="T4" fmla="*/ 8 w 60"/>
                  <a:gd name="T5" fmla="*/ 56 h 96"/>
                  <a:gd name="T6" fmla="*/ 8 w 60"/>
                  <a:gd name="T7" fmla="*/ 39 h 96"/>
                  <a:gd name="T8" fmla="*/ 52 w 60"/>
                  <a:gd name="T9" fmla="*/ 11 h 96"/>
                  <a:gd name="T10" fmla="*/ 52 w 60"/>
                  <a:gd name="T11" fmla="*/ 0 h 96"/>
                  <a:gd name="T12" fmla="*/ 0 w 60"/>
                  <a:gd name="T13" fmla="*/ 32 h 96"/>
                  <a:gd name="T14" fmla="*/ 0 w 60"/>
                  <a:gd name="T15" fmla="*/ 64 h 96"/>
                  <a:gd name="T16" fmla="*/ 52 w 60"/>
                  <a:gd name="T17" fmla="*/ 96 h 96"/>
                  <a:gd name="T18" fmla="*/ 52 w 60"/>
                  <a:gd name="T19" fmla="*/ 96 h 96"/>
                  <a:gd name="T20" fmla="*/ 60 w 60"/>
                  <a:gd name="T21" fmla="*/ 88 h 96"/>
                  <a:gd name="T22" fmla="*/ 60 w 60"/>
                  <a:gd name="T23" fmla="*/ 8 h 96"/>
                  <a:gd name="T24" fmla="*/ 52 w 60"/>
                  <a:gd name="T2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96">
                    <a:moveTo>
                      <a:pt x="52" y="11"/>
                    </a:moveTo>
                    <a:cubicBezTo>
                      <a:pt x="52" y="84"/>
                      <a:pt x="52" y="84"/>
                      <a:pt x="52" y="84"/>
                    </a:cubicBezTo>
                    <a:cubicBezTo>
                      <a:pt x="46" y="75"/>
                      <a:pt x="36" y="59"/>
                      <a:pt x="8" y="56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36" y="37"/>
                      <a:pt x="46" y="21"/>
                      <a:pt x="52" y="11"/>
                    </a:cubicBezTo>
                    <a:moveTo>
                      <a:pt x="52" y="0"/>
                    </a:moveTo>
                    <a:cubicBezTo>
                      <a:pt x="44" y="0"/>
                      <a:pt x="43" y="32"/>
                      <a:pt x="0" y="32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43" y="64"/>
                      <a:pt x="44" y="96"/>
                      <a:pt x="52" y="96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6" y="96"/>
                      <a:pt x="60" y="96"/>
                      <a:pt x="60" y="88"/>
                    </a:cubicBezTo>
                    <a:cubicBezTo>
                      <a:pt x="60" y="80"/>
                      <a:pt x="60" y="16"/>
                      <a:pt x="60" y="8"/>
                    </a:cubicBezTo>
                    <a:cubicBezTo>
                      <a:pt x="60" y="0"/>
                      <a:pt x="56" y="0"/>
                      <a:pt x="5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Freeform 19"/>
              <p:cNvSpPr>
                <a:spLocks/>
              </p:cNvSpPr>
              <p:nvPr/>
            </p:nvSpPr>
            <p:spPr bwMode="auto">
              <a:xfrm>
                <a:off x="-896938" y="11374404"/>
                <a:ext cx="76200" cy="93663"/>
              </a:xfrm>
              <a:custGeom>
                <a:avLst/>
                <a:gdLst>
                  <a:gd name="T0" fmla="*/ 8 w 20"/>
                  <a:gd name="T1" fmla="*/ 0 h 24"/>
                  <a:gd name="T2" fmla="*/ 0 w 20"/>
                  <a:gd name="T3" fmla="*/ 0 h 24"/>
                  <a:gd name="T4" fmla="*/ 0 w 20"/>
                  <a:gd name="T5" fmla="*/ 24 h 24"/>
                  <a:gd name="T6" fmla="*/ 8 w 20"/>
                  <a:gd name="T7" fmla="*/ 24 h 24"/>
                  <a:gd name="T8" fmla="*/ 20 w 20"/>
                  <a:gd name="T9" fmla="*/ 12 h 24"/>
                  <a:gd name="T10" fmla="*/ 20 w 20"/>
                  <a:gd name="T11" fmla="*/ 12 h 24"/>
                  <a:gd name="T12" fmla="*/ 8 w 20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4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4" y="24"/>
                      <a:pt x="20" y="18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5"/>
                      <a:pt x="14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2" name="Freeform 20"/>
              <p:cNvSpPr>
                <a:spLocks/>
              </p:cNvSpPr>
              <p:nvPr/>
            </p:nvSpPr>
            <p:spPr bwMode="auto">
              <a:xfrm>
                <a:off x="-1174751" y="11487828"/>
                <a:ext cx="107949" cy="107949"/>
              </a:xfrm>
              <a:custGeom>
                <a:avLst/>
                <a:gdLst>
                  <a:gd name="T0" fmla="*/ 12 w 28"/>
                  <a:gd name="T1" fmla="*/ 28 h 28"/>
                  <a:gd name="T2" fmla="*/ 7 w 28"/>
                  <a:gd name="T3" fmla="*/ 24 h 28"/>
                  <a:gd name="T4" fmla="*/ 0 w 28"/>
                  <a:gd name="T5" fmla="*/ 0 h 28"/>
                  <a:gd name="T6" fmla="*/ 19 w 28"/>
                  <a:gd name="T7" fmla="*/ 0 h 28"/>
                  <a:gd name="T8" fmla="*/ 21 w 28"/>
                  <a:gd name="T9" fmla="*/ 15 h 28"/>
                  <a:gd name="T10" fmla="*/ 20 w 28"/>
                  <a:gd name="T11" fmla="*/ 28 h 28"/>
                  <a:gd name="T12" fmla="*/ 12 w 28"/>
                  <a:gd name="T1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28">
                    <a:moveTo>
                      <a:pt x="12" y="28"/>
                    </a:moveTo>
                    <a:cubicBezTo>
                      <a:pt x="9" y="28"/>
                      <a:pt x="7" y="26"/>
                      <a:pt x="7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6" y="11"/>
                      <a:pt x="21" y="15"/>
                    </a:cubicBezTo>
                    <a:cubicBezTo>
                      <a:pt x="28" y="21"/>
                      <a:pt x="26" y="28"/>
                      <a:pt x="20" y="28"/>
                    </a:cubicBezTo>
                    <a:lnTo>
                      <a:pt x="12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3" name="Freeform 21"/>
              <p:cNvSpPr>
                <a:spLocks noEditPoints="1"/>
              </p:cNvSpPr>
              <p:nvPr/>
            </p:nvSpPr>
            <p:spPr bwMode="auto">
              <a:xfrm>
                <a:off x="-1220788" y="11349714"/>
                <a:ext cx="292101" cy="122237"/>
              </a:xfrm>
              <a:custGeom>
                <a:avLst/>
                <a:gdLst>
                  <a:gd name="T0" fmla="*/ 12 w 76"/>
                  <a:gd name="T1" fmla="*/ 0 h 32"/>
                  <a:gd name="T2" fmla="*/ 0 w 76"/>
                  <a:gd name="T3" fmla="*/ 12 h 32"/>
                  <a:gd name="T4" fmla="*/ 0 w 76"/>
                  <a:gd name="T5" fmla="*/ 20 h 32"/>
                  <a:gd name="T6" fmla="*/ 12 w 76"/>
                  <a:gd name="T7" fmla="*/ 32 h 32"/>
                  <a:gd name="T8" fmla="*/ 40 w 76"/>
                  <a:gd name="T9" fmla="*/ 32 h 32"/>
                  <a:gd name="T10" fmla="*/ 40 w 76"/>
                  <a:gd name="T11" fmla="*/ 0 h 32"/>
                  <a:gd name="T12" fmla="*/ 12 w 76"/>
                  <a:gd name="T13" fmla="*/ 0 h 32"/>
                  <a:gd name="T14" fmla="*/ 32 w 76"/>
                  <a:gd name="T15" fmla="*/ 16 h 32"/>
                  <a:gd name="T16" fmla="*/ 12 w 76"/>
                  <a:gd name="T17" fmla="*/ 16 h 32"/>
                  <a:gd name="T18" fmla="*/ 18 w 76"/>
                  <a:gd name="T19" fmla="*/ 8 h 32"/>
                  <a:gd name="T20" fmla="*/ 32 w 76"/>
                  <a:gd name="T21" fmla="*/ 8 h 32"/>
                  <a:gd name="T22" fmla="*/ 32 w 76"/>
                  <a:gd name="T23" fmla="*/ 16 h 32"/>
                  <a:gd name="T24" fmla="*/ 76 w 76"/>
                  <a:gd name="T25" fmla="*/ 12 h 32"/>
                  <a:gd name="T26" fmla="*/ 48 w 76"/>
                  <a:gd name="T27" fmla="*/ 16 h 32"/>
                  <a:gd name="T28" fmla="*/ 48 w 76"/>
                  <a:gd name="T29" fmla="*/ 12 h 32"/>
                  <a:gd name="T30" fmla="*/ 76 w 76"/>
                  <a:gd name="T31" fmla="*/ 0 h 32"/>
                  <a:gd name="T32" fmla="*/ 76 w 76"/>
                  <a:gd name="T33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6" h="32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6"/>
                      <a:pt x="5" y="32"/>
                      <a:pt x="12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12" y="0"/>
                    </a:lnTo>
                    <a:close/>
                    <a:moveTo>
                      <a:pt x="32" y="16"/>
                    </a:move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8"/>
                      <a:pt x="18" y="8"/>
                      <a:pt x="18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6"/>
                    </a:lnTo>
                    <a:close/>
                    <a:moveTo>
                      <a:pt x="76" y="12"/>
                    </a:moveTo>
                    <a:cubicBezTo>
                      <a:pt x="76" y="12"/>
                      <a:pt x="63" y="16"/>
                      <a:pt x="48" y="16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63" y="12"/>
                      <a:pt x="76" y="0"/>
                      <a:pt x="76" y="0"/>
                    </a:cubicBezTo>
                    <a:lnTo>
                      <a:pt x="76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59" name="직사각형 776"/>
            <p:cNvSpPr/>
            <p:nvPr/>
          </p:nvSpPr>
          <p:spPr>
            <a:xfrm flipH="1">
              <a:off x="342752" y="7281077"/>
              <a:ext cx="864000" cy="2064534"/>
            </a:xfrm>
            <a:custGeom>
              <a:avLst/>
              <a:gdLst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0 w 1049934"/>
                <a:gd name="connsiteY4" fmla="*/ 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91440 w 1049934"/>
                <a:gd name="connsiteY4" fmla="*/ 9144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934" h="899429">
                  <a:moveTo>
                    <a:pt x="0" y="0"/>
                  </a:moveTo>
                  <a:lnTo>
                    <a:pt x="1049934" y="0"/>
                  </a:lnTo>
                  <a:lnTo>
                    <a:pt x="1049934" y="899429"/>
                  </a:lnTo>
                  <a:lnTo>
                    <a:pt x="0" y="899429"/>
                  </a:lnTo>
                </a:path>
              </a:pathLst>
            </a:custGeom>
            <a:ln w="12700">
              <a:solidFill>
                <a:schemeClr val="bg1">
                  <a:lumMod val="6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336651" y="2517948"/>
            <a:ext cx="6184698" cy="6827665"/>
            <a:chOff x="336651" y="2517948"/>
            <a:chExt cx="6184698" cy="6827665"/>
          </a:xfrm>
        </p:grpSpPr>
        <p:sp>
          <p:nvSpPr>
            <p:cNvPr id="72" name="직사각형 71"/>
            <p:cNvSpPr/>
            <p:nvPr/>
          </p:nvSpPr>
          <p:spPr>
            <a:xfrm>
              <a:off x="336651" y="2770361"/>
              <a:ext cx="6184698" cy="6575251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336651" y="2517948"/>
              <a:ext cx="6184698" cy="6827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346076" y="2483723"/>
            <a:ext cx="1513863" cy="203133"/>
            <a:chOff x="339726" y="2214106"/>
            <a:chExt cx="1513863" cy="203133"/>
          </a:xfrm>
        </p:grpSpPr>
        <p:sp>
          <p:nvSpPr>
            <p:cNvPr id="78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1346522" cy="203133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견문 </a:t>
              </a:r>
              <a:r>
                <a:rPr lang="ko-KR" altLang="en-US" sz="1200" spc="0" dirty="0" err="1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활용성</a:t>
              </a:r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 강화 방안</a:t>
              </a:r>
              <a:endParaRPr lang="en-US" altLang="ko-KR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79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1437094" y="7309033"/>
            <a:ext cx="4986603" cy="2036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 defTabSz="914400">
              <a:defRPr sz="1800"/>
            </a:lvl1pPr>
            <a:lvl2pPr marL="87313" lvl="1" indent="-87313" defTabSz="914400" latinLnBrk="0">
              <a:spcBef>
                <a:spcPts val="300"/>
              </a:spcBef>
              <a:buFontTx/>
              <a:buChar char="•"/>
              <a:defRPr sz="10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 marL="177800" lvl="2" indent="-85725" defTabSz="914400" latinLnBrk="0">
              <a:spcBef>
                <a:spcPts val="300"/>
              </a:spcBef>
              <a:buFont typeface="KoPub돋움체 Medium" panose="02020603020101020101" pitchFamily="18" charset="-127"/>
              <a:buChar char="-"/>
              <a:defRPr sz="9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정보 접근성 향상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AI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기반 검색과 추천 시스템으로 필요한 정보를 신속히 제공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시각적 대시보드를 통해 데이터 활용도를 극대화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사용자 중심의 서비스 강화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개인화된 추천과 피드백 반영으로 사용자 만족도 증가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직관적이고 간편한 인터페이스로 업무 효율성 향상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지속 가능한 시스템 개선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사용자 피드백을 기반으로 자료 품질과 시스템 성능을 지속적으로 보완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최신 기술 도입으로 변화하는 요구사항에 유연하게 대응 가능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업무 생산성 증대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필요한 정보를 빠르게 찾고 활용할 수 있어 업무 처리 속도 향상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</a:p>
          <a:p>
            <a:pPr marL="0" lvl="1" indent="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None/>
            </a:pP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- </a:t>
            </a:r>
            <a:r>
              <a:rPr lang="ko-KR" altLang="en-US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조직 내 협업 및 의사결정 과정에서 데이터 기반 지원 강화</a:t>
            </a:r>
            <a:r>
              <a:rPr lang="en-US" altLang="ko-KR" sz="9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.</a:t>
            </a:r>
            <a:endParaRPr lang="ko-KR" altLang="en-US" sz="90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5287962" y="2234720"/>
            <a:ext cx="1230644" cy="198000"/>
            <a:chOff x="5287962" y="1441732"/>
            <a:chExt cx="1230644" cy="198000"/>
          </a:xfrm>
        </p:grpSpPr>
        <p:sp>
          <p:nvSpPr>
            <p:cNvPr id="12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26" name="직사각형 12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27" name="직사각형 126"/>
            <p:cNvSpPr/>
            <p:nvPr/>
          </p:nvSpPr>
          <p:spPr bwMode="gray">
            <a:xfrm>
              <a:off x="5996747" y="1471482"/>
              <a:ext cx="445956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900" spc="-30" dirty="0" smtClean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SFR-018</a:t>
              </a:r>
              <a:endParaRPr lang="en-US" altLang="ko-KR" sz="900" spc="-3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333375" y="3152900"/>
            <a:ext cx="6194424" cy="1467324"/>
            <a:chOff x="333375" y="2509665"/>
            <a:chExt cx="6194424" cy="1467324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3428738" y="2509665"/>
              <a:ext cx="0" cy="900000"/>
            </a:xfrm>
            <a:prstGeom prst="line">
              <a:avLst/>
            </a:prstGeom>
            <a:ln w="1587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그룹 63"/>
            <p:cNvGrpSpPr/>
            <p:nvPr/>
          </p:nvGrpSpPr>
          <p:grpSpPr>
            <a:xfrm>
              <a:off x="333375" y="2509665"/>
              <a:ext cx="3024188" cy="1467324"/>
              <a:chOff x="333375" y="2509665"/>
              <a:chExt cx="3023714" cy="1467324"/>
            </a:xfrm>
          </p:grpSpPr>
          <p:sp>
            <p:nvSpPr>
              <p:cNvPr id="68" name="직사각형 67"/>
              <p:cNvSpPr/>
              <p:nvPr/>
            </p:nvSpPr>
            <p:spPr bwMode="gray">
              <a:xfrm>
                <a:off x="333375" y="2509665"/>
                <a:ext cx="3023714" cy="288000"/>
              </a:xfrm>
              <a:prstGeom prst="rect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ko-KR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AI </a:t>
                </a:r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기반 검색 고도화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9" name="Rectangle 25"/>
              <p:cNvSpPr>
                <a:spLocks noChangeArrowheads="1"/>
              </p:cNvSpPr>
              <p:nvPr/>
            </p:nvSpPr>
            <p:spPr bwMode="auto">
              <a:xfrm flipH="1">
                <a:off x="415924" y="2858734"/>
                <a:ext cx="2911115" cy="111825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질문 답변 시스템 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</a:pP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 -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자연어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처리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(NLP)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를 활용해 사용자의 질문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(Intent)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을 분석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정확한 정보를 즉시 제공 </a:t>
                </a:r>
                <a:endPara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</a:pP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데이터 가공 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</a:pP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 -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원시 자료를 보고서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,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차트 등 의사결정 지원 형식 으로 변환하여 제공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3503611" y="2509665"/>
              <a:ext cx="3024188" cy="1349343"/>
              <a:chOff x="333375" y="2509665"/>
              <a:chExt cx="3023714" cy="1349343"/>
            </a:xfrm>
          </p:grpSpPr>
          <p:sp>
            <p:nvSpPr>
              <p:cNvPr id="66" name="직사각형 65"/>
              <p:cNvSpPr/>
              <p:nvPr/>
            </p:nvSpPr>
            <p:spPr bwMode="gray">
              <a:xfrm>
                <a:off x="333375" y="2509665"/>
                <a:ext cx="3023714" cy="288000"/>
              </a:xfrm>
              <a:prstGeom prst="rect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ko-KR" altLang="en-US" sz="1200" dirty="0" err="1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상호작용형</a:t>
                </a:r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대시보드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7" name="Rectangle 25"/>
              <p:cNvSpPr>
                <a:spLocks noChangeArrowheads="1"/>
              </p:cNvSpPr>
              <p:nvPr/>
            </p:nvSpPr>
            <p:spPr bwMode="auto">
              <a:xfrm flipH="1">
                <a:off x="415924" y="2858734"/>
                <a:ext cx="2911115" cy="1000274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시각적 탐색 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</a:pP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-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사용자 맞춤 필터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(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기간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지역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유형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)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적용 및 실시간 데이터 시각화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(</a:t>
                </a: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히트맵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트렌드 그래프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).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인터랙티브</a:t>
                </a: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리포트 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</a:pP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-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대시보드 내에서 직접 데이터 분석 및 공유 기능 지원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70" name="그룹 69"/>
          <p:cNvGrpSpPr/>
          <p:nvPr/>
        </p:nvGrpSpPr>
        <p:grpSpPr>
          <a:xfrm>
            <a:off x="333375" y="5321590"/>
            <a:ext cx="6194424" cy="1359602"/>
            <a:chOff x="333375" y="2509665"/>
            <a:chExt cx="6194424" cy="1359602"/>
          </a:xfrm>
        </p:grpSpPr>
        <p:cxnSp>
          <p:nvCxnSpPr>
            <p:cNvPr id="74" name="직선 연결선 73"/>
            <p:cNvCxnSpPr/>
            <p:nvPr/>
          </p:nvCxnSpPr>
          <p:spPr>
            <a:xfrm>
              <a:off x="3428738" y="2509665"/>
              <a:ext cx="0" cy="900000"/>
            </a:xfrm>
            <a:prstGeom prst="line">
              <a:avLst/>
            </a:prstGeom>
            <a:ln w="1587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그룹 74"/>
            <p:cNvGrpSpPr/>
            <p:nvPr/>
          </p:nvGrpSpPr>
          <p:grpSpPr>
            <a:xfrm>
              <a:off x="333375" y="2509665"/>
              <a:ext cx="3024188" cy="1359602"/>
              <a:chOff x="333375" y="2509665"/>
              <a:chExt cx="3023714" cy="1359602"/>
            </a:xfrm>
          </p:grpSpPr>
          <p:sp>
            <p:nvSpPr>
              <p:cNvPr id="107" name="직사각형 106"/>
              <p:cNvSpPr/>
              <p:nvPr/>
            </p:nvSpPr>
            <p:spPr bwMode="gray">
              <a:xfrm>
                <a:off x="333375" y="2509665"/>
                <a:ext cx="3023714" cy="288000"/>
              </a:xfrm>
              <a:prstGeom prst="rect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개인화 추천 시스템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08" name="Rectangle 25"/>
              <p:cNvSpPr>
                <a:spLocks noChangeArrowheads="1"/>
              </p:cNvSpPr>
              <p:nvPr/>
            </p:nvSpPr>
            <p:spPr bwMode="auto">
              <a:xfrm flipH="1">
                <a:off x="415924" y="2858734"/>
                <a:ext cx="2911115" cy="101053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행동 기반 추천 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</a:pP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-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검색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이력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열람 시간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,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평가 기록을 분석해 유사 분야 자료 자동 제안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관심사 </a:t>
                </a:r>
                <a:r>
                  <a:rPr lang="ko-KR" altLang="en-US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태깅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</a:pP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 -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사용자가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지정한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주제에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대한 신규 자료 알림 서비스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6" name="그룹 75"/>
            <p:cNvGrpSpPr/>
            <p:nvPr/>
          </p:nvGrpSpPr>
          <p:grpSpPr>
            <a:xfrm>
              <a:off x="3503611" y="2509665"/>
              <a:ext cx="3024188" cy="1359602"/>
              <a:chOff x="333375" y="2509665"/>
              <a:chExt cx="3023714" cy="1359602"/>
            </a:xfrm>
          </p:grpSpPr>
          <p:sp>
            <p:nvSpPr>
              <p:cNvPr id="105" name="직사각형 104"/>
              <p:cNvSpPr/>
              <p:nvPr/>
            </p:nvSpPr>
            <p:spPr bwMode="gray">
              <a:xfrm>
                <a:off x="333375" y="2509665"/>
                <a:ext cx="3023714" cy="288000"/>
              </a:xfrm>
              <a:prstGeom prst="rect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사용자 피드백 시스템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06" name="Rectangle 25"/>
              <p:cNvSpPr>
                <a:spLocks noChangeArrowheads="1"/>
              </p:cNvSpPr>
              <p:nvPr/>
            </p:nvSpPr>
            <p:spPr bwMode="auto">
              <a:xfrm flipH="1">
                <a:off x="415924" y="2858734"/>
                <a:ext cx="2911115" cy="101053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실시간 평가 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</a:pP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 - </a:t>
                </a:r>
                <a:r>
                  <a:rPr lang="ko-KR" altLang="en-US" sz="9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자료별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별점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·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댓글 기능으로 품질 평가 및 개선 요청 수집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데이터 품질 관리 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</a:pP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 - </a:t>
                </a:r>
                <a:r>
                  <a:rPr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피드백을 반영한 자료 업데이트 우선순위 설정 및 오류 수정 프로세스 구축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1266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3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2.19. 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모바일 견문관리시스템 구축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2.19.1</a:t>
            </a:r>
            <a:r>
              <a:rPr lang="en-US" altLang="ko-KR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모바일 견문관리시스템</a:t>
            </a:r>
            <a:endParaRPr lang="en-US" altLang="ko-KR" sz="1600" b="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4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기존 견문 관리 시스템의 한계를 극복하고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현장 중심의 신속하고 효율적인 업무 환경을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구축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모바일 환경을 통해 시간과 장소에 제약 없이 견문 자료를 등록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열람하고 실시간 정보 공유 및 의사결정 지원을 통해 현장 대응 능력을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강화한다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336651" y="2517948"/>
            <a:ext cx="6184698" cy="6827665"/>
            <a:chOff x="336651" y="2517948"/>
            <a:chExt cx="6184698" cy="6827665"/>
          </a:xfrm>
        </p:grpSpPr>
        <p:sp>
          <p:nvSpPr>
            <p:cNvPr id="72" name="직사각형 71"/>
            <p:cNvSpPr/>
            <p:nvPr/>
          </p:nvSpPr>
          <p:spPr>
            <a:xfrm>
              <a:off x="336651" y="2770361"/>
              <a:ext cx="6184698" cy="6575251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336651" y="2517948"/>
              <a:ext cx="6184698" cy="6827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346076" y="2517619"/>
            <a:ext cx="1065023" cy="203133"/>
            <a:chOff x="339726" y="2214106"/>
            <a:chExt cx="1065023" cy="203133"/>
          </a:xfrm>
        </p:grpSpPr>
        <p:sp>
          <p:nvSpPr>
            <p:cNvPr id="78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897682" cy="203133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현장 업무 혁신</a:t>
              </a:r>
              <a:endParaRPr lang="en-US" altLang="ko-KR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79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5287962" y="2234720"/>
            <a:ext cx="1230644" cy="198000"/>
            <a:chOff x="5287962" y="1441732"/>
            <a:chExt cx="1230644" cy="198000"/>
          </a:xfrm>
        </p:grpSpPr>
        <p:sp>
          <p:nvSpPr>
            <p:cNvPr id="12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26" name="직사각형 12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27" name="직사각형 126"/>
            <p:cNvSpPr/>
            <p:nvPr/>
          </p:nvSpPr>
          <p:spPr bwMode="gray">
            <a:xfrm>
              <a:off x="5996747" y="1471482"/>
              <a:ext cx="445956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900" spc="-3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SFR-019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64" name="Rectangle 2">
            <a:extLst>
              <a:ext uri="{FF2B5EF4-FFF2-40B4-BE49-F238E27FC236}">
                <a16:creationId xmlns:a16="http://schemas.microsoft.com/office/drawing/2014/main" id="{92248AD0-FC7A-4ED1-BFBE-80C893F24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996" y="4849802"/>
            <a:ext cx="2908452" cy="1103224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B2B2B2"/>
            </a:solidFill>
            <a:miter lim="800000"/>
            <a:headEnd/>
            <a:tailEnd/>
          </a:ln>
        </p:spPr>
        <p:txBody>
          <a:bodyPr lIns="54000" tIns="46800" rIns="54000" bIns="46800"/>
          <a:lstStyle/>
          <a:p>
            <a:pPr marL="85725" indent="-85725" latinLnBrk="0">
              <a:spcBef>
                <a:spcPct val="20000"/>
              </a:spcBef>
              <a:buFontTx/>
              <a:buChar char="•"/>
              <a:defRPr/>
            </a:pPr>
            <a:endParaRPr lang="ko-KR" altLang="en-US" sz="1200" kern="0" dirty="0">
              <a:solidFill>
                <a:prstClr val="black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5" name="Rectangle 3" descr="1">
            <a:extLst>
              <a:ext uri="{FF2B5EF4-FFF2-40B4-BE49-F238E27FC236}">
                <a16:creationId xmlns:a16="http://schemas.microsoft.com/office/drawing/2014/main" id="{FB594E18-1471-446C-B1CE-74537B2F9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996" y="4520247"/>
            <a:ext cx="2908452" cy="329555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다중 데이터 형식 지원</a:t>
            </a:r>
          </a:p>
        </p:txBody>
      </p:sp>
      <p:sp>
        <p:nvSpPr>
          <p:cNvPr id="66" name="Rectangle 9">
            <a:extLst>
              <a:ext uri="{FF2B5EF4-FFF2-40B4-BE49-F238E27FC236}">
                <a16:creationId xmlns:a16="http://schemas.microsoft.com/office/drawing/2014/main" id="{1F75F104-19E7-48F2-AF78-71CEF17B0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353" y="4864368"/>
            <a:ext cx="2891139" cy="1105393"/>
          </a:xfrm>
          <a:prstGeom prst="rect">
            <a:avLst/>
          </a:prstGeom>
          <a:solidFill>
            <a:sysClr val="window" lastClr="FFFFFF"/>
          </a:solidFill>
          <a:ln w="12700" algn="ctr">
            <a:solidFill>
              <a:srgbClr val="C0C0C0"/>
            </a:solidFill>
            <a:miter lim="800000"/>
            <a:headEnd/>
            <a:tailEnd/>
          </a:ln>
        </p:spPr>
        <p:txBody>
          <a:bodyPr lIns="54000" tIns="46800" rIns="54000" bIns="46800"/>
          <a:lstStyle/>
          <a:p>
            <a:pPr marL="85725" indent="-85725" eaLnBrk="0" latinLnBrk="0" hangingPunct="0">
              <a:spcBef>
                <a:spcPct val="20000"/>
              </a:spcBef>
              <a:buFontTx/>
              <a:buChar char="•"/>
              <a:defRPr/>
            </a:pPr>
            <a:endParaRPr lang="ko-KR" altLang="en-US" sz="1200" kern="0" dirty="0">
              <a:solidFill>
                <a:prstClr val="black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7" name="Rectangle 10">
            <a:extLst>
              <a:ext uri="{FF2B5EF4-FFF2-40B4-BE49-F238E27FC236}">
                <a16:creationId xmlns:a16="http://schemas.microsoft.com/office/drawing/2014/main" id="{CD6E95B2-0974-464C-8515-BF8383FF6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353" y="4534813"/>
            <a:ext cx="2891139" cy="329555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모바일 실시간 자료 관리</a:t>
            </a:r>
          </a:p>
        </p:txBody>
      </p:sp>
      <p:sp>
        <p:nvSpPr>
          <p:cNvPr id="68" name="Rectangle 2">
            <a:extLst>
              <a:ext uri="{FF2B5EF4-FFF2-40B4-BE49-F238E27FC236}">
                <a16:creationId xmlns:a16="http://schemas.microsoft.com/office/drawing/2014/main" id="{4D888AAC-E69B-4E35-95BC-8E200742503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8352" y="6105128"/>
            <a:ext cx="2908449" cy="1162023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B2B2B2"/>
            </a:solidFill>
            <a:miter lim="800000"/>
            <a:headEnd/>
            <a:tailEnd/>
          </a:ln>
        </p:spPr>
        <p:txBody>
          <a:bodyPr lIns="54000" tIns="46800" rIns="54000" bIns="46800"/>
          <a:lstStyle/>
          <a:p>
            <a:pPr marL="85725" indent="-85725" latinLnBrk="0">
              <a:spcBef>
                <a:spcPct val="20000"/>
              </a:spcBef>
              <a:buFontTx/>
              <a:buChar char="•"/>
              <a:defRPr/>
            </a:pPr>
            <a:endParaRPr lang="ko-KR" altLang="en-US" sz="1100" kern="0" dirty="0">
              <a:solidFill>
                <a:prstClr val="black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9" name="Rectangle 3" descr="1">
            <a:extLst>
              <a:ext uri="{FF2B5EF4-FFF2-40B4-BE49-F238E27FC236}">
                <a16:creationId xmlns:a16="http://schemas.microsoft.com/office/drawing/2014/main" id="{991213F9-FAEC-41DC-A56A-F1D565C9E5F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8353" y="7287179"/>
            <a:ext cx="2908449" cy="329555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실시간 알림 및 협업 체계</a:t>
            </a:r>
          </a:p>
        </p:txBody>
      </p:sp>
      <p:sp>
        <p:nvSpPr>
          <p:cNvPr id="70" name="Rectangle 9">
            <a:extLst>
              <a:ext uri="{FF2B5EF4-FFF2-40B4-BE49-F238E27FC236}">
                <a16:creationId xmlns:a16="http://schemas.microsoft.com/office/drawing/2014/main" id="{1AAC72C9-CA34-4E79-AB59-14FCEFD507A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61304" y="6105128"/>
            <a:ext cx="2891136" cy="1176589"/>
          </a:xfrm>
          <a:prstGeom prst="rect">
            <a:avLst/>
          </a:prstGeom>
          <a:solidFill>
            <a:sysClr val="window" lastClr="FFFFFF"/>
          </a:solidFill>
          <a:ln w="12700" algn="ctr">
            <a:solidFill>
              <a:srgbClr val="C0C0C0"/>
            </a:solidFill>
            <a:miter lim="800000"/>
            <a:headEnd/>
            <a:tailEnd/>
          </a:ln>
        </p:spPr>
        <p:txBody>
          <a:bodyPr lIns="54000" tIns="46800" rIns="54000" bIns="46800"/>
          <a:lstStyle/>
          <a:p>
            <a:pPr marL="85725" indent="-85725" eaLnBrk="0" latinLnBrk="0" hangingPunct="0">
              <a:spcBef>
                <a:spcPct val="20000"/>
              </a:spcBef>
              <a:buFontTx/>
              <a:buChar char="•"/>
              <a:defRPr/>
            </a:pPr>
            <a:endParaRPr lang="ko-KR" altLang="en-US" sz="1200" kern="0" dirty="0">
              <a:solidFill>
                <a:prstClr val="black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4" name="Rectangle 10">
            <a:extLst>
              <a:ext uri="{FF2B5EF4-FFF2-40B4-BE49-F238E27FC236}">
                <a16:creationId xmlns:a16="http://schemas.microsoft.com/office/drawing/2014/main" id="{B382140D-4875-4A28-8DB5-4263D8C5B32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61304" y="7287179"/>
            <a:ext cx="2891136" cy="329555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오프라인 모드 및 보안 강화</a:t>
            </a:r>
          </a:p>
        </p:txBody>
      </p:sp>
      <p:sp>
        <p:nvSpPr>
          <p:cNvPr id="75" name="Text Box 222">
            <a:extLst>
              <a:ext uri="{FF2B5EF4-FFF2-40B4-BE49-F238E27FC236}">
                <a16:creationId xmlns:a16="http://schemas.microsoft.com/office/drawing/2014/main" id="{E2873615-72C7-4870-8B43-F9A9B8E4C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641" y="5041932"/>
            <a:ext cx="2504929" cy="87203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indent="-88900" latinLnBrk="0">
              <a:spcBef>
                <a:spcPts val="200"/>
              </a:spcBef>
              <a:buFont typeface="Wingdings" pitchFamily="2" charset="2"/>
              <a:buChar char="§"/>
              <a:defRPr/>
            </a:pP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현장 등록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위치정보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(GPS)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연동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음성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동영상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사진 첨부 기능으로 현장 상황을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 이내 에 시스템에 업로드</a:t>
            </a:r>
          </a:p>
          <a:p>
            <a:pPr marL="88900" indent="-88900" latinLnBrk="0">
              <a:spcBef>
                <a:spcPts val="200"/>
              </a:spcBef>
              <a:buFont typeface="Wingdings" pitchFamily="2" charset="2"/>
              <a:buChar char="§"/>
              <a:defRPr/>
            </a:pP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즉시 승인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지휘부의 실시간 평가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승인 프로세스 자동화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알림 → 검토 → 피드백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76" name="Text Box 222">
            <a:extLst>
              <a:ext uri="{FF2B5EF4-FFF2-40B4-BE49-F238E27FC236}">
                <a16:creationId xmlns:a16="http://schemas.microsoft.com/office/drawing/2014/main" id="{7AF4DB08-F75D-4E7F-BA46-AD6837359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0730" y="5035857"/>
            <a:ext cx="2365601" cy="5078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indent="-88900" latinLnBrk="0">
              <a:spcBef>
                <a:spcPts val="200"/>
              </a:spcBef>
              <a:buFont typeface="Wingdings" pitchFamily="2" charset="2"/>
              <a:buChar char="§"/>
              <a:defRPr/>
            </a:pP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텍스트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이미지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동영상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음성 메모 등 모든 유형의 데이터 통합 관리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용량 최적화 및 압축 기술 적용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100" kern="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5" name="Text Box 222">
            <a:extLst>
              <a:ext uri="{FF2B5EF4-FFF2-40B4-BE49-F238E27FC236}">
                <a16:creationId xmlns:a16="http://schemas.microsoft.com/office/drawing/2014/main" id="{4ECC8125-B6C5-481D-8712-220BB4D4D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74" y="6303222"/>
            <a:ext cx="2505891" cy="7027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indent="-88900" latinLnBrk="0">
              <a:spcBef>
                <a:spcPts val="200"/>
              </a:spcBef>
              <a:buFont typeface="Wingdings" pitchFamily="2" charset="2"/>
              <a:buChar char="§"/>
              <a:defRPr/>
            </a:pP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위험 상황 알림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AI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위험도 분석 후 관계자에게 즉시 푸시 알림 전송</a:t>
            </a:r>
          </a:p>
          <a:p>
            <a:pPr marL="88900" indent="-88900" latinLnBrk="0">
              <a:spcBef>
                <a:spcPts val="200"/>
              </a:spcBef>
              <a:buFont typeface="Wingdings" pitchFamily="2" charset="2"/>
              <a:buChar char="§"/>
              <a:defRPr/>
            </a:pP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업무 보고 자동화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현장 → 지휘부 → 지원센터 간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1:1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대응 체계 구축 </a:t>
            </a:r>
          </a:p>
        </p:txBody>
      </p:sp>
      <p:sp>
        <p:nvSpPr>
          <p:cNvPr id="106" name="Text Box 222">
            <a:extLst>
              <a:ext uri="{FF2B5EF4-FFF2-40B4-BE49-F238E27FC236}">
                <a16:creationId xmlns:a16="http://schemas.microsoft.com/office/drawing/2014/main" id="{D5B03C0A-E46E-4B95-9703-1D06A5454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027" y="6149551"/>
            <a:ext cx="2296876" cy="10413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88900" indent="-88900" latinLnBrk="0">
              <a:spcBef>
                <a:spcPts val="200"/>
              </a:spcBef>
              <a:buFont typeface="Wingdings" pitchFamily="2" charset="2"/>
              <a:buChar char="§"/>
              <a:defRPr/>
            </a:pP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오프라인 접근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네트워크 불안정 지역에서도 자료 열람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수정 가능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100" kern="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재연결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시 자동 동기화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8900" indent="-88900" latinLnBrk="0">
              <a:spcBef>
                <a:spcPts val="200"/>
              </a:spcBef>
              <a:buFont typeface="Wingdings" pitchFamily="2" charset="2"/>
              <a:buChar char="§"/>
              <a:defRPr/>
            </a:pP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보안 기능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생체 인증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암호화 전송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접근 권한 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단계 검증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사용자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부서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</a:t>
            </a:r>
            <a:r>
              <a:rPr lang="ko-KR" altLang="en-US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정보 유형</a:t>
            </a:r>
            <a:r>
              <a:rPr lang="en-US" altLang="ko-KR" sz="1100" kern="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100" kern="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761" y="5626602"/>
            <a:ext cx="754425" cy="754425"/>
          </a:xfrm>
          <a:prstGeom prst="rect">
            <a:avLst/>
          </a:prstGeom>
        </p:spPr>
      </p:pic>
      <p:grpSp>
        <p:nvGrpSpPr>
          <p:cNvPr id="141" name="Group 607">
            <a:extLst>
              <a:ext uri="{FF2B5EF4-FFF2-40B4-BE49-F238E27FC236}">
                <a16:creationId xmlns:a16="http://schemas.microsoft.com/office/drawing/2014/main" id="{6D8746C9-04C0-4834-88E3-FD020A73A7A1}"/>
              </a:ext>
            </a:extLst>
          </p:cNvPr>
          <p:cNvGrpSpPr>
            <a:grpSpLocks/>
          </p:cNvGrpSpPr>
          <p:nvPr/>
        </p:nvGrpSpPr>
        <p:grpSpPr bwMode="auto">
          <a:xfrm>
            <a:off x="404453" y="3908884"/>
            <a:ext cx="6084887" cy="612775"/>
            <a:chOff x="328" y="4560"/>
            <a:chExt cx="3609" cy="361"/>
          </a:xfrm>
        </p:grpSpPr>
        <p:sp>
          <p:nvSpPr>
            <p:cNvPr id="142" name="Freeform 608">
              <a:extLst>
                <a:ext uri="{FF2B5EF4-FFF2-40B4-BE49-F238E27FC236}">
                  <a16:creationId xmlns:a16="http://schemas.microsoft.com/office/drawing/2014/main" id="{F7F2D37E-B131-451C-BD52-C9F32F669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" y="4565"/>
              <a:ext cx="3588" cy="356"/>
            </a:xfrm>
            <a:custGeom>
              <a:avLst/>
              <a:gdLst>
                <a:gd name="T0" fmla="*/ 0 w 3747"/>
                <a:gd name="T1" fmla="*/ 43 h 447"/>
                <a:gd name="T2" fmla="*/ 622 w 3747"/>
                <a:gd name="T3" fmla="*/ 5 h 447"/>
                <a:gd name="T4" fmla="*/ 2500 w 3747"/>
                <a:gd name="T5" fmla="*/ 0 h 447"/>
                <a:gd name="T6" fmla="*/ 3150 w 3747"/>
                <a:gd name="T7" fmla="*/ 51 h 447"/>
                <a:gd name="T8" fmla="*/ 3150 w 3747"/>
                <a:gd name="T9" fmla="*/ 180 h 447"/>
                <a:gd name="T10" fmla="*/ 0 w 3747"/>
                <a:gd name="T11" fmla="*/ 180 h 447"/>
                <a:gd name="T12" fmla="*/ 0 w 3747"/>
                <a:gd name="T13" fmla="*/ 43 h 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747"/>
                <a:gd name="T22" fmla="*/ 0 h 447"/>
                <a:gd name="T23" fmla="*/ 3747 w 3747"/>
                <a:gd name="T24" fmla="*/ 447 h 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747" h="447">
                  <a:moveTo>
                    <a:pt x="0" y="107"/>
                  </a:moveTo>
                  <a:lnTo>
                    <a:pt x="740" y="13"/>
                  </a:lnTo>
                  <a:lnTo>
                    <a:pt x="2974" y="0"/>
                  </a:lnTo>
                  <a:lnTo>
                    <a:pt x="3747" y="127"/>
                  </a:lnTo>
                  <a:lnTo>
                    <a:pt x="3747" y="447"/>
                  </a:lnTo>
                  <a:lnTo>
                    <a:pt x="0" y="447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ysClr val="window" lastClr="FFFFFF"/>
            </a:soli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43" name="Freeform 609">
              <a:extLst>
                <a:ext uri="{FF2B5EF4-FFF2-40B4-BE49-F238E27FC236}">
                  <a16:creationId xmlns:a16="http://schemas.microsoft.com/office/drawing/2014/main" id="{009B8427-68E1-4E9B-BAF7-E4503C784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" y="4778"/>
              <a:ext cx="983" cy="134"/>
            </a:xfrm>
            <a:custGeom>
              <a:avLst/>
              <a:gdLst>
                <a:gd name="T0" fmla="*/ 0 w 1027"/>
                <a:gd name="T1" fmla="*/ 67 h 169"/>
                <a:gd name="T2" fmla="*/ 409 w 1027"/>
                <a:gd name="T3" fmla="*/ 2 h 169"/>
                <a:gd name="T4" fmla="*/ 862 w 1027"/>
                <a:gd name="T5" fmla="*/ 0 h 169"/>
                <a:gd name="T6" fmla="*/ 588 w 1027"/>
                <a:gd name="T7" fmla="*/ 67 h 169"/>
                <a:gd name="T8" fmla="*/ 0 w 1027"/>
                <a:gd name="T9" fmla="*/ 67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7"/>
                <a:gd name="T16" fmla="*/ 0 h 169"/>
                <a:gd name="T17" fmla="*/ 1027 w 1027"/>
                <a:gd name="T18" fmla="*/ 169 h 1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7" h="169">
                  <a:moveTo>
                    <a:pt x="0" y="169"/>
                  </a:moveTo>
                  <a:lnTo>
                    <a:pt x="487" y="3"/>
                  </a:lnTo>
                  <a:lnTo>
                    <a:pt x="1027" y="0"/>
                  </a:lnTo>
                  <a:lnTo>
                    <a:pt x="700" y="169"/>
                  </a:lnTo>
                  <a:lnTo>
                    <a:pt x="0" y="169"/>
                  </a:lnTo>
                  <a:close/>
                </a:path>
              </a:pathLst>
            </a:custGeom>
            <a:gradFill rotWithShape="0">
              <a:gsLst>
                <a:gs pos="0">
                  <a:srgbClr val="E3E8E9"/>
                </a:gs>
                <a:gs pos="100000">
                  <a:srgbClr val="FFFFFF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44" name="Freeform 610">
              <a:extLst>
                <a:ext uri="{FF2B5EF4-FFF2-40B4-BE49-F238E27FC236}">
                  <a16:creationId xmlns:a16="http://schemas.microsoft.com/office/drawing/2014/main" id="{2CBE52CC-599A-4371-B33F-1F386C60D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4635"/>
              <a:ext cx="531" cy="57"/>
            </a:xfrm>
            <a:custGeom>
              <a:avLst/>
              <a:gdLst>
                <a:gd name="T0" fmla="*/ 0 w 554"/>
                <a:gd name="T1" fmla="*/ 27 h 73"/>
                <a:gd name="T2" fmla="*/ 172 w 554"/>
                <a:gd name="T3" fmla="*/ 0 h 73"/>
                <a:gd name="T4" fmla="*/ 468 w 554"/>
                <a:gd name="T5" fmla="*/ 2 h 73"/>
                <a:gd name="T6" fmla="*/ 340 w 554"/>
                <a:gd name="T7" fmla="*/ 27 h 73"/>
                <a:gd name="T8" fmla="*/ 0 w 554"/>
                <a:gd name="T9" fmla="*/ 27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4"/>
                <a:gd name="T16" fmla="*/ 0 h 73"/>
                <a:gd name="T17" fmla="*/ 554 w 554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4" h="73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403" y="7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45" name="Freeform 611">
              <a:extLst>
                <a:ext uri="{FF2B5EF4-FFF2-40B4-BE49-F238E27FC236}">
                  <a16:creationId xmlns:a16="http://schemas.microsoft.com/office/drawing/2014/main" id="{6572DCFB-D223-4E05-8D25-F2069F508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4565"/>
              <a:ext cx="363" cy="36"/>
            </a:xfrm>
            <a:custGeom>
              <a:avLst/>
              <a:gdLst>
                <a:gd name="T0" fmla="*/ 0 w 554"/>
                <a:gd name="T1" fmla="*/ 5 h 72"/>
                <a:gd name="T2" fmla="*/ 37 w 554"/>
                <a:gd name="T3" fmla="*/ 0 h 72"/>
                <a:gd name="T4" fmla="*/ 102 w 554"/>
                <a:gd name="T5" fmla="*/ 1 h 72"/>
                <a:gd name="T6" fmla="*/ 69 w 554"/>
                <a:gd name="T7" fmla="*/ 5 h 72"/>
                <a:gd name="T8" fmla="*/ 0 w 554"/>
                <a:gd name="T9" fmla="*/ 5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4"/>
                <a:gd name="T16" fmla="*/ 0 h 72"/>
                <a:gd name="T17" fmla="*/ 554 w 554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4" h="72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378" y="72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46" name="Freeform 612">
              <a:extLst>
                <a:ext uri="{FF2B5EF4-FFF2-40B4-BE49-F238E27FC236}">
                  <a16:creationId xmlns:a16="http://schemas.microsoft.com/office/drawing/2014/main" id="{A917420A-DF83-453F-AE1B-2D45DF74E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4778"/>
              <a:ext cx="887" cy="134"/>
            </a:xfrm>
            <a:custGeom>
              <a:avLst/>
              <a:gdLst>
                <a:gd name="T0" fmla="*/ 780 w 926"/>
                <a:gd name="T1" fmla="*/ 67 h 169"/>
                <a:gd name="T2" fmla="*/ 421 w 926"/>
                <a:gd name="T3" fmla="*/ 2 h 169"/>
                <a:gd name="T4" fmla="*/ 0 w 926"/>
                <a:gd name="T5" fmla="*/ 0 h 169"/>
                <a:gd name="T6" fmla="*/ 240 w 926"/>
                <a:gd name="T7" fmla="*/ 67 h 169"/>
                <a:gd name="T8" fmla="*/ 780 w 926"/>
                <a:gd name="T9" fmla="*/ 67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26"/>
                <a:gd name="T16" fmla="*/ 0 h 169"/>
                <a:gd name="T17" fmla="*/ 926 w 926"/>
                <a:gd name="T18" fmla="*/ 169 h 1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26" h="169">
                  <a:moveTo>
                    <a:pt x="926" y="169"/>
                  </a:moveTo>
                  <a:lnTo>
                    <a:pt x="499" y="3"/>
                  </a:lnTo>
                  <a:lnTo>
                    <a:pt x="0" y="0"/>
                  </a:lnTo>
                  <a:lnTo>
                    <a:pt x="286" y="169"/>
                  </a:lnTo>
                  <a:lnTo>
                    <a:pt x="926" y="169"/>
                  </a:lnTo>
                  <a:close/>
                </a:path>
              </a:pathLst>
            </a:custGeom>
            <a:gradFill rotWithShape="0">
              <a:gsLst>
                <a:gs pos="0">
                  <a:srgbClr val="E3E8E9"/>
                </a:gs>
                <a:gs pos="100000">
                  <a:srgbClr val="FFFFFF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47" name="Freeform 613">
              <a:extLst>
                <a:ext uri="{FF2B5EF4-FFF2-40B4-BE49-F238E27FC236}">
                  <a16:creationId xmlns:a16="http://schemas.microsoft.com/office/drawing/2014/main" id="{228313CD-0988-4B91-BE64-8BE416656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" y="4629"/>
              <a:ext cx="530" cy="58"/>
            </a:xfrm>
            <a:custGeom>
              <a:avLst/>
              <a:gdLst>
                <a:gd name="T0" fmla="*/ 464 w 554"/>
                <a:gd name="T1" fmla="*/ 26 h 75"/>
                <a:gd name="T2" fmla="*/ 294 w 554"/>
                <a:gd name="T3" fmla="*/ 0 h 75"/>
                <a:gd name="T4" fmla="*/ 0 w 554"/>
                <a:gd name="T5" fmla="*/ 2 h 75"/>
                <a:gd name="T6" fmla="*/ 125 w 554"/>
                <a:gd name="T7" fmla="*/ 27 h 75"/>
                <a:gd name="T8" fmla="*/ 464 w 554"/>
                <a:gd name="T9" fmla="*/ 26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4"/>
                <a:gd name="T16" fmla="*/ 0 h 75"/>
                <a:gd name="T17" fmla="*/ 554 w 554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4" h="75">
                  <a:moveTo>
                    <a:pt x="554" y="72"/>
                  </a:moveTo>
                  <a:lnTo>
                    <a:pt x="351" y="0"/>
                  </a:lnTo>
                  <a:lnTo>
                    <a:pt x="0" y="3"/>
                  </a:lnTo>
                  <a:lnTo>
                    <a:pt x="149" y="75"/>
                  </a:lnTo>
                  <a:lnTo>
                    <a:pt x="554" y="72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48" name="Freeform 614">
              <a:extLst>
                <a:ext uri="{FF2B5EF4-FFF2-40B4-BE49-F238E27FC236}">
                  <a16:creationId xmlns:a16="http://schemas.microsoft.com/office/drawing/2014/main" id="{8E462A02-42A2-40BC-9575-133F4CD25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4565"/>
              <a:ext cx="362" cy="39"/>
            </a:xfrm>
            <a:custGeom>
              <a:avLst/>
              <a:gdLst>
                <a:gd name="T0" fmla="*/ 313 w 380"/>
                <a:gd name="T1" fmla="*/ 18 h 50"/>
                <a:gd name="T2" fmla="*/ 199 w 380"/>
                <a:gd name="T3" fmla="*/ 0 h 50"/>
                <a:gd name="T4" fmla="*/ 0 w 380"/>
                <a:gd name="T5" fmla="*/ 2 h 50"/>
                <a:gd name="T6" fmla="*/ 64 w 380"/>
                <a:gd name="T7" fmla="*/ 18 h 50"/>
                <a:gd name="T8" fmla="*/ 313 w 380"/>
                <a:gd name="T9" fmla="*/ 1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0"/>
                <a:gd name="T16" fmla="*/ 0 h 50"/>
                <a:gd name="T17" fmla="*/ 380 w 380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0" h="50">
                  <a:moveTo>
                    <a:pt x="380" y="47"/>
                  </a:moveTo>
                  <a:lnTo>
                    <a:pt x="241" y="0"/>
                  </a:lnTo>
                  <a:lnTo>
                    <a:pt x="0" y="2"/>
                  </a:lnTo>
                  <a:lnTo>
                    <a:pt x="78" y="50"/>
                  </a:lnTo>
                  <a:lnTo>
                    <a:pt x="380" y="47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49" name="Freeform 615">
              <a:extLst>
                <a:ext uri="{FF2B5EF4-FFF2-40B4-BE49-F238E27FC236}">
                  <a16:creationId xmlns:a16="http://schemas.microsoft.com/office/drawing/2014/main" id="{93F8C18E-CF8F-401D-91FC-AC3A21FC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4778"/>
              <a:ext cx="624" cy="134"/>
            </a:xfrm>
            <a:custGeom>
              <a:avLst/>
              <a:gdLst>
                <a:gd name="T0" fmla="*/ 104 w 653"/>
                <a:gd name="T1" fmla="*/ 0 h 169"/>
                <a:gd name="T2" fmla="*/ 495 w 653"/>
                <a:gd name="T3" fmla="*/ 2 h 169"/>
                <a:gd name="T4" fmla="*/ 545 w 653"/>
                <a:gd name="T5" fmla="*/ 67 h 169"/>
                <a:gd name="T6" fmla="*/ 0 w 653"/>
                <a:gd name="T7" fmla="*/ 64 h 169"/>
                <a:gd name="T8" fmla="*/ 104 w 653"/>
                <a:gd name="T9" fmla="*/ 0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3"/>
                <a:gd name="T16" fmla="*/ 0 h 169"/>
                <a:gd name="T17" fmla="*/ 653 w 653"/>
                <a:gd name="T18" fmla="*/ 169 h 1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gradFill rotWithShape="0">
              <a:gsLst>
                <a:gs pos="0">
                  <a:srgbClr val="E3E8E9"/>
                </a:gs>
                <a:gs pos="100000">
                  <a:srgbClr val="FFFFFF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0" name="Freeform 616">
              <a:extLst>
                <a:ext uri="{FF2B5EF4-FFF2-40B4-BE49-F238E27FC236}">
                  <a16:creationId xmlns:a16="http://schemas.microsoft.com/office/drawing/2014/main" id="{079CF509-AEEB-447C-B039-DFF742592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4629"/>
              <a:ext cx="333" cy="69"/>
            </a:xfrm>
            <a:custGeom>
              <a:avLst/>
              <a:gdLst>
                <a:gd name="T0" fmla="*/ 9 w 653"/>
                <a:gd name="T1" fmla="*/ 0 h 169"/>
                <a:gd name="T2" fmla="*/ 40 w 653"/>
                <a:gd name="T3" fmla="*/ 0 h 169"/>
                <a:gd name="T4" fmla="*/ 44 w 653"/>
                <a:gd name="T5" fmla="*/ 4 h 169"/>
                <a:gd name="T6" fmla="*/ 0 w 653"/>
                <a:gd name="T7" fmla="*/ 4 h 169"/>
                <a:gd name="T8" fmla="*/ 9 w 653"/>
                <a:gd name="T9" fmla="*/ 0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3"/>
                <a:gd name="T16" fmla="*/ 0 h 169"/>
                <a:gd name="T17" fmla="*/ 653 w 653"/>
                <a:gd name="T18" fmla="*/ 169 h 1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1" name="Freeform 617">
              <a:extLst>
                <a:ext uri="{FF2B5EF4-FFF2-40B4-BE49-F238E27FC236}">
                  <a16:creationId xmlns:a16="http://schemas.microsoft.com/office/drawing/2014/main" id="{49AFB0E1-968E-4432-A038-6B57BABABFE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8" y="4565"/>
              <a:ext cx="168" cy="34"/>
            </a:xfrm>
            <a:custGeom>
              <a:avLst/>
              <a:gdLst>
                <a:gd name="T0" fmla="*/ 1 w 653"/>
                <a:gd name="T1" fmla="*/ 0 h 169"/>
                <a:gd name="T2" fmla="*/ 3 w 653"/>
                <a:gd name="T3" fmla="*/ 0 h 169"/>
                <a:gd name="T4" fmla="*/ 3 w 653"/>
                <a:gd name="T5" fmla="*/ 0 h 169"/>
                <a:gd name="T6" fmla="*/ 0 w 653"/>
                <a:gd name="T7" fmla="*/ 0 h 169"/>
                <a:gd name="T8" fmla="*/ 1 w 653"/>
                <a:gd name="T9" fmla="*/ 0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3"/>
                <a:gd name="T16" fmla="*/ 0 h 169"/>
                <a:gd name="T17" fmla="*/ 653 w 653"/>
                <a:gd name="T18" fmla="*/ 169 h 1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grpSp>
          <p:nvGrpSpPr>
            <p:cNvPr id="152" name="Group 618">
              <a:extLst>
                <a:ext uri="{FF2B5EF4-FFF2-40B4-BE49-F238E27FC236}">
                  <a16:creationId xmlns:a16="http://schemas.microsoft.com/office/drawing/2014/main" id="{CBBEB987-5A69-475F-97AD-EAECD7DB6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4" y="4616"/>
              <a:ext cx="596" cy="191"/>
              <a:chOff x="1433" y="5189"/>
              <a:chExt cx="623" cy="240"/>
            </a:xfrm>
          </p:grpSpPr>
          <p:sp>
            <p:nvSpPr>
              <p:cNvPr id="163" name="Freeform 619">
                <a:extLst>
                  <a:ext uri="{FF2B5EF4-FFF2-40B4-BE49-F238E27FC236}">
                    <a16:creationId xmlns:a16="http://schemas.microsoft.com/office/drawing/2014/main" id="{CCFE211C-132C-4528-B549-B56E09966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3" y="5307"/>
                <a:ext cx="540" cy="122"/>
              </a:xfrm>
              <a:custGeom>
                <a:avLst/>
                <a:gdLst>
                  <a:gd name="T0" fmla="*/ 214 w 540"/>
                  <a:gd name="T1" fmla="*/ 0 h 122"/>
                  <a:gd name="T2" fmla="*/ 540 w 540"/>
                  <a:gd name="T3" fmla="*/ 0 h 122"/>
                  <a:gd name="T4" fmla="*/ 447 w 540"/>
                  <a:gd name="T5" fmla="*/ 120 h 122"/>
                  <a:gd name="T6" fmla="*/ 0 w 540"/>
                  <a:gd name="T7" fmla="*/ 122 h 122"/>
                  <a:gd name="T8" fmla="*/ 214 w 540"/>
                  <a:gd name="T9" fmla="*/ 0 h 1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0"/>
                  <a:gd name="T16" fmla="*/ 0 h 122"/>
                  <a:gd name="T17" fmla="*/ 540 w 540"/>
                  <a:gd name="T18" fmla="*/ 122 h 1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E3E8E9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0" rIns="90000" bIns="0" anchor="ctr"/>
              <a:lstStyle/>
              <a:p>
                <a:pPr latinLnBrk="0">
                  <a:defRPr/>
                </a:pPr>
                <a:endParaRPr lang="ko-KR" altLang="en-US" kern="0" dirty="0">
                  <a:solidFill>
                    <a:prstClr val="black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64" name="Freeform 620">
                <a:extLst>
                  <a:ext uri="{FF2B5EF4-FFF2-40B4-BE49-F238E27FC236}">
                    <a16:creationId xmlns:a16="http://schemas.microsoft.com/office/drawing/2014/main" id="{F84349E8-8A55-48FC-B809-D25A89B49B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46" y="5189"/>
                <a:ext cx="310" cy="60"/>
              </a:xfrm>
              <a:custGeom>
                <a:avLst/>
                <a:gdLst>
                  <a:gd name="T0" fmla="*/ 24 w 540"/>
                  <a:gd name="T1" fmla="*/ 0 h 122"/>
                  <a:gd name="T2" fmla="*/ 59 w 540"/>
                  <a:gd name="T3" fmla="*/ 0 h 122"/>
                  <a:gd name="T4" fmla="*/ 49 w 540"/>
                  <a:gd name="T5" fmla="*/ 7 h 122"/>
                  <a:gd name="T6" fmla="*/ 0 w 540"/>
                  <a:gd name="T7" fmla="*/ 7 h 122"/>
                  <a:gd name="T8" fmla="*/ 24 w 540"/>
                  <a:gd name="T9" fmla="*/ 0 h 1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0"/>
                  <a:gd name="T16" fmla="*/ 0 h 122"/>
                  <a:gd name="T17" fmla="*/ 540 w 540"/>
                  <a:gd name="T18" fmla="*/ 122 h 1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E3E8E9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0" rIns="90000" bIns="0" anchor="ctr"/>
              <a:lstStyle/>
              <a:p>
                <a:pPr latinLnBrk="0">
                  <a:defRPr/>
                </a:pPr>
                <a:endParaRPr lang="ko-KR" altLang="en-US" kern="0" dirty="0">
                  <a:solidFill>
                    <a:prstClr val="black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153" name="Freeform 621">
              <a:extLst>
                <a:ext uri="{FF2B5EF4-FFF2-40B4-BE49-F238E27FC236}">
                  <a16:creationId xmlns:a16="http://schemas.microsoft.com/office/drawing/2014/main" id="{04D938CF-893B-4E2C-8462-50945B956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" y="4684"/>
              <a:ext cx="587" cy="94"/>
            </a:xfrm>
            <a:custGeom>
              <a:avLst/>
              <a:gdLst>
                <a:gd name="T0" fmla="*/ 330 w 613"/>
                <a:gd name="T1" fmla="*/ 0 h 124"/>
                <a:gd name="T2" fmla="*/ 0 w 613"/>
                <a:gd name="T3" fmla="*/ 0 h 124"/>
                <a:gd name="T4" fmla="*/ 33 w 613"/>
                <a:gd name="T5" fmla="*/ 39 h 124"/>
                <a:gd name="T6" fmla="*/ 515 w 613"/>
                <a:gd name="T7" fmla="*/ 41 h 124"/>
                <a:gd name="T8" fmla="*/ 330 w 613"/>
                <a:gd name="T9" fmla="*/ 0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3"/>
                <a:gd name="T16" fmla="*/ 0 h 124"/>
                <a:gd name="T17" fmla="*/ 613 w 613"/>
                <a:gd name="T18" fmla="*/ 124 h 1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3" h="124">
                  <a:moveTo>
                    <a:pt x="393" y="0"/>
                  </a:moveTo>
                  <a:lnTo>
                    <a:pt x="0" y="0"/>
                  </a:lnTo>
                  <a:lnTo>
                    <a:pt x="40" y="120"/>
                  </a:lnTo>
                  <a:lnTo>
                    <a:pt x="613" y="124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4" name="Freeform 622">
              <a:extLst>
                <a:ext uri="{FF2B5EF4-FFF2-40B4-BE49-F238E27FC236}">
                  <a16:creationId xmlns:a16="http://schemas.microsoft.com/office/drawing/2014/main" id="{1E7ADF85-7F3A-4851-9393-3125FACE2ED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1" y="4594"/>
              <a:ext cx="339" cy="40"/>
            </a:xfrm>
            <a:custGeom>
              <a:avLst/>
              <a:gdLst>
                <a:gd name="T0" fmla="*/ 208 w 354"/>
                <a:gd name="T1" fmla="*/ 0 h 53"/>
                <a:gd name="T2" fmla="*/ 0 w 354"/>
                <a:gd name="T3" fmla="*/ 2 h 53"/>
                <a:gd name="T4" fmla="*/ 11 w 354"/>
                <a:gd name="T5" fmla="*/ 17 h 53"/>
                <a:gd name="T6" fmla="*/ 298 w 354"/>
                <a:gd name="T7" fmla="*/ 17 h 53"/>
                <a:gd name="T8" fmla="*/ 208 w 354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53"/>
                <a:gd name="T17" fmla="*/ 354 w 35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53">
                  <a:moveTo>
                    <a:pt x="247" y="0"/>
                  </a:moveTo>
                  <a:lnTo>
                    <a:pt x="0" y="6"/>
                  </a:lnTo>
                  <a:lnTo>
                    <a:pt x="14" y="53"/>
                  </a:lnTo>
                  <a:lnTo>
                    <a:pt x="354" y="53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5" name="Freeform 623">
              <a:extLst>
                <a:ext uri="{FF2B5EF4-FFF2-40B4-BE49-F238E27FC236}">
                  <a16:creationId xmlns:a16="http://schemas.microsoft.com/office/drawing/2014/main" id="{A5DF43D3-FD73-48FB-93FE-9D1613DDC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" y="4684"/>
              <a:ext cx="889" cy="97"/>
            </a:xfrm>
            <a:custGeom>
              <a:avLst/>
              <a:gdLst>
                <a:gd name="T0" fmla="*/ 350 w 927"/>
                <a:gd name="T1" fmla="*/ 0 h 127"/>
                <a:gd name="T2" fmla="*/ 784 w 927"/>
                <a:gd name="T3" fmla="*/ 0 h 127"/>
                <a:gd name="T4" fmla="*/ 490 w 927"/>
                <a:gd name="T5" fmla="*/ 44 h 127"/>
                <a:gd name="T6" fmla="*/ 0 w 927"/>
                <a:gd name="T7" fmla="*/ 40 h 127"/>
                <a:gd name="T8" fmla="*/ 0 w 927"/>
                <a:gd name="T9" fmla="*/ 31 h 127"/>
                <a:gd name="T10" fmla="*/ 350 w 927"/>
                <a:gd name="T11" fmla="*/ 0 h 1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27"/>
                <a:gd name="T19" fmla="*/ 0 h 127"/>
                <a:gd name="T20" fmla="*/ 927 w 927"/>
                <a:gd name="T21" fmla="*/ 127 h 1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27" h="127">
                  <a:moveTo>
                    <a:pt x="414" y="0"/>
                  </a:moveTo>
                  <a:lnTo>
                    <a:pt x="927" y="0"/>
                  </a:lnTo>
                  <a:lnTo>
                    <a:pt x="580" y="127"/>
                  </a:lnTo>
                  <a:lnTo>
                    <a:pt x="0" y="120"/>
                  </a:lnTo>
                  <a:lnTo>
                    <a:pt x="0" y="93"/>
                  </a:lnTo>
                  <a:lnTo>
                    <a:pt x="414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E3E8E9"/>
                </a:gs>
              </a:gsLst>
              <a:lin ang="189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6" name="Freeform 624">
              <a:extLst>
                <a:ext uri="{FF2B5EF4-FFF2-40B4-BE49-F238E27FC236}">
                  <a16:creationId xmlns:a16="http://schemas.microsoft.com/office/drawing/2014/main" id="{0D75A83A-293E-4AD6-AC22-D030DE5341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90" y="4598"/>
              <a:ext cx="559" cy="40"/>
            </a:xfrm>
            <a:custGeom>
              <a:avLst/>
              <a:gdLst>
                <a:gd name="T0" fmla="*/ 194 w 585"/>
                <a:gd name="T1" fmla="*/ 0 h 51"/>
                <a:gd name="T2" fmla="*/ 487 w 585"/>
                <a:gd name="T3" fmla="*/ 0 h 51"/>
                <a:gd name="T4" fmla="*/ 363 w 585"/>
                <a:gd name="T5" fmla="*/ 19 h 51"/>
                <a:gd name="T6" fmla="*/ 0 w 585"/>
                <a:gd name="T7" fmla="*/ 19 h 51"/>
                <a:gd name="T8" fmla="*/ 194 w 585"/>
                <a:gd name="T9" fmla="*/ 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5"/>
                <a:gd name="T16" fmla="*/ 0 h 51"/>
                <a:gd name="T17" fmla="*/ 585 w 585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7" name="Freeform 625">
              <a:extLst>
                <a:ext uri="{FF2B5EF4-FFF2-40B4-BE49-F238E27FC236}">
                  <a16:creationId xmlns:a16="http://schemas.microsoft.com/office/drawing/2014/main" id="{92AD4948-1475-4EA2-B4C6-0E2EB5DB7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4685"/>
              <a:ext cx="977" cy="101"/>
            </a:xfrm>
            <a:custGeom>
              <a:avLst/>
              <a:gdLst>
                <a:gd name="T0" fmla="*/ 431 w 1021"/>
                <a:gd name="T1" fmla="*/ 0 h 127"/>
                <a:gd name="T2" fmla="*/ 0 w 1021"/>
                <a:gd name="T3" fmla="*/ 0 h 127"/>
                <a:gd name="T4" fmla="*/ 291 w 1021"/>
                <a:gd name="T5" fmla="*/ 51 h 127"/>
                <a:gd name="T6" fmla="*/ 856 w 1021"/>
                <a:gd name="T7" fmla="*/ 49 h 127"/>
                <a:gd name="T8" fmla="*/ 431 w 1021"/>
                <a:gd name="T9" fmla="*/ 0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1"/>
                <a:gd name="T16" fmla="*/ 0 h 127"/>
                <a:gd name="T17" fmla="*/ 1021 w 1021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1" h="127">
                  <a:moveTo>
                    <a:pt x="513" y="0"/>
                  </a:moveTo>
                  <a:lnTo>
                    <a:pt x="0" y="0"/>
                  </a:lnTo>
                  <a:lnTo>
                    <a:pt x="347" y="127"/>
                  </a:lnTo>
                  <a:lnTo>
                    <a:pt x="1021" y="122"/>
                  </a:lnTo>
                  <a:lnTo>
                    <a:pt x="513" y="0"/>
                  </a:lnTo>
                  <a:close/>
                </a:path>
              </a:pathLst>
            </a:custGeom>
            <a:gradFill rotWithShape="0">
              <a:gsLst>
                <a:gs pos="0">
                  <a:srgbClr val="E3E8E9"/>
                </a:gs>
                <a:gs pos="100000">
                  <a:srgbClr val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8" name="Freeform 626">
              <a:extLst>
                <a:ext uri="{FF2B5EF4-FFF2-40B4-BE49-F238E27FC236}">
                  <a16:creationId xmlns:a16="http://schemas.microsoft.com/office/drawing/2014/main" id="{C72F9032-DA4E-405B-87FB-B03EC008AAE8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2644" y="4591"/>
              <a:ext cx="559" cy="40"/>
            </a:xfrm>
            <a:custGeom>
              <a:avLst/>
              <a:gdLst>
                <a:gd name="T0" fmla="*/ 194 w 585"/>
                <a:gd name="T1" fmla="*/ 0 h 51"/>
                <a:gd name="T2" fmla="*/ 487 w 585"/>
                <a:gd name="T3" fmla="*/ 0 h 51"/>
                <a:gd name="T4" fmla="*/ 363 w 585"/>
                <a:gd name="T5" fmla="*/ 19 h 51"/>
                <a:gd name="T6" fmla="*/ 0 w 585"/>
                <a:gd name="T7" fmla="*/ 19 h 51"/>
                <a:gd name="T8" fmla="*/ 194 w 585"/>
                <a:gd name="T9" fmla="*/ 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5"/>
                <a:gd name="T16" fmla="*/ 0 h 51"/>
                <a:gd name="T17" fmla="*/ 585 w 585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E3E8E9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9" name="Freeform 627">
              <a:extLst>
                <a:ext uri="{FF2B5EF4-FFF2-40B4-BE49-F238E27FC236}">
                  <a16:creationId xmlns:a16="http://schemas.microsoft.com/office/drawing/2014/main" id="{2A46E246-B481-4011-A3EA-974EA5828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" y="4629"/>
              <a:ext cx="703" cy="55"/>
            </a:xfrm>
            <a:custGeom>
              <a:avLst/>
              <a:gdLst>
                <a:gd name="T0" fmla="*/ 10 w 736"/>
                <a:gd name="T1" fmla="*/ 13 h 88"/>
                <a:gd name="T2" fmla="*/ 0 w 736"/>
                <a:gd name="T3" fmla="*/ 5 h 88"/>
                <a:gd name="T4" fmla="*/ 130 w 736"/>
                <a:gd name="T5" fmla="*/ 0 h 88"/>
                <a:gd name="T6" fmla="*/ 612 w 736"/>
                <a:gd name="T7" fmla="*/ 2 h 88"/>
                <a:gd name="T8" fmla="*/ 352 w 736"/>
                <a:gd name="T9" fmla="*/ 13 h 88"/>
                <a:gd name="T10" fmla="*/ 10 w 736"/>
                <a:gd name="T11" fmla="*/ 13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36"/>
                <a:gd name="T19" fmla="*/ 0 h 88"/>
                <a:gd name="T20" fmla="*/ 736 w 736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36" h="88">
                  <a:moveTo>
                    <a:pt x="10" y="88"/>
                  </a:moveTo>
                  <a:lnTo>
                    <a:pt x="0" y="33"/>
                  </a:lnTo>
                  <a:lnTo>
                    <a:pt x="156" y="0"/>
                  </a:lnTo>
                  <a:lnTo>
                    <a:pt x="736" y="9"/>
                  </a:lnTo>
                  <a:lnTo>
                    <a:pt x="423" y="88"/>
                  </a:lnTo>
                  <a:lnTo>
                    <a:pt x="10" y="88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E3E8E9"/>
                </a:gs>
              </a:gsLst>
              <a:lin ang="189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60" name="Freeform 628">
              <a:extLst>
                <a:ext uri="{FF2B5EF4-FFF2-40B4-BE49-F238E27FC236}">
                  <a16:creationId xmlns:a16="http://schemas.microsoft.com/office/drawing/2014/main" id="{CB9AAEA4-B862-4F5A-BC11-EA2F991ED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4565"/>
              <a:ext cx="603" cy="39"/>
            </a:xfrm>
            <a:custGeom>
              <a:avLst/>
              <a:gdLst>
                <a:gd name="T0" fmla="*/ 0 w 628"/>
                <a:gd name="T1" fmla="*/ 7 h 69"/>
                <a:gd name="T2" fmla="*/ 260 w 628"/>
                <a:gd name="T3" fmla="*/ 1 h 69"/>
                <a:gd name="T4" fmla="*/ 534 w 628"/>
                <a:gd name="T5" fmla="*/ 0 h 69"/>
                <a:gd name="T6" fmla="*/ 432 w 628"/>
                <a:gd name="T7" fmla="*/ 6 h 69"/>
                <a:gd name="T8" fmla="*/ 0 w 628"/>
                <a:gd name="T9" fmla="*/ 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8"/>
                <a:gd name="T16" fmla="*/ 0 h 69"/>
                <a:gd name="T17" fmla="*/ 628 w 628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8" h="69">
                  <a:moveTo>
                    <a:pt x="0" y="69"/>
                  </a:moveTo>
                  <a:lnTo>
                    <a:pt x="306" y="3"/>
                  </a:lnTo>
                  <a:lnTo>
                    <a:pt x="628" y="0"/>
                  </a:lnTo>
                  <a:lnTo>
                    <a:pt x="508" y="62"/>
                  </a:lnTo>
                  <a:lnTo>
                    <a:pt x="0" y="69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E3E8E9"/>
                </a:gs>
              </a:gsLst>
              <a:lin ang="189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61" name="Freeform 629">
              <a:extLst>
                <a:ext uri="{FF2B5EF4-FFF2-40B4-BE49-F238E27FC236}">
                  <a16:creationId xmlns:a16="http://schemas.microsoft.com/office/drawing/2014/main" id="{DC9CB0C0-9A48-4367-BFFA-3C53F0AA0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4625"/>
              <a:ext cx="802" cy="59"/>
            </a:xfrm>
            <a:custGeom>
              <a:avLst/>
              <a:gdLst>
                <a:gd name="T0" fmla="*/ 705 w 837"/>
                <a:gd name="T1" fmla="*/ 28 h 75"/>
                <a:gd name="T2" fmla="*/ 705 w 837"/>
                <a:gd name="T3" fmla="*/ 16 h 75"/>
                <a:gd name="T4" fmla="*/ 460 w 837"/>
                <a:gd name="T5" fmla="*/ 0 h 75"/>
                <a:gd name="T6" fmla="*/ 0 w 837"/>
                <a:gd name="T7" fmla="*/ 0 h 75"/>
                <a:gd name="T8" fmla="*/ 264 w 837"/>
                <a:gd name="T9" fmla="*/ 28 h 75"/>
                <a:gd name="T10" fmla="*/ 705 w 837"/>
                <a:gd name="T11" fmla="*/ 28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37"/>
                <a:gd name="T19" fmla="*/ 0 h 75"/>
                <a:gd name="T20" fmla="*/ 837 w 837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37" h="75">
                  <a:moveTo>
                    <a:pt x="837" y="75"/>
                  </a:moveTo>
                  <a:lnTo>
                    <a:pt x="837" y="42"/>
                  </a:lnTo>
                  <a:lnTo>
                    <a:pt x="546" y="0"/>
                  </a:lnTo>
                  <a:lnTo>
                    <a:pt x="0" y="0"/>
                  </a:lnTo>
                  <a:lnTo>
                    <a:pt x="313" y="73"/>
                  </a:lnTo>
                  <a:lnTo>
                    <a:pt x="837" y="75"/>
                  </a:lnTo>
                  <a:close/>
                </a:path>
              </a:pathLst>
            </a:custGeom>
            <a:gradFill rotWithShape="0">
              <a:gsLst>
                <a:gs pos="0">
                  <a:srgbClr val="E3E8E9"/>
                </a:gs>
                <a:gs pos="100000">
                  <a:srgbClr val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62" name="Freeform 630">
              <a:extLst>
                <a:ext uri="{FF2B5EF4-FFF2-40B4-BE49-F238E27FC236}">
                  <a16:creationId xmlns:a16="http://schemas.microsoft.com/office/drawing/2014/main" id="{BE63CE66-D09F-4C64-97DA-31C3E0AE3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4560"/>
              <a:ext cx="610" cy="31"/>
            </a:xfrm>
            <a:custGeom>
              <a:avLst/>
              <a:gdLst>
                <a:gd name="T0" fmla="*/ 538 w 636"/>
                <a:gd name="T1" fmla="*/ 15 h 40"/>
                <a:gd name="T2" fmla="*/ 313 w 636"/>
                <a:gd name="T3" fmla="*/ 0 h 40"/>
                <a:gd name="T4" fmla="*/ 0 w 636"/>
                <a:gd name="T5" fmla="*/ 2 h 40"/>
                <a:gd name="T6" fmla="*/ 133 w 636"/>
                <a:gd name="T7" fmla="*/ 13 h 40"/>
                <a:gd name="T8" fmla="*/ 538 w 636"/>
                <a:gd name="T9" fmla="*/ 1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6"/>
                <a:gd name="T16" fmla="*/ 0 h 40"/>
                <a:gd name="T17" fmla="*/ 636 w 636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6" h="40">
                  <a:moveTo>
                    <a:pt x="636" y="40"/>
                  </a:moveTo>
                  <a:lnTo>
                    <a:pt x="369" y="0"/>
                  </a:lnTo>
                  <a:lnTo>
                    <a:pt x="0" y="3"/>
                  </a:lnTo>
                  <a:lnTo>
                    <a:pt x="157" y="37"/>
                  </a:lnTo>
                  <a:lnTo>
                    <a:pt x="636" y="40"/>
                  </a:lnTo>
                  <a:close/>
                </a:path>
              </a:pathLst>
            </a:custGeom>
            <a:gradFill rotWithShape="0">
              <a:gsLst>
                <a:gs pos="0">
                  <a:srgbClr val="E3E8E9"/>
                </a:gs>
                <a:gs pos="100000">
                  <a:srgbClr val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0" rIns="90000" bIns="0" anchor="ctr"/>
            <a:lstStyle/>
            <a:p>
              <a:pPr latinLnBrk="0">
                <a:defRPr/>
              </a:pPr>
              <a:endParaRPr lang="ko-KR" altLang="en-US" kern="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165" name="Group 655">
            <a:extLst>
              <a:ext uri="{FF2B5EF4-FFF2-40B4-BE49-F238E27FC236}">
                <a16:creationId xmlns:a16="http://schemas.microsoft.com/office/drawing/2014/main" id="{8AB89A79-9BCF-4910-8834-F1A54152B826}"/>
              </a:ext>
            </a:extLst>
          </p:cNvPr>
          <p:cNvGrpSpPr>
            <a:grpSpLocks/>
          </p:cNvGrpSpPr>
          <p:nvPr/>
        </p:nvGrpSpPr>
        <p:grpSpPr bwMode="auto">
          <a:xfrm>
            <a:off x="2582503" y="3368824"/>
            <a:ext cx="1684337" cy="622300"/>
            <a:chOff x="1865" y="1737"/>
            <a:chExt cx="1828" cy="498"/>
          </a:xfrm>
        </p:grpSpPr>
        <p:sp>
          <p:nvSpPr>
            <p:cNvPr id="166" name="AutoShape 656">
              <a:extLst>
                <a:ext uri="{FF2B5EF4-FFF2-40B4-BE49-F238E27FC236}">
                  <a16:creationId xmlns:a16="http://schemas.microsoft.com/office/drawing/2014/main" id="{9E615C06-4536-485A-A15B-E42B874686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530" y="1072"/>
              <a:ext cx="498" cy="1828"/>
            </a:xfrm>
            <a:prstGeom prst="rightArrow">
              <a:avLst>
                <a:gd name="adj1" fmla="val 81722"/>
                <a:gd name="adj2" fmla="val 40148"/>
              </a:avLst>
            </a:prstGeom>
            <a:gradFill rotWithShape="0">
              <a:gsLst>
                <a:gs pos="0">
                  <a:srgbClr val="4E7FA4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vert="eaVert" wrap="none" bIns="0" anchor="ctr"/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7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67" name="AutoShape 657">
              <a:extLst>
                <a:ext uri="{FF2B5EF4-FFF2-40B4-BE49-F238E27FC236}">
                  <a16:creationId xmlns:a16="http://schemas.microsoft.com/office/drawing/2014/main" id="{6914EFE0-439C-42DE-ADB2-520536BB94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549" y="1144"/>
              <a:ext cx="460" cy="1716"/>
            </a:xfrm>
            <a:prstGeom prst="rightArrow">
              <a:avLst>
                <a:gd name="adj1" fmla="val 84565"/>
                <a:gd name="adj2" fmla="val 35718"/>
              </a:avLst>
            </a:prstGeom>
            <a:gradFill rotWithShape="0">
              <a:gsLst>
                <a:gs pos="0">
                  <a:srgbClr val="CCDBE6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vert="eaVert" wrap="none" bIns="0" anchor="ctr"/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7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76" name="Text Box 290">
            <a:extLst>
              <a:ext uri="{FF2B5EF4-FFF2-40B4-BE49-F238E27FC236}">
                <a16:creationId xmlns:a16="http://schemas.microsoft.com/office/drawing/2014/main" id="{F29C34E7-BDA5-488B-ACC5-917E167E8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0055" y="4049852"/>
            <a:ext cx="2741135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kern="0" dirty="0" err="1">
                <a:solidFill>
                  <a:srgbClr val="333333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웹표준</a:t>
            </a:r>
            <a:r>
              <a:rPr kumimoji="1" lang="en-US" altLang="ko-KR" sz="1200" kern="0" dirty="0">
                <a:solidFill>
                  <a:srgbClr val="333333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kumimoji="1" lang="ko-KR" altLang="en-US" sz="1200" kern="0" dirty="0" err="1">
                <a:solidFill>
                  <a:srgbClr val="333333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웹접근성</a:t>
            </a:r>
            <a:r>
              <a:rPr kumimoji="1" lang="en-US" altLang="ko-KR" sz="1200" kern="0" dirty="0">
                <a:solidFill>
                  <a:srgbClr val="333333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kumimoji="1" lang="ko-KR" altLang="en-US" sz="1200" kern="0" dirty="0" err="1">
                <a:solidFill>
                  <a:srgbClr val="333333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보안성</a:t>
            </a:r>
            <a:r>
              <a:rPr kumimoji="1" lang="ko-KR" altLang="en-US" sz="1200" kern="0" dirty="0">
                <a:solidFill>
                  <a:srgbClr val="333333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kumimoji="1" lang="ko-KR" altLang="en-US" sz="1200" kern="0" dirty="0" smtClean="0">
                <a:solidFill>
                  <a:srgbClr val="333333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강화한 </a:t>
            </a:r>
            <a:r>
              <a:rPr kumimoji="1" lang="ko-KR" altLang="en-US" sz="1200" kern="0" dirty="0">
                <a:solidFill>
                  <a:srgbClr val="333333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시스템 구축</a:t>
            </a:r>
          </a:p>
        </p:txBody>
      </p:sp>
      <p:sp>
        <p:nvSpPr>
          <p:cNvPr id="180" name="Rectangle 13"/>
          <p:cNvSpPr>
            <a:spLocks noChangeArrowheads="1"/>
          </p:cNvSpPr>
          <p:nvPr/>
        </p:nvSpPr>
        <p:spPr bwMode="gray">
          <a:xfrm>
            <a:off x="1814776" y="2974402"/>
            <a:ext cx="3228449" cy="25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600" kern="0" dirty="0">
                <a:solidFill>
                  <a:srgbClr val="EB61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모바일 기반 실시간 정보 공유 체계 구축</a:t>
            </a:r>
          </a:p>
        </p:txBody>
      </p:sp>
      <p:grpSp>
        <p:nvGrpSpPr>
          <p:cNvPr id="181" name="그룹 180"/>
          <p:cNvGrpSpPr/>
          <p:nvPr/>
        </p:nvGrpSpPr>
        <p:grpSpPr>
          <a:xfrm>
            <a:off x="1520788" y="2978410"/>
            <a:ext cx="3780420" cy="134504"/>
            <a:chOff x="1753215" y="2773308"/>
            <a:chExt cx="3351569" cy="112027"/>
          </a:xfrm>
        </p:grpSpPr>
        <p:grpSp>
          <p:nvGrpSpPr>
            <p:cNvPr id="182" name="그룹 181"/>
            <p:cNvGrpSpPr/>
            <p:nvPr/>
          </p:nvGrpSpPr>
          <p:grpSpPr>
            <a:xfrm>
              <a:off x="1753215" y="2773308"/>
              <a:ext cx="167172" cy="112027"/>
              <a:chOff x="2083209" y="1553008"/>
              <a:chExt cx="167172" cy="112027"/>
            </a:xfrm>
          </p:grpSpPr>
          <p:sp>
            <p:nvSpPr>
              <p:cNvPr id="186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187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83" name="그룹 182"/>
            <p:cNvGrpSpPr/>
            <p:nvPr/>
          </p:nvGrpSpPr>
          <p:grpSpPr>
            <a:xfrm rot="10800000">
              <a:off x="4937612" y="2773308"/>
              <a:ext cx="167172" cy="112027"/>
              <a:chOff x="2083209" y="1553008"/>
              <a:chExt cx="167172" cy="112027"/>
            </a:xfrm>
          </p:grpSpPr>
          <p:sp>
            <p:nvSpPr>
              <p:cNvPr id="184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88" name="그룹 187"/>
          <p:cNvGrpSpPr/>
          <p:nvPr/>
        </p:nvGrpSpPr>
        <p:grpSpPr>
          <a:xfrm>
            <a:off x="333375" y="7833320"/>
            <a:ext cx="6194424" cy="1451936"/>
            <a:chOff x="333375" y="8045594"/>
            <a:chExt cx="6194424" cy="1451936"/>
          </a:xfrm>
        </p:grpSpPr>
        <p:grpSp>
          <p:nvGrpSpPr>
            <p:cNvPr id="189" name="그룹 188"/>
            <p:cNvGrpSpPr/>
            <p:nvPr/>
          </p:nvGrpSpPr>
          <p:grpSpPr>
            <a:xfrm>
              <a:off x="333375" y="8045594"/>
              <a:ext cx="1476000" cy="1451936"/>
              <a:chOff x="333375" y="8045594"/>
              <a:chExt cx="1476000" cy="1451936"/>
            </a:xfrm>
          </p:grpSpPr>
          <p:sp>
            <p:nvSpPr>
              <p:cNvPr id="202" name="직사각형 201"/>
              <p:cNvSpPr/>
              <p:nvPr/>
            </p:nvSpPr>
            <p:spPr bwMode="gray">
              <a:xfrm>
                <a:off x="333375" y="8045594"/>
                <a:ext cx="1476000" cy="1443558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03" name="직사각형 202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업무 효율성 향상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04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1102866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모바일 환경에서 견문 자료를 신속히 등록하고 관리하여 업무 처리 속도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개선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사용자의 편의성을 고려한 직관적 인터페이스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제공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0" name="그룹 189"/>
            <p:cNvGrpSpPr/>
            <p:nvPr/>
          </p:nvGrpSpPr>
          <p:grpSpPr>
            <a:xfrm>
              <a:off x="1906183" y="8045594"/>
              <a:ext cx="1476000" cy="1451936"/>
              <a:chOff x="333375" y="8045594"/>
              <a:chExt cx="1476000" cy="1451936"/>
            </a:xfrm>
          </p:grpSpPr>
          <p:sp>
            <p:nvSpPr>
              <p:cNvPr id="199" name="직사각형 198"/>
              <p:cNvSpPr/>
              <p:nvPr/>
            </p:nvSpPr>
            <p:spPr bwMode="gray">
              <a:xfrm>
                <a:off x="333375" y="8045594"/>
                <a:ext cx="1476000" cy="1451936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00" name="직사각형 199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실시간 대응력 강화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01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76944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현장 상황 정보를 빠르게 전파하고 의사결정을 지원하여 위험 상황에 즉각 대처 가능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1" name="그룹 190"/>
            <p:cNvGrpSpPr/>
            <p:nvPr/>
          </p:nvGrpSpPr>
          <p:grpSpPr>
            <a:xfrm>
              <a:off x="3478991" y="8045594"/>
              <a:ext cx="1476000" cy="1443558"/>
              <a:chOff x="333375" y="8045594"/>
              <a:chExt cx="1476000" cy="1443558"/>
            </a:xfrm>
          </p:grpSpPr>
          <p:sp>
            <p:nvSpPr>
              <p:cNvPr id="196" name="직사각형 195"/>
              <p:cNvSpPr/>
              <p:nvPr/>
            </p:nvSpPr>
            <p:spPr bwMode="gray">
              <a:xfrm>
                <a:off x="333375" y="8045594"/>
                <a:ext cx="1476000" cy="1443558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97" name="직사각형 196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정보 </a:t>
                </a:r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공유</a:t>
                </a:r>
                <a:r>
                  <a:rPr lang="en-US" altLang="ko-KR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, </a:t>
                </a:r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협업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활성화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98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94897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다양한 멀티미디어 데이터 활용으로 정보의 정확성과 신뢰성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확보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알림 및 피드백 기능으로 지속적인 시스템 개선 가능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2" name="그룹 191"/>
            <p:cNvGrpSpPr/>
            <p:nvPr/>
          </p:nvGrpSpPr>
          <p:grpSpPr>
            <a:xfrm>
              <a:off x="5051799" y="8045594"/>
              <a:ext cx="1476000" cy="1451936"/>
              <a:chOff x="333375" y="8045594"/>
              <a:chExt cx="1476000" cy="1451936"/>
            </a:xfrm>
          </p:grpSpPr>
          <p:sp>
            <p:nvSpPr>
              <p:cNvPr id="193" name="직사각형 192"/>
              <p:cNvSpPr/>
              <p:nvPr/>
            </p:nvSpPr>
            <p:spPr bwMode="gray">
              <a:xfrm>
                <a:off x="333375" y="8045594"/>
                <a:ext cx="1476000" cy="1443558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94" name="직사각형 193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데이터 신뢰성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95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1102866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오프라인 접근 지원으로 네트워크 제약 없이 안정적인 데이터 관리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가능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지휘부와 현장의 원활한 소통으로 조직 내 협업 강화</a:t>
                </a:r>
                <a:endPara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804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3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2.20 </a:t>
            </a:r>
            <a:r>
              <a:rPr lang="ko-KR" altLang="en-US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생성형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AI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이용한 </a:t>
            </a:r>
            <a:r>
              <a:rPr lang="ko-KR" altLang="en-US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견문보고서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검색 및 요약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2.20.1. </a:t>
            </a:r>
            <a:r>
              <a:rPr lang="ko-KR" altLang="en-US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 보고서 작성</a:t>
            </a:r>
            <a:endParaRPr lang="en-US" altLang="ko-KR" sz="1600" b="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4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기존 견문 관리 시스템의 한계를 극복하고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현장 중심의 신속하고 효율적인 업무 환경을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구축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모바일 환경을 통해 시간과 장소에 제약 없이 견문 자료를 등록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평가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열람하고 실시간 정보 공유 및 의사결정 지원을 통해 현장 대응 능력을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강화한다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336651" y="2517948"/>
            <a:ext cx="6184698" cy="6827665"/>
            <a:chOff x="336651" y="2517948"/>
            <a:chExt cx="6184698" cy="6827665"/>
          </a:xfrm>
        </p:grpSpPr>
        <p:sp>
          <p:nvSpPr>
            <p:cNvPr id="72" name="직사각형 71"/>
            <p:cNvSpPr/>
            <p:nvPr/>
          </p:nvSpPr>
          <p:spPr>
            <a:xfrm>
              <a:off x="336651" y="2770361"/>
              <a:ext cx="6184698" cy="6575251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336651" y="2517948"/>
              <a:ext cx="6184698" cy="6827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346076" y="2517619"/>
            <a:ext cx="1770344" cy="194349"/>
            <a:chOff x="339726" y="2214106"/>
            <a:chExt cx="1770344" cy="194349"/>
          </a:xfrm>
        </p:grpSpPr>
        <p:sp>
          <p:nvSpPr>
            <p:cNvPr id="78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1603003" cy="194349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견문 </a:t>
              </a:r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보고서 벡터 </a:t>
              </a:r>
              <a:r>
                <a:rPr lang="en-US" altLang="ko-KR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DB </a:t>
              </a:r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구축</a:t>
              </a:r>
              <a:endParaRPr lang="ko-KR" altLang="en-US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79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5287962" y="2234720"/>
            <a:ext cx="1230644" cy="198000"/>
            <a:chOff x="5287962" y="1441732"/>
            <a:chExt cx="1230644" cy="198000"/>
          </a:xfrm>
        </p:grpSpPr>
        <p:sp>
          <p:nvSpPr>
            <p:cNvPr id="12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26" name="직사각형 12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27" name="직사각형 126"/>
            <p:cNvSpPr/>
            <p:nvPr/>
          </p:nvSpPr>
          <p:spPr bwMode="gray">
            <a:xfrm>
              <a:off x="5996747" y="1471482"/>
              <a:ext cx="445956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900" spc="-30" dirty="0" smtClean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SFR-020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  <p:cxnSp>
        <p:nvCxnSpPr>
          <p:cNvPr id="21" name="직선 연결선 20"/>
          <p:cNvCxnSpPr/>
          <p:nvPr/>
        </p:nvCxnSpPr>
        <p:spPr>
          <a:xfrm>
            <a:off x="1460650" y="3702427"/>
            <a:ext cx="3982270" cy="0"/>
          </a:xfrm>
          <a:prstGeom prst="line">
            <a:avLst/>
          </a:prstGeom>
          <a:solidFill>
            <a:schemeClr val="bg1"/>
          </a:solidFill>
          <a:ln w="25400" algn="ctr">
            <a:solidFill>
              <a:srgbClr val="0069B0"/>
            </a:solidFill>
            <a:round/>
            <a:headEnd/>
            <a:tailEnd/>
          </a:ln>
          <a:effectLst/>
        </p:spPr>
      </p:cxnSp>
      <p:sp>
        <p:nvSpPr>
          <p:cNvPr id="22" name="타원 21"/>
          <p:cNvSpPr/>
          <p:nvPr/>
        </p:nvSpPr>
        <p:spPr>
          <a:xfrm>
            <a:off x="1819960" y="3663047"/>
            <a:ext cx="78761" cy="78761"/>
          </a:xfrm>
          <a:prstGeom prst="ellipse">
            <a:avLst/>
          </a:prstGeom>
          <a:solidFill>
            <a:srgbClr val="0069B0"/>
          </a:solidFill>
          <a:ln>
            <a:noFill/>
          </a:ln>
          <a:effectLst/>
        </p:spPr>
        <p:txBody>
          <a:bodyPr wrap="square" lIns="0" tIns="0" rIns="0" bIns="0" anchor="ctr"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latinLnBrk="0"/>
            <a:endParaRPr lang="ko-KR" altLang="en-US" sz="1200" spc="-3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3412405" y="3663047"/>
            <a:ext cx="78761" cy="78761"/>
          </a:xfrm>
          <a:prstGeom prst="ellipse">
            <a:avLst/>
          </a:prstGeom>
          <a:solidFill>
            <a:srgbClr val="0069B0"/>
          </a:solidFill>
          <a:ln>
            <a:noFill/>
          </a:ln>
          <a:effectLst/>
        </p:spPr>
        <p:txBody>
          <a:bodyPr wrap="square" lIns="0" tIns="0" rIns="0" bIns="0" anchor="ctr"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latinLnBrk="0"/>
            <a:endParaRPr lang="ko-KR" altLang="en-US" sz="1200" spc="-3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004851" y="3663047"/>
            <a:ext cx="78761" cy="78761"/>
          </a:xfrm>
          <a:prstGeom prst="ellipse">
            <a:avLst/>
          </a:prstGeom>
          <a:solidFill>
            <a:srgbClr val="0069B0"/>
          </a:solidFill>
          <a:ln>
            <a:noFill/>
          </a:ln>
          <a:effectLst/>
        </p:spPr>
        <p:txBody>
          <a:bodyPr wrap="square" lIns="0" tIns="0" rIns="0" bIns="0" anchor="ctr"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latinLnBrk="0"/>
            <a:endParaRPr lang="ko-KR" altLang="en-US" sz="1200" spc="-3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476672" y="3044788"/>
            <a:ext cx="1172892" cy="1315278"/>
          </a:xfrm>
          <a:custGeom>
            <a:avLst/>
            <a:gdLst/>
            <a:ahLst/>
            <a:cxnLst/>
            <a:rect l="l" t="t" r="r" b="b"/>
            <a:pathLst>
              <a:path w="1378594" h="1557920">
                <a:moveTo>
                  <a:pt x="679695" y="116973"/>
                </a:moveTo>
                <a:lnTo>
                  <a:pt x="666891" y="119109"/>
                </a:lnTo>
                <a:lnTo>
                  <a:pt x="658354" y="121244"/>
                </a:lnTo>
                <a:lnTo>
                  <a:pt x="647684" y="125515"/>
                </a:lnTo>
                <a:lnTo>
                  <a:pt x="146191" y="415935"/>
                </a:lnTo>
                <a:lnTo>
                  <a:pt x="137655" y="422342"/>
                </a:lnTo>
                <a:lnTo>
                  <a:pt x="129118" y="428748"/>
                </a:lnTo>
                <a:lnTo>
                  <a:pt x="122716" y="437290"/>
                </a:lnTo>
                <a:lnTo>
                  <a:pt x="116314" y="447967"/>
                </a:lnTo>
                <a:lnTo>
                  <a:pt x="112046" y="458644"/>
                </a:lnTo>
                <a:lnTo>
                  <a:pt x="107778" y="467186"/>
                </a:lnTo>
                <a:lnTo>
                  <a:pt x="105644" y="477863"/>
                </a:lnTo>
                <a:lnTo>
                  <a:pt x="103510" y="488540"/>
                </a:lnTo>
                <a:lnTo>
                  <a:pt x="103510" y="1069381"/>
                </a:lnTo>
                <a:lnTo>
                  <a:pt x="105644" y="1080058"/>
                </a:lnTo>
                <a:lnTo>
                  <a:pt x="107778" y="1090735"/>
                </a:lnTo>
                <a:lnTo>
                  <a:pt x="112046" y="1099277"/>
                </a:lnTo>
                <a:lnTo>
                  <a:pt x="116314" y="1109954"/>
                </a:lnTo>
                <a:lnTo>
                  <a:pt x="122716" y="1120632"/>
                </a:lnTo>
                <a:lnTo>
                  <a:pt x="129118" y="1129173"/>
                </a:lnTo>
                <a:lnTo>
                  <a:pt x="137655" y="1135580"/>
                </a:lnTo>
                <a:lnTo>
                  <a:pt x="146191" y="1141986"/>
                </a:lnTo>
                <a:lnTo>
                  <a:pt x="647684" y="1432406"/>
                </a:lnTo>
                <a:lnTo>
                  <a:pt x="658354" y="1436677"/>
                </a:lnTo>
                <a:lnTo>
                  <a:pt x="666891" y="1438813"/>
                </a:lnTo>
                <a:lnTo>
                  <a:pt x="679695" y="1440948"/>
                </a:lnTo>
                <a:lnTo>
                  <a:pt x="690365" y="1440948"/>
                </a:lnTo>
                <a:lnTo>
                  <a:pt x="701035" y="1440948"/>
                </a:lnTo>
                <a:lnTo>
                  <a:pt x="711705" y="1438813"/>
                </a:lnTo>
                <a:lnTo>
                  <a:pt x="722375" y="1436677"/>
                </a:lnTo>
                <a:lnTo>
                  <a:pt x="730911" y="1432406"/>
                </a:lnTo>
                <a:lnTo>
                  <a:pt x="1234539" y="1141986"/>
                </a:lnTo>
                <a:lnTo>
                  <a:pt x="1243075" y="1135580"/>
                </a:lnTo>
                <a:lnTo>
                  <a:pt x="1249477" y="1129173"/>
                </a:lnTo>
                <a:lnTo>
                  <a:pt x="1258013" y="1120632"/>
                </a:lnTo>
                <a:lnTo>
                  <a:pt x="1264415" y="1109954"/>
                </a:lnTo>
                <a:lnTo>
                  <a:pt x="1268683" y="1099277"/>
                </a:lnTo>
                <a:lnTo>
                  <a:pt x="1272951" y="1090735"/>
                </a:lnTo>
                <a:lnTo>
                  <a:pt x="1275085" y="1080058"/>
                </a:lnTo>
                <a:lnTo>
                  <a:pt x="1275085" y="1069381"/>
                </a:lnTo>
                <a:lnTo>
                  <a:pt x="1275085" y="488540"/>
                </a:lnTo>
                <a:lnTo>
                  <a:pt x="1275085" y="477863"/>
                </a:lnTo>
                <a:lnTo>
                  <a:pt x="1272951" y="467186"/>
                </a:lnTo>
                <a:lnTo>
                  <a:pt x="1268683" y="458644"/>
                </a:lnTo>
                <a:lnTo>
                  <a:pt x="1264415" y="447967"/>
                </a:lnTo>
                <a:lnTo>
                  <a:pt x="1258013" y="437290"/>
                </a:lnTo>
                <a:lnTo>
                  <a:pt x="1249477" y="428748"/>
                </a:lnTo>
                <a:lnTo>
                  <a:pt x="1243075" y="422342"/>
                </a:lnTo>
                <a:lnTo>
                  <a:pt x="1234539" y="415935"/>
                </a:lnTo>
                <a:lnTo>
                  <a:pt x="730911" y="125515"/>
                </a:lnTo>
                <a:lnTo>
                  <a:pt x="722375" y="121244"/>
                </a:lnTo>
                <a:lnTo>
                  <a:pt x="711705" y="119109"/>
                </a:lnTo>
                <a:lnTo>
                  <a:pt x="701035" y="116973"/>
                </a:lnTo>
                <a:lnTo>
                  <a:pt x="690365" y="116973"/>
                </a:lnTo>
                <a:close/>
                <a:moveTo>
                  <a:pt x="677997" y="0"/>
                </a:moveTo>
                <a:lnTo>
                  <a:pt x="690553" y="0"/>
                </a:lnTo>
                <a:lnTo>
                  <a:pt x="703108" y="0"/>
                </a:lnTo>
                <a:lnTo>
                  <a:pt x="715664" y="2513"/>
                </a:lnTo>
                <a:lnTo>
                  <a:pt x="728219" y="5026"/>
                </a:lnTo>
                <a:lnTo>
                  <a:pt x="738264" y="10051"/>
                </a:lnTo>
                <a:lnTo>
                  <a:pt x="1330883" y="351789"/>
                </a:lnTo>
                <a:lnTo>
                  <a:pt x="1340928" y="359327"/>
                </a:lnTo>
                <a:lnTo>
                  <a:pt x="1348461" y="366865"/>
                </a:lnTo>
                <a:lnTo>
                  <a:pt x="1358505" y="376916"/>
                </a:lnTo>
                <a:lnTo>
                  <a:pt x="1366039" y="389480"/>
                </a:lnTo>
                <a:lnTo>
                  <a:pt x="1371061" y="402044"/>
                </a:lnTo>
                <a:lnTo>
                  <a:pt x="1376083" y="412095"/>
                </a:lnTo>
                <a:lnTo>
                  <a:pt x="1378594" y="424659"/>
                </a:lnTo>
                <a:lnTo>
                  <a:pt x="1378594" y="437223"/>
                </a:lnTo>
                <a:lnTo>
                  <a:pt x="1378594" y="1120697"/>
                </a:lnTo>
                <a:lnTo>
                  <a:pt x="1378594" y="1133261"/>
                </a:lnTo>
                <a:lnTo>
                  <a:pt x="1376083" y="1145825"/>
                </a:lnTo>
                <a:lnTo>
                  <a:pt x="1371061" y="1155876"/>
                </a:lnTo>
                <a:lnTo>
                  <a:pt x="1366039" y="1168440"/>
                </a:lnTo>
                <a:lnTo>
                  <a:pt x="1358505" y="1181004"/>
                </a:lnTo>
                <a:lnTo>
                  <a:pt x="1348461" y="1191055"/>
                </a:lnTo>
                <a:lnTo>
                  <a:pt x="1340928" y="1198593"/>
                </a:lnTo>
                <a:lnTo>
                  <a:pt x="1330883" y="1206132"/>
                </a:lnTo>
                <a:lnTo>
                  <a:pt x="738264" y="1547869"/>
                </a:lnTo>
                <a:lnTo>
                  <a:pt x="728219" y="1552895"/>
                </a:lnTo>
                <a:lnTo>
                  <a:pt x="715664" y="1555407"/>
                </a:lnTo>
                <a:lnTo>
                  <a:pt x="703108" y="1557920"/>
                </a:lnTo>
                <a:lnTo>
                  <a:pt x="690553" y="1557920"/>
                </a:lnTo>
                <a:lnTo>
                  <a:pt x="677997" y="1557920"/>
                </a:lnTo>
                <a:lnTo>
                  <a:pt x="662931" y="1555407"/>
                </a:lnTo>
                <a:lnTo>
                  <a:pt x="652886" y="1552895"/>
                </a:lnTo>
                <a:lnTo>
                  <a:pt x="640331" y="1547869"/>
                </a:lnTo>
                <a:lnTo>
                  <a:pt x="50222" y="1206132"/>
                </a:lnTo>
                <a:lnTo>
                  <a:pt x="40178" y="1198593"/>
                </a:lnTo>
                <a:lnTo>
                  <a:pt x="30133" y="1191055"/>
                </a:lnTo>
                <a:lnTo>
                  <a:pt x="22600" y="1181004"/>
                </a:lnTo>
                <a:lnTo>
                  <a:pt x="15067" y="1168440"/>
                </a:lnTo>
                <a:lnTo>
                  <a:pt x="10045" y="1155876"/>
                </a:lnTo>
                <a:lnTo>
                  <a:pt x="5022" y="1145825"/>
                </a:lnTo>
                <a:lnTo>
                  <a:pt x="2511" y="1133261"/>
                </a:lnTo>
                <a:lnTo>
                  <a:pt x="0" y="1120697"/>
                </a:lnTo>
                <a:lnTo>
                  <a:pt x="0" y="437223"/>
                </a:lnTo>
                <a:lnTo>
                  <a:pt x="2511" y="424659"/>
                </a:lnTo>
                <a:lnTo>
                  <a:pt x="5022" y="412095"/>
                </a:lnTo>
                <a:lnTo>
                  <a:pt x="10045" y="402044"/>
                </a:lnTo>
                <a:lnTo>
                  <a:pt x="15067" y="389480"/>
                </a:lnTo>
                <a:lnTo>
                  <a:pt x="22600" y="376916"/>
                </a:lnTo>
                <a:lnTo>
                  <a:pt x="30133" y="366865"/>
                </a:lnTo>
                <a:lnTo>
                  <a:pt x="40178" y="359327"/>
                </a:lnTo>
                <a:lnTo>
                  <a:pt x="50222" y="351789"/>
                </a:lnTo>
                <a:lnTo>
                  <a:pt x="640331" y="10051"/>
                </a:lnTo>
                <a:lnTo>
                  <a:pt x="652886" y="5026"/>
                </a:lnTo>
                <a:lnTo>
                  <a:pt x="662931" y="2513"/>
                </a:lnTo>
                <a:close/>
              </a:path>
            </a:pathLst>
          </a:custGeom>
          <a:solidFill>
            <a:srgbClr val="0093D4"/>
          </a:solidFill>
          <a:ln>
            <a:noFill/>
          </a:ln>
          <a:effectLst/>
        </p:spPr>
        <p:txBody>
          <a:bodyPr wrap="square" lIns="0" tIns="0" rIns="0" bIns="0" anchor="ctr"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latinLnBrk="0"/>
            <a:endParaRPr lang="ko-KR" altLang="en-US" sz="1200" spc="-30" dirty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Freeform 6"/>
          <p:cNvSpPr>
            <a:spLocks/>
          </p:cNvSpPr>
          <p:nvPr/>
        </p:nvSpPr>
        <p:spPr bwMode="auto">
          <a:xfrm>
            <a:off x="543842" y="3120556"/>
            <a:ext cx="1038552" cy="1163743"/>
          </a:xfrm>
          <a:custGeom>
            <a:avLst/>
            <a:gdLst>
              <a:gd name="T0" fmla="*/ 0 w 1098"/>
              <a:gd name="T1" fmla="*/ 348 h 1240"/>
              <a:gd name="T2" fmla="*/ 0 w 1098"/>
              <a:gd name="T3" fmla="*/ 348 h 1240"/>
              <a:gd name="T4" fmla="*/ 2 w 1098"/>
              <a:gd name="T5" fmla="*/ 338 h 1240"/>
              <a:gd name="T6" fmla="*/ 4 w 1098"/>
              <a:gd name="T7" fmla="*/ 328 h 1240"/>
              <a:gd name="T8" fmla="*/ 8 w 1098"/>
              <a:gd name="T9" fmla="*/ 320 h 1240"/>
              <a:gd name="T10" fmla="*/ 12 w 1098"/>
              <a:gd name="T11" fmla="*/ 310 h 1240"/>
              <a:gd name="T12" fmla="*/ 18 w 1098"/>
              <a:gd name="T13" fmla="*/ 300 h 1240"/>
              <a:gd name="T14" fmla="*/ 24 w 1098"/>
              <a:gd name="T15" fmla="*/ 292 h 1240"/>
              <a:gd name="T16" fmla="*/ 32 w 1098"/>
              <a:gd name="T17" fmla="*/ 286 h 1240"/>
              <a:gd name="T18" fmla="*/ 40 w 1098"/>
              <a:gd name="T19" fmla="*/ 280 h 1240"/>
              <a:gd name="T20" fmla="*/ 510 w 1098"/>
              <a:gd name="T21" fmla="*/ 8 h 1240"/>
              <a:gd name="T22" fmla="*/ 510 w 1098"/>
              <a:gd name="T23" fmla="*/ 8 h 1240"/>
              <a:gd name="T24" fmla="*/ 520 w 1098"/>
              <a:gd name="T25" fmla="*/ 4 h 1240"/>
              <a:gd name="T26" fmla="*/ 528 w 1098"/>
              <a:gd name="T27" fmla="*/ 2 h 1240"/>
              <a:gd name="T28" fmla="*/ 540 w 1098"/>
              <a:gd name="T29" fmla="*/ 0 h 1240"/>
              <a:gd name="T30" fmla="*/ 550 w 1098"/>
              <a:gd name="T31" fmla="*/ 0 h 1240"/>
              <a:gd name="T32" fmla="*/ 560 w 1098"/>
              <a:gd name="T33" fmla="*/ 0 h 1240"/>
              <a:gd name="T34" fmla="*/ 570 w 1098"/>
              <a:gd name="T35" fmla="*/ 2 h 1240"/>
              <a:gd name="T36" fmla="*/ 580 w 1098"/>
              <a:gd name="T37" fmla="*/ 4 h 1240"/>
              <a:gd name="T38" fmla="*/ 588 w 1098"/>
              <a:gd name="T39" fmla="*/ 8 h 1240"/>
              <a:gd name="T40" fmla="*/ 1060 w 1098"/>
              <a:gd name="T41" fmla="*/ 280 h 1240"/>
              <a:gd name="T42" fmla="*/ 1060 w 1098"/>
              <a:gd name="T43" fmla="*/ 280 h 1240"/>
              <a:gd name="T44" fmla="*/ 1068 w 1098"/>
              <a:gd name="T45" fmla="*/ 286 h 1240"/>
              <a:gd name="T46" fmla="*/ 1074 w 1098"/>
              <a:gd name="T47" fmla="*/ 292 h 1240"/>
              <a:gd name="T48" fmla="*/ 1082 w 1098"/>
              <a:gd name="T49" fmla="*/ 300 h 1240"/>
              <a:gd name="T50" fmla="*/ 1088 w 1098"/>
              <a:gd name="T51" fmla="*/ 310 h 1240"/>
              <a:gd name="T52" fmla="*/ 1092 w 1098"/>
              <a:gd name="T53" fmla="*/ 320 h 1240"/>
              <a:gd name="T54" fmla="*/ 1096 w 1098"/>
              <a:gd name="T55" fmla="*/ 328 h 1240"/>
              <a:gd name="T56" fmla="*/ 1098 w 1098"/>
              <a:gd name="T57" fmla="*/ 338 h 1240"/>
              <a:gd name="T58" fmla="*/ 1098 w 1098"/>
              <a:gd name="T59" fmla="*/ 348 h 1240"/>
              <a:gd name="T60" fmla="*/ 1098 w 1098"/>
              <a:gd name="T61" fmla="*/ 892 h 1240"/>
              <a:gd name="T62" fmla="*/ 1098 w 1098"/>
              <a:gd name="T63" fmla="*/ 892 h 1240"/>
              <a:gd name="T64" fmla="*/ 1098 w 1098"/>
              <a:gd name="T65" fmla="*/ 902 h 1240"/>
              <a:gd name="T66" fmla="*/ 1096 w 1098"/>
              <a:gd name="T67" fmla="*/ 912 h 1240"/>
              <a:gd name="T68" fmla="*/ 1092 w 1098"/>
              <a:gd name="T69" fmla="*/ 920 h 1240"/>
              <a:gd name="T70" fmla="*/ 1088 w 1098"/>
              <a:gd name="T71" fmla="*/ 930 h 1240"/>
              <a:gd name="T72" fmla="*/ 1082 w 1098"/>
              <a:gd name="T73" fmla="*/ 940 h 1240"/>
              <a:gd name="T74" fmla="*/ 1074 w 1098"/>
              <a:gd name="T75" fmla="*/ 948 h 1240"/>
              <a:gd name="T76" fmla="*/ 1068 w 1098"/>
              <a:gd name="T77" fmla="*/ 954 h 1240"/>
              <a:gd name="T78" fmla="*/ 1060 w 1098"/>
              <a:gd name="T79" fmla="*/ 960 h 1240"/>
              <a:gd name="T80" fmla="*/ 588 w 1098"/>
              <a:gd name="T81" fmla="*/ 1232 h 1240"/>
              <a:gd name="T82" fmla="*/ 588 w 1098"/>
              <a:gd name="T83" fmla="*/ 1232 h 1240"/>
              <a:gd name="T84" fmla="*/ 580 w 1098"/>
              <a:gd name="T85" fmla="*/ 1236 h 1240"/>
              <a:gd name="T86" fmla="*/ 570 w 1098"/>
              <a:gd name="T87" fmla="*/ 1238 h 1240"/>
              <a:gd name="T88" fmla="*/ 560 w 1098"/>
              <a:gd name="T89" fmla="*/ 1240 h 1240"/>
              <a:gd name="T90" fmla="*/ 550 w 1098"/>
              <a:gd name="T91" fmla="*/ 1240 h 1240"/>
              <a:gd name="T92" fmla="*/ 540 w 1098"/>
              <a:gd name="T93" fmla="*/ 1240 h 1240"/>
              <a:gd name="T94" fmla="*/ 528 w 1098"/>
              <a:gd name="T95" fmla="*/ 1238 h 1240"/>
              <a:gd name="T96" fmla="*/ 520 w 1098"/>
              <a:gd name="T97" fmla="*/ 1236 h 1240"/>
              <a:gd name="T98" fmla="*/ 510 w 1098"/>
              <a:gd name="T99" fmla="*/ 1232 h 1240"/>
              <a:gd name="T100" fmla="*/ 40 w 1098"/>
              <a:gd name="T101" fmla="*/ 960 h 1240"/>
              <a:gd name="T102" fmla="*/ 40 w 1098"/>
              <a:gd name="T103" fmla="*/ 960 h 1240"/>
              <a:gd name="T104" fmla="*/ 32 w 1098"/>
              <a:gd name="T105" fmla="*/ 954 h 1240"/>
              <a:gd name="T106" fmla="*/ 24 w 1098"/>
              <a:gd name="T107" fmla="*/ 948 h 1240"/>
              <a:gd name="T108" fmla="*/ 18 w 1098"/>
              <a:gd name="T109" fmla="*/ 940 h 1240"/>
              <a:gd name="T110" fmla="*/ 12 w 1098"/>
              <a:gd name="T111" fmla="*/ 930 h 1240"/>
              <a:gd name="T112" fmla="*/ 8 w 1098"/>
              <a:gd name="T113" fmla="*/ 920 h 1240"/>
              <a:gd name="T114" fmla="*/ 4 w 1098"/>
              <a:gd name="T115" fmla="*/ 912 h 1240"/>
              <a:gd name="T116" fmla="*/ 2 w 1098"/>
              <a:gd name="T117" fmla="*/ 902 h 1240"/>
              <a:gd name="T118" fmla="*/ 0 w 1098"/>
              <a:gd name="T119" fmla="*/ 892 h 1240"/>
              <a:gd name="T120" fmla="*/ 0 w 1098"/>
              <a:gd name="T121" fmla="*/ 348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8" h="1240">
                <a:moveTo>
                  <a:pt x="0" y="348"/>
                </a:moveTo>
                <a:lnTo>
                  <a:pt x="0" y="348"/>
                </a:lnTo>
                <a:lnTo>
                  <a:pt x="2" y="338"/>
                </a:lnTo>
                <a:lnTo>
                  <a:pt x="4" y="328"/>
                </a:lnTo>
                <a:lnTo>
                  <a:pt x="8" y="320"/>
                </a:lnTo>
                <a:lnTo>
                  <a:pt x="12" y="310"/>
                </a:lnTo>
                <a:lnTo>
                  <a:pt x="18" y="300"/>
                </a:lnTo>
                <a:lnTo>
                  <a:pt x="24" y="292"/>
                </a:lnTo>
                <a:lnTo>
                  <a:pt x="32" y="286"/>
                </a:lnTo>
                <a:lnTo>
                  <a:pt x="40" y="280"/>
                </a:lnTo>
                <a:lnTo>
                  <a:pt x="510" y="8"/>
                </a:lnTo>
                <a:lnTo>
                  <a:pt x="510" y="8"/>
                </a:lnTo>
                <a:lnTo>
                  <a:pt x="520" y="4"/>
                </a:lnTo>
                <a:lnTo>
                  <a:pt x="528" y="2"/>
                </a:lnTo>
                <a:lnTo>
                  <a:pt x="540" y="0"/>
                </a:lnTo>
                <a:lnTo>
                  <a:pt x="550" y="0"/>
                </a:lnTo>
                <a:lnTo>
                  <a:pt x="560" y="0"/>
                </a:lnTo>
                <a:lnTo>
                  <a:pt x="570" y="2"/>
                </a:lnTo>
                <a:lnTo>
                  <a:pt x="580" y="4"/>
                </a:lnTo>
                <a:lnTo>
                  <a:pt x="588" y="8"/>
                </a:lnTo>
                <a:lnTo>
                  <a:pt x="1060" y="280"/>
                </a:lnTo>
                <a:lnTo>
                  <a:pt x="1060" y="280"/>
                </a:lnTo>
                <a:lnTo>
                  <a:pt x="1068" y="286"/>
                </a:lnTo>
                <a:lnTo>
                  <a:pt x="1074" y="292"/>
                </a:lnTo>
                <a:lnTo>
                  <a:pt x="1082" y="300"/>
                </a:lnTo>
                <a:lnTo>
                  <a:pt x="1088" y="310"/>
                </a:lnTo>
                <a:lnTo>
                  <a:pt x="1092" y="320"/>
                </a:lnTo>
                <a:lnTo>
                  <a:pt x="1096" y="328"/>
                </a:lnTo>
                <a:lnTo>
                  <a:pt x="1098" y="338"/>
                </a:lnTo>
                <a:lnTo>
                  <a:pt x="1098" y="348"/>
                </a:lnTo>
                <a:lnTo>
                  <a:pt x="1098" y="892"/>
                </a:lnTo>
                <a:lnTo>
                  <a:pt x="1098" y="892"/>
                </a:lnTo>
                <a:lnTo>
                  <a:pt x="1098" y="902"/>
                </a:lnTo>
                <a:lnTo>
                  <a:pt x="1096" y="912"/>
                </a:lnTo>
                <a:lnTo>
                  <a:pt x="1092" y="920"/>
                </a:lnTo>
                <a:lnTo>
                  <a:pt x="1088" y="930"/>
                </a:lnTo>
                <a:lnTo>
                  <a:pt x="1082" y="940"/>
                </a:lnTo>
                <a:lnTo>
                  <a:pt x="1074" y="948"/>
                </a:lnTo>
                <a:lnTo>
                  <a:pt x="1068" y="954"/>
                </a:lnTo>
                <a:lnTo>
                  <a:pt x="1060" y="960"/>
                </a:lnTo>
                <a:lnTo>
                  <a:pt x="588" y="1232"/>
                </a:lnTo>
                <a:lnTo>
                  <a:pt x="588" y="1232"/>
                </a:lnTo>
                <a:lnTo>
                  <a:pt x="580" y="1236"/>
                </a:lnTo>
                <a:lnTo>
                  <a:pt x="570" y="1238"/>
                </a:lnTo>
                <a:lnTo>
                  <a:pt x="560" y="1240"/>
                </a:lnTo>
                <a:lnTo>
                  <a:pt x="550" y="1240"/>
                </a:lnTo>
                <a:lnTo>
                  <a:pt x="540" y="1240"/>
                </a:lnTo>
                <a:lnTo>
                  <a:pt x="528" y="1238"/>
                </a:lnTo>
                <a:lnTo>
                  <a:pt x="520" y="1236"/>
                </a:lnTo>
                <a:lnTo>
                  <a:pt x="510" y="1232"/>
                </a:lnTo>
                <a:lnTo>
                  <a:pt x="40" y="960"/>
                </a:lnTo>
                <a:lnTo>
                  <a:pt x="40" y="960"/>
                </a:lnTo>
                <a:lnTo>
                  <a:pt x="32" y="954"/>
                </a:lnTo>
                <a:lnTo>
                  <a:pt x="24" y="948"/>
                </a:lnTo>
                <a:lnTo>
                  <a:pt x="18" y="940"/>
                </a:lnTo>
                <a:lnTo>
                  <a:pt x="12" y="930"/>
                </a:lnTo>
                <a:lnTo>
                  <a:pt x="8" y="920"/>
                </a:lnTo>
                <a:lnTo>
                  <a:pt x="4" y="912"/>
                </a:lnTo>
                <a:lnTo>
                  <a:pt x="2" y="902"/>
                </a:lnTo>
                <a:lnTo>
                  <a:pt x="0" y="892"/>
                </a:lnTo>
                <a:lnTo>
                  <a:pt x="0" y="348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067745" latinLnBrk="0">
              <a:lnSpc>
                <a:spcPct val="90000"/>
              </a:lnSpc>
              <a:defRPr/>
            </a:pPr>
            <a:endParaRPr lang="ko-KR" altLang="en-US" sz="1300" kern="0" spc="-15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Rectangle 395"/>
          <p:cNvSpPr>
            <a:spLocks noChangeArrowheads="1"/>
          </p:cNvSpPr>
          <p:nvPr/>
        </p:nvSpPr>
        <p:spPr bwMode="gray">
          <a:xfrm>
            <a:off x="576674" y="3467830"/>
            <a:ext cx="975400" cy="600614"/>
          </a:xfrm>
          <a:prstGeom prst="rect">
            <a:avLst/>
          </a:prstGeom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defTabSz="74893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SzPct val="70000"/>
              <a:tabLst>
                <a:tab pos="800916" algn="l"/>
              </a:tabLst>
            </a:pP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청킹</a:t>
            </a:r>
            <a:endParaRPr lang="en-US" altLang="ko-KR" sz="120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74893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SzPct val="70000"/>
              <a:tabLst>
                <a:tab pos="800916" algn="l"/>
              </a:tabLst>
            </a:pP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(Chunking)</a:t>
            </a:r>
          </a:p>
          <a:p>
            <a:pPr marL="0" lvl="1" algn="ctr" defTabSz="74893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SzPct val="70000"/>
              <a:tabLst>
                <a:tab pos="800916" algn="l"/>
              </a:tabLst>
            </a:pP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분할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947396" y="3159837"/>
            <a:ext cx="231445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latinLnBrk="0">
              <a:defRPr/>
            </a:pPr>
            <a:r>
              <a:rPr lang="en-US" altLang="ko-KR" sz="1500" dirty="0">
                <a:ln>
                  <a:solidFill>
                    <a:srgbClr val="2EB34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endParaRPr lang="ko-KR" altLang="en-US" sz="1500" dirty="0">
              <a:ln>
                <a:solidFill>
                  <a:srgbClr val="2EB34A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928304" y="3396844"/>
            <a:ext cx="2696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6"/>
          <p:cNvSpPr>
            <a:spLocks/>
          </p:cNvSpPr>
          <p:nvPr/>
        </p:nvSpPr>
        <p:spPr bwMode="auto">
          <a:xfrm>
            <a:off x="2069117" y="3044788"/>
            <a:ext cx="1172892" cy="1315278"/>
          </a:xfrm>
          <a:custGeom>
            <a:avLst/>
            <a:gdLst/>
            <a:ahLst/>
            <a:cxnLst/>
            <a:rect l="l" t="t" r="r" b="b"/>
            <a:pathLst>
              <a:path w="1378594" h="1557920">
                <a:moveTo>
                  <a:pt x="679695" y="116973"/>
                </a:moveTo>
                <a:lnTo>
                  <a:pt x="666891" y="119109"/>
                </a:lnTo>
                <a:lnTo>
                  <a:pt x="658354" y="121244"/>
                </a:lnTo>
                <a:lnTo>
                  <a:pt x="647684" y="125515"/>
                </a:lnTo>
                <a:lnTo>
                  <a:pt x="146191" y="415935"/>
                </a:lnTo>
                <a:lnTo>
                  <a:pt x="137655" y="422342"/>
                </a:lnTo>
                <a:lnTo>
                  <a:pt x="129118" y="428748"/>
                </a:lnTo>
                <a:lnTo>
                  <a:pt x="122716" y="437290"/>
                </a:lnTo>
                <a:lnTo>
                  <a:pt x="116314" y="447967"/>
                </a:lnTo>
                <a:lnTo>
                  <a:pt x="112046" y="458644"/>
                </a:lnTo>
                <a:lnTo>
                  <a:pt x="107778" y="467186"/>
                </a:lnTo>
                <a:lnTo>
                  <a:pt x="105644" y="477863"/>
                </a:lnTo>
                <a:lnTo>
                  <a:pt x="103510" y="488540"/>
                </a:lnTo>
                <a:lnTo>
                  <a:pt x="103510" y="1069381"/>
                </a:lnTo>
                <a:lnTo>
                  <a:pt x="105644" y="1080058"/>
                </a:lnTo>
                <a:lnTo>
                  <a:pt x="107778" y="1090735"/>
                </a:lnTo>
                <a:lnTo>
                  <a:pt x="112046" y="1099277"/>
                </a:lnTo>
                <a:lnTo>
                  <a:pt x="116314" y="1109954"/>
                </a:lnTo>
                <a:lnTo>
                  <a:pt x="122716" y="1120632"/>
                </a:lnTo>
                <a:lnTo>
                  <a:pt x="129118" y="1129173"/>
                </a:lnTo>
                <a:lnTo>
                  <a:pt x="137655" y="1135580"/>
                </a:lnTo>
                <a:lnTo>
                  <a:pt x="146191" y="1141986"/>
                </a:lnTo>
                <a:lnTo>
                  <a:pt x="647684" y="1432406"/>
                </a:lnTo>
                <a:lnTo>
                  <a:pt x="658354" y="1436677"/>
                </a:lnTo>
                <a:lnTo>
                  <a:pt x="666891" y="1438813"/>
                </a:lnTo>
                <a:lnTo>
                  <a:pt x="679695" y="1440948"/>
                </a:lnTo>
                <a:lnTo>
                  <a:pt x="690365" y="1440948"/>
                </a:lnTo>
                <a:lnTo>
                  <a:pt x="701035" y="1440948"/>
                </a:lnTo>
                <a:lnTo>
                  <a:pt x="711705" y="1438813"/>
                </a:lnTo>
                <a:lnTo>
                  <a:pt x="722375" y="1436677"/>
                </a:lnTo>
                <a:lnTo>
                  <a:pt x="730911" y="1432406"/>
                </a:lnTo>
                <a:lnTo>
                  <a:pt x="1234539" y="1141986"/>
                </a:lnTo>
                <a:lnTo>
                  <a:pt x="1243075" y="1135580"/>
                </a:lnTo>
                <a:lnTo>
                  <a:pt x="1249477" y="1129173"/>
                </a:lnTo>
                <a:lnTo>
                  <a:pt x="1258013" y="1120632"/>
                </a:lnTo>
                <a:lnTo>
                  <a:pt x="1264415" y="1109954"/>
                </a:lnTo>
                <a:lnTo>
                  <a:pt x="1268683" y="1099277"/>
                </a:lnTo>
                <a:lnTo>
                  <a:pt x="1272951" y="1090735"/>
                </a:lnTo>
                <a:lnTo>
                  <a:pt x="1275085" y="1080058"/>
                </a:lnTo>
                <a:lnTo>
                  <a:pt x="1275085" y="1069381"/>
                </a:lnTo>
                <a:lnTo>
                  <a:pt x="1275085" y="488540"/>
                </a:lnTo>
                <a:lnTo>
                  <a:pt x="1275085" y="477863"/>
                </a:lnTo>
                <a:lnTo>
                  <a:pt x="1272951" y="467186"/>
                </a:lnTo>
                <a:lnTo>
                  <a:pt x="1268683" y="458644"/>
                </a:lnTo>
                <a:lnTo>
                  <a:pt x="1264415" y="447967"/>
                </a:lnTo>
                <a:lnTo>
                  <a:pt x="1258013" y="437290"/>
                </a:lnTo>
                <a:lnTo>
                  <a:pt x="1249477" y="428748"/>
                </a:lnTo>
                <a:lnTo>
                  <a:pt x="1243075" y="422342"/>
                </a:lnTo>
                <a:lnTo>
                  <a:pt x="1234539" y="415935"/>
                </a:lnTo>
                <a:lnTo>
                  <a:pt x="730911" y="125515"/>
                </a:lnTo>
                <a:lnTo>
                  <a:pt x="722375" y="121244"/>
                </a:lnTo>
                <a:lnTo>
                  <a:pt x="711705" y="119109"/>
                </a:lnTo>
                <a:lnTo>
                  <a:pt x="701035" y="116973"/>
                </a:lnTo>
                <a:lnTo>
                  <a:pt x="690365" y="116973"/>
                </a:lnTo>
                <a:close/>
                <a:moveTo>
                  <a:pt x="677997" y="0"/>
                </a:moveTo>
                <a:lnTo>
                  <a:pt x="690553" y="0"/>
                </a:lnTo>
                <a:lnTo>
                  <a:pt x="703108" y="0"/>
                </a:lnTo>
                <a:lnTo>
                  <a:pt x="715664" y="2513"/>
                </a:lnTo>
                <a:lnTo>
                  <a:pt x="728219" y="5026"/>
                </a:lnTo>
                <a:lnTo>
                  <a:pt x="738264" y="10051"/>
                </a:lnTo>
                <a:lnTo>
                  <a:pt x="1330883" y="351789"/>
                </a:lnTo>
                <a:lnTo>
                  <a:pt x="1340928" y="359327"/>
                </a:lnTo>
                <a:lnTo>
                  <a:pt x="1348461" y="366865"/>
                </a:lnTo>
                <a:lnTo>
                  <a:pt x="1358505" y="376916"/>
                </a:lnTo>
                <a:lnTo>
                  <a:pt x="1366039" y="389480"/>
                </a:lnTo>
                <a:lnTo>
                  <a:pt x="1371061" y="402044"/>
                </a:lnTo>
                <a:lnTo>
                  <a:pt x="1376083" y="412095"/>
                </a:lnTo>
                <a:lnTo>
                  <a:pt x="1378594" y="424659"/>
                </a:lnTo>
                <a:lnTo>
                  <a:pt x="1378594" y="437223"/>
                </a:lnTo>
                <a:lnTo>
                  <a:pt x="1378594" y="1120697"/>
                </a:lnTo>
                <a:lnTo>
                  <a:pt x="1378594" y="1133261"/>
                </a:lnTo>
                <a:lnTo>
                  <a:pt x="1376083" y="1145825"/>
                </a:lnTo>
                <a:lnTo>
                  <a:pt x="1371061" y="1155876"/>
                </a:lnTo>
                <a:lnTo>
                  <a:pt x="1366039" y="1168440"/>
                </a:lnTo>
                <a:lnTo>
                  <a:pt x="1358505" y="1181004"/>
                </a:lnTo>
                <a:lnTo>
                  <a:pt x="1348461" y="1191055"/>
                </a:lnTo>
                <a:lnTo>
                  <a:pt x="1340928" y="1198593"/>
                </a:lnTo>
                <a:lnTo>
                  <a:pt x="1330883" y="1206132"/>
                </a:lnTo>
                <a:lnTo>
                  <a:pt x="738264" y="1547869"/>
                </a:lnTo>
                <a:lnTo>
                  <a:pt x="728219" y="1552895"/>
                </a:lnTo>
                <a:lnTo>
                  <a:pt x="715664" y="1555407"/>
                </a:lnTo>
                <a:lnTo>
                  <a:pt x="703108" y="1557920"/>
                </a:lnTo>
                <a:lnTo>
                  <a:pt x="690553" y="1557920"/>
                </a:lnTo>
                <a:lnTo>
                  <a:pt x="677997" y="1557920"/>
                </a:lnTo>
                <a:lnTo>
                  <a:pt x="662931" y="1555407"/>
                </a:lnTo>
                <a:lnTo>
                  <a:pt x="652886" y="1552895"/>
                </a:lnTo>
                <a:lnTo>
                  <a:pt x="640331" y="1547869"/>
                </a:lnTo>
                <a:lnTo>
                  <a:pt x="50222" y="1206132"/>
                </a:lnTo>
                <a:lnTo>
                  <a:pt x="40178" y="1198593"/>
                </a:lnTo>
                <a:lnTo>
                  <a:pt x="30133" y="1191055"/>
                </a:lnTo>
                <a:lnTo>
                  <a:pt x="22600" y="1181004"/>
                </a:lnTo>
                <a:lnTo>
                  <a:pt x="15067" y="1168440"/>
                </a:lnTo>
                <a:lnTo>
                  <a:pt x="10045" y="1155876"/>
                </a:lnTo>
                <a:lnTo>
                  <a:pt x="5022" y="1145825"/>
                </a:lnTo>
                <a:lnTo>
                  <a:pt x="2511" y="1133261"/>
                </a:lnTo>
                <a:lnTo>
                  <a:pt x="0" y="1120697"/>
                </a:lnTo>
                <a:lnTo>
                  <a:pt x="0" y="437223"/>
                </a:lnTo>
                <a:lnTo>
                  <a:pt x="2511" y="424659"/>
                </a:lnTo>
                <a:lnTo>
                  <a:pt x="5022" y="412095"/>
                </a:lnTo>
                <a:lnTo>
                  <a:pt x="10045" y="402044"/>
                </a:lnTo>
                <a:lnTo>
                  <a:pt x="15067" y="389480"/>
                </a:lnTo>
                <a:lnTo>
                  <a:pt x="22600" y="376916"/>
                </a:lnTo>
                <a:lnTo>
                  <a:pt x="30133" y="366865"/>
                </a:lnTo>
                <a:lnTo>
                  <a:pt x="40178" y="359327"/>
                </a:lnTo>
                <a:lnTo>
                  <a:pt x="50222" y="351789"/>
                </a:lnTo>
                <a:lnTo>
                  <a:pt x="640331" y="10051"/>
                </a:lnTo>
                <a:lnTo>
                  <a:pt x="652886" y="5026"/>
                </a:lnTo>
                <a:lnTo>
                  <a:pt x="662931" y="2513"/>
                </a:lnTo>
                <a:close/>
              </a:path>
            </a:pathLst>
          </a:custGeom>
          <a:solidFill>
            <a:srgbClr val="0093D4"/>
          </a:solidFill>
          <a:ln>
            <a:noFill/>
          </a:ln>
          <a:effectLst/>
        </p:spPr>
        <p:txBody>
          <a:bodyPr wrap="square" lIns="0" tIns="0" rIns="0" bIns="0" anchor="ctr"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latinLnBrk="0"/>
            <a:endParaRPr lang="ko-KR" altLang="en-US" sz="1200" spc="-30" dirty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" name="Freeform 6"/>
          <p:cNvSpPr>
            <a:spLocks/>
          </p:cNvSpPr>
          <p:nvPr/>
        </p:nvSpPr>
        <p:spPr bwMode="auto">
          <a:xfrm>
            <a:off x="2136287" y="3120557"/>
            <a:ext cx="1038552" cy="1163743"/>
          </a:xfrm>
          <a:custGeom>
            <a:avLst/>
            <a:gdLst>
              <a:gd name="T0" fmla="*/ 0 w 1098"/>
              <a:gd name="T1" fmla="*/ 348 h 1240"/>
              <a:gd name="T2" fmla="*/ 0 w 1098"/>
              <a:gd name="T3" fmla="*/ 348 h 1240"/>
              <a:gd name="T4" fmla="*/ 2 w 1098"/>
              <a:gd name="T5" fmla="*/ 338 h 1240"/>
              <a:gd name="T6" fmla="*/ 4 w 1098"/>
              <a:gd name="T7" fmla="*/ 328 h 1240"/>
              <a:gd name="T8" fmla="*/ 8 w 1098"/>
              <a:gd name="T9" fmla="*/ 320 h 1240"/>
              <a:gd name="T10" fmla="*/ 12 w 1098"/>
              <a:gd name="T11" fmla="*/ 310 h 1240"/>
              <a:gd name="T12" fmla="*/ 18 w 1098"/>
              <a:gd name="T13" fmla="*/ 300 h 1240"/>
              <a:gd name="T14" fmla="*/ 24 w 1098"/>
              <a:gd name="T15" fmla="*/ 292 h 1240"/>
              <a:gd name="T16" fmla="*/ 32 w 1098"/>
              <a:gd name="T17" fmla="*/ 286 h 1240"/>
              <a:gd name="T18" fmla="*/ 40 w 1098"/>
              <a:gd name="T19" fmla="*/ 280 h 1240"/>
              <a:gd name="T20" fmla="*/ 510 w 1098"/>
              <a:gd name="T21" fmla="*/ 8 h 1240"/>
              <a:gd name="T22" fmla="*/ 510 w 1098"/>
              <a:gd name="T23" fmla="*/ 8 h 1240"/>
              <a:gd name="T24" fmla="*/ 520 w 1098"/>
              <a:gd name="T25" fmla="*/ 4 h 1240"/>
              <a:gd name="T26" fmla="*/ 528 w 1098"/>
              <a:gd name="T27" fmla="*/ 2 h 1240"/>
              <a:gd name="T28" fmla="*/ 540 w 1098"/>
              <a:gd name="T29" fmla="*/ 0 h 1240"/>
              <a:gd name="T30" fmla="*/ 550 w 1098"/>
              <a:gd name="T31" fmla="*/ 0 h 1240"/>
              <a:gd name="T32" fmla="*/ 560 w 1098"/>
              <a:gd name="T33" fmla="*/ 0 h 1240"/>
              <a:gd name="T34" fmla="*/ 570 w 1098"/>
              <a:gd name="T35" fmla="*/ 2 h 1240"/>
              <a:gd name="T36" fmla="*/ 580 w 1098"/>
              <a:gd name="T37" fmla="*/ 4 h 1240"/>
              <a:gd name="T38" fmla="*/ 588 w 1098"/>
              <a:gd name="T39" fmla="*/ 8 h 1240"/>
              <a:gd name="T40" fmla="*/ 1060 w 1098"/>
              <a:gd name="T41" fmla="*/ 280 h 1240"/>
              <a:gd name="T42" fmla="*/ 1060 w 1098"/>
              <a:gd name="T43" fmla="*/ 280 h 1240"/>
              <a:gd name="T44" fmla="*/ 1068 w 1098"/>
              <a:gd name="T45" fmla="*/ 286 h 1240"/>
              <a:gd name="T46" fmla="*/ 1074 w 1098"/>
              <a:gd name="T47" fmla="*/ 292 h 1240"/>
              <a:gd name="T48" fmla="*/ 1082 w 1098"/>
              <a:gd name="T49" fmla="*/ 300 h 1240"/>
              <a:gd name="T50" fmla="*/ 1088 w 1098"/>
              <a:gd name="T51" fmla="*/ 310 h 1240"/>
              <a:gd name="T52" fmla="*/ 1092 w 1098"/>
              <a:gd name="T53" fmla="*/ 320 h 1240"/>
              <a:gd name="T54" fmla="*/ 1096 w 1098"/>
              <a:gd name="T55" fmla="*/ 328 h 1240"/>
              <a:gd name="T56" fmla="*/ 1098 w 1098"/>
              <a:gd name="T57" fmla="*/ 338 h 1240"/>
              <a:gd name="T58" fmla="*/ 1098 w 1098"/>
              <a:gd name="T59" fmla="*/ 348 h 1240"/>
              <a:gd name="T60" fmla="*/ 1098 w 1098"/>
              <a:gd name="T61" fmla="*/ 892 h 1240"/>
              <a:gd name="T62" fmla="*/ 1098 w 1098"/>
              <a:gd name="T63" fmla="*/ 892 h 1240"/>
              <a:gd name="T64" fmla="*/ 1098 w 1098"/>
              <a:gd name="T65" fmla="*/ 902 h 1240"/>
              <a:gd name="T66" fmla="*/ 1096 w 1098"/>
              <a:gd name="T67" fmla="*/ 912 h 1240"/>
              <a:gd name="T68" fmla="*/ 1092 w 1098"/>
              <a:gd name="T69" fmla="*/ 920 h 1240"/>
              <a:gd name="T70" fmla="*/ 1088 w 1098"/>
              <a:gd name="T71" fmla="*/ 930 h 1240"/>
              <a:gd name="T72" fmla="*/ 1082 w 1098"/>
              <a:gd name="T73" fmla="*/ 940 h 1240"/>
              <a:gd name="T74" fmla="*/ 1074 w 1098"/>
              <a:gd name="T75" fmla="*/ 948 h 1240"/>
              <a:gd name="T76" fmla="*/ 1068 w 1098"/>
              <a:gd name="T77" fmla="*/ 954 h 1240"/>
              <a:gd name="T78" fmla="*/ 1060 w 1098"/>
              <a:gd name="T79" fmla="*/ 960 h 1240"/>
              <a:gd name="T80" fmla="*/ 588 w 1098"/>
              <a:gd name="T81" fmla="*/ 1232 h 1240"/>
              <a:gd name="T82" fmla="*/ 588 w 1098"/>
              <a:gd name="T83" fmla="*/ 1232 h 1240"/>
              <a:gd name="T84" fmla="*/ 580 w 1098"/>
              <a:gd name="T85" fmla="*/ 1236 h 1240"/>
              <a:gd name="T86" fmla="*/ 570 w 1098"/>
              <a:gd name="T87" fmla="*/ 1238 h 1240"/>
              <a:gd name="T88" fmla="*/ 560 w 1098"/>
              <a:gd name="T89" fmla="*/ 1240 h 1240"/>
              <a:gd name="T90" fmla="*/ 550 w 1098"/>
              <a:gd name="T91" fmla="*/ 1240 h 1240"/>
              <a:gd name="T92" fmla="*/ 540 w 1098"/>
              <a:gd name="T93" fmla="*/ 1240 h 1240"/>
              <a:gd name="T94" fmla="*/ 528 w 1098"/>
              <a:gd name="T95" fmla="*/ 1238 h 1240"/>
              <a:gd name="T96" fmla="*/ 520 w 1098"/>
              <a:gd name="T97" fmla="*/ 1236 h 1240"/>
              <a:gd name="T98" fmla="*/ 510 w 1098"/>
              <a:gd name="T99" fmla="*/ 1232 h 1240"/>
              <a:gd name="T100" fmla="*/ 40 w 1098"/>
              <a:gd name="T101" fmla="*/ 960 h 1240"/>
              <a:gd name="T102" fmla="*/ 40 w 1098"/>
              <a:gd name="T103" fmla="*/ 960 h 1240"/>
              <a:gd name="T104" fmla="*/ 32 w 1098"/>
              <a:gd name="T105" fmla="*/ 954 h 1240"/>
              <a:gd name="T106" fmla="*/ 24 w 1098"/>
              <a:gd name="T107" fmla="*/ 948 h 1240"/>
              <a:gd name="T108" fmla="*/ 18 w 1098"/>
              <a:gd name="T109" fmla="*/ 940 h 1240"/>
              <a:gd name="T110" fmla="*/ 12 w 1098"/>
              <a:gd name="T111" fmla="*/ 930 h 1240"/>
              <a:gd name="T112" fmla="*/ 8 w 1098"/>
              <a:gd name="T113" fmla="*/ 920 h 1240"/>
              <a:gd name="T114" fmla="*/ 4 w 1098"/>
              <a:gd name="T115" fmla="*/ 912 h 1240"/>
              <a:gd name="T116" fmla="*/ 2 w 1098"/>
              <a:gd name="T117" fmla="*/ 902 h 1240"/>
              <a:gd name="T118" fmla="*/ 0 w 1098"/>
              <a:gd name="T119" fmla="*/ 892 h 1240"/>
              <a:gd name="T120" fmla="*/ 0 w 1098"/>
              <a:gd name="T121" fmla="*/ 348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8" h="1240">
                <a:moveTo>
                  <a:pt x="0" y="348"/>
                </a:moveTo>
                <a:lnTo>
                  <a:pt x="0" y="348"/>
                </a:lnTo>
                <a:lnTo>
                  <a:pt x="2" y="338"/>
                </a:lnTo>
                <a:lnTo>
                  <a:pt x="4" y="328"/>
                </a:lnTo>
                <a:lnTo>
                  <a:pt x="8" y="320"/>
                </a:lnTo>
                <a:lnTo>
                  <a:pt x="12" y="310"/>
                </a:lnTo>
                <a:lnTo>
                  <a:pt x="18" y="300"/>
                </a:lnTo>
                <a:lnTo>
                  <a:pt x="24" y="292"/>
                </a:lnTo>
                <a:lnTo>
                  <a:pt x="32" y="286"/>
                </a:lnTo>
                <a:lnTo>
                  <a:pt x="40" y="280"/>
                </a:lnTo>
                <a:lnTo>
                  <a:pt x="510" y="8"/>
                </a:lnTo>
                <a:lnTo>
                  <a:pt x="510" y="8"/>
                </a:lnTo>
                <a:lnTo>
                  <a:pt x="520" y="4"/>
                </a:lnTo>
                <a:lnTo>
                  <a:pt x="528" y="2"/>
                </a:lnTo>
                <a:lnTo>
                  <a:pt x="540" y="0"/>
                </a:lnTo>
                <a:lnTo>
                  <a:pt x="550" y="0"/>
                </a:lnTo>
                <a:lnTo>
                  <a:pt x="560" y="0"/>
                </a:lnTo>
                <a:lnTo>
                  <a:pt x="570" y="2"/>
                </a:lnTo>
                <a:lnTo>
                  <a:pt x="580" y="4"/>
                </a:lnTo>
                <a:lnTo>
                  <a:pt x="588" y="8"/>
                </a:lnTo>
                <a:lnTo>
                  <a:pt x="1060" y="280"/>
                </a:lnTo>
                <a:lnTo>
                  <a:pt x="1060" y="280"/>
                </a:lnTo>
                <a:lnTo>
                  <a:pt x="1068" y="286"/>
                </a:lnTo>
                <a:lnTo>
                  <a:pt x="1074" y="292"/>
                </a:lnTo>
                <a:lnTo>
                  <a:pt x="1082" y="300"/>
                </a:lnTo>
                <a:lnTo>
                  <a:pt x="1088" y="310"/>
                </a:lnTo>
                <a:lnTo>
                  <a:pt x="1092" y="320"/>
                </a:lnTo>
                <a:lnTo>
                  <a:pt x="1096" y="328"/>
                </a:lnTo>
                <a:lnTo>
                  <a:pt x="1098" y="338"/>
                </a:lnTo>
                <a:lnTo>
                  <a:pt x="1098" y="348"/>
                </a:lnTo>
                <a:lnTo>
                  <a:pt x="1098" y="892"/>
                </a:lnTo>
                <a:lnTo>
                  <a:pt x="1098" y="892"/>
                </a:lnTo>
                <a:lnTo>
                  <a:pt x="1098" y="902"/>
                </a:lnTo>
                <a:lnTo>
                  <a:pt x="1096" y="912"/>
                </a:lnTo>
                <a:lnTo>
                  <a:pt x="1092" y="920"/>
                </a:lnTo>
                <a:lnTo>
                  <a:pt x="1088" y="930"/>
                </a:lnTo>
                <a:lnTo>
                  <a:pt x="1082" y="940"/>
                </a:lnTo>
                <a:lnTo>
                  <a:pt x="1074" y="948"/>
                </a:lnTo>
                <a:lnTo>
                  <a:pt x="1068" y="954"/>
                </a:lnTo>
                <a:lnTo>
                  <a:pt x="1060" y="960"/>
                </a:lnTo>
                <a:lnTo>
                  <a:pt x="588" y="1232"/>
                </a:lnTo>
                <a:lnTo>
                  <a:pt x="588" y="1232"/>
                </a:lnTo>
                <a:lnTo>
                  <a:pt x="580" y="1236"/>
                </a:lnTo>
                <a:lnTo>
                  <a:pt x="570" y="1238"/>
                </a:lnTo>
                <a:lnTo>
                  <a:pt x="560" y="1240"/>
                </a:lnTo>
                <a:lnTo>
                  <a:pt x="550" y="1240"/>
                </a:lnTo>
                <a:lnTo>
                  <a:pt x="540" y="1240"/>
                </a:lnTo>
                <a:lnTo>
                  <a:pt x="528" y="1238"/>
                </a:lnTo>
                <a:lnTo>
                  <a:pt x="520" y="1236"/>
                </a:lnTo>
                <a:lnTo>
                  <a:pt x="510" y="1232"/>
                </a:lnTo>
                <a:lnTo>
                  <a:pt x="40" y="960"/>
                </a:lnTo>
                <a:lnTo>
                  <a:pt x="40" y="960"/>
                </a:lnTo>
                <a:lnTo>
                  <a:pt x="32" y="954"/>
                </a:lnTo>
                <a:lnTo>
                  <a:pt x="24" y="948"/>
                </a:lnTo>
                <a:lnTo>
                  <a:pt x="18" y="940"/>
                </a:lnTo>
                <a:lnTo>
                  <a:pt x="12" y="930"/>
                </a:lnTo>
                <a:lnTo>
                  <a:pt x="8" y="920"/>
                </a:lnTo>
                <a:lnTo>
                  <a:pt x="4" y="912"/>
                </a:lnTo>
                <a:lnTo>
                  <a:pt x="2" y="902"/>
                </a:lnTo>
                <a:lnTo>
                  <a:pt x="0" y="892"/>
                </a:lnTo>
                <a:lnTo>
                  <a:pt x="0" y="348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067745" latinLnBrk="0">
              <a:lnSpc>
                <a:spcPct val="90000"/>
              </a:lnSpc>
              <a:defRPr/>
            </a:pPr>
            <a:endParaRPr lang="ko-KR" altLang="en-US" sz="1300" kern="0" spc="-15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Rectangle 395"/>
          <p:cNvSpPr>
            <a:spLocks noChangeArrowheads="1"/>
          </p:cNvSpPr>
          <p:nvPr/>
        </p:nvSpPr>
        <p:spPr bwMode="gray">
          <a:xfrm>
            <a:off x="2220116" y="3569398"/>
            <a:ext cx="873409" cy="397481"/>
          </a:xfrm>
          <a:prstGeom prst="rect">
            <a:avLst/>
          </a:prstGeom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defTabSz="74893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SzPct val="70000"/>
              <a:tabLst>
                <a:tab pos="800916" algn="l"/>
              </a:tabLst>
            </a:pPr>
            <a:r>
              <a:rPr lang="ko-KR" alt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임베딩</a:t>
            </a:r>
            <a:endParaRPr lang="en-US" altLang="ko-KR" sz="120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74893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SzPct val="70000"/>
              <a:tabLst>
                <a:tab pos="800916" algn="l"/>
              </a:tabLst>
            </a:pP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(Embedding)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539841" y="3159838"/>
            <a:ext cx="231445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latinLnBrk="0">
              <a:defRPr/>
            </a:pPr>
            <a:r>
              <a:rPr lang="en-US" altLang="ko-KR" sz="1500" dirty="0">
                <a:ln>
                  <a:solidFill>
                    <a:srgbClr val="2EB34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endParaRPr lang="ko-KR" altLang="en-US" sz="1500" dirty="0">
              <a:ln>
                <a:solidFill>
                  <a:srgbClr val="2EB34A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2520749" y="3396845"/>
            <a:ext cx="2696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 6"/>
          <p:cNvSpPr>
            <a:spLocks/>
          </p:cNvSpPr>
          <p:nvPr/>
        </p:nvSpPr>
        <p:spPr bwMode="auto">
          <a:xfrm>
            <a:off x="3661563" y="3044788"/>
            <a:ext cx="1172892" cy="1315278"/>
          </a:xfrm>
          <a:custGeom>
            <a:avLst/>
            <a:gdLst/>
            <a:ahLst/>
            <a:cxnLst/>
            <a:rect l="l" t="t" r="r" b="b"/>
            <a:pathLst>
              <a:path w="1378594" h="1557920">
                <a:moveTo>
                  <a:pt x="679695" y="116973"/>
                </a:moveTo>
                <a:lnTo>
                  <a:pt x="666891" y="119109"/>
                </a:lnTo>
                <a:lnTo>
                  <a:pt x="658354" y="121244"/>
                </a:lnTo>
                <a:lnTo>
                  <a:pt x="647684" y="125515"/>
                </a:lnTo>
                <a:lnTo>
                  <a:pt x="146191" y="415935"/>
                </a:lnTo>
                <a:lnTo>
                  <a:pt x="137655" y="422342"/>
                </a:lnTo>
                <a:lnTo>
                  <a:pt x="129118" y="428748"/>
                </a:lnTo>
                <a:lnTo>
                  <a:pt x="122716" y="437290"/>
                </a:lnTo>
                <a:lnTo>
                  <a:pt x="116314" y="447967"/>
                </a:lnTo>
                <a:lnTo>
                  <a:pt x="112046" y="458644"/>
                </a:lnTo>
                <a:lnTo>
                  <a:pt x="107778" y="467186"/>
                </a:lnTo>
                <a:lnTo>
                  <a:pt x="105644" y="477863"/>
                </a:lnTo>
                <a:lnTo>
                  <a:pt x="103510" y="488540"/>
                </a:lnTo>
                <a:lnTo>
                  <a:pt x="103510" y="1069381"/>
                </a:lnTo>
                <a:lnTo>
                  <a:pt x="105644" y="1080058"/>
                </a:lnTo>
                <a:lnTo>
                  <a:pt x="107778" y="1090735"/>
                </a:lnTo>
                <a:lnTo>
                  <a:pt x="112046" y="1099277"/>
                </a:lnTo>
                <a:lnTo>
                  <a:pt x="116314" y="1109954"/>
                </a:lnTo>
                <a:lnTo>
                  <a:pt x="122716" y="1120632"/>
                </a:lnTo>
                <a:lnTo>
                  <a:pt x="129118" y="1129173"/>
                </a:lnTo>
                <a:lnTo>
                  <a:pt x="137655" y="1135580"/>
                </a:lnTo>
                <a:lnTo>
                  <a:pt x="146191" y="1141986"/>
                </a:lnTo>
                <a:lnTo>
                  <a:pt x="647684" y="1432406"/>
                </a:lnTo>
                <a:lnTo>
                  <a:pt x="658354" y="1436677"/>
                </a:lnTo>
                <a:lnTo>
                  <a:pt x="666891" y="1438813"/>
                </a:lnTo>
                <a:lnTo>
                  <a:pt x="679695" y="1440948"/>
                </a:lnTo>
                <a:lnTo>
                  <a:pt x="690365" y="1440948"/>
                </a:lnTo>
                <a:lnTo>
                  <a:pt x="701035" y="1440948"/>
                </a:lnTo>
                <a:lnTo>
                  <a:pt x="711705" y="1438813"/>
                </a:lnTo>
                <a:lnTo>
                  <a:pt x="722375" y="1436677"/>
                </a:lnTo>
                <a:lnTo>
                  <a:pt x="730911" y="1432406"/>
                </a:lnTo>
                <a:lnTo>
                  <a:pt x="1234539" y="1141986"/>
                </a:lnTo>
                <a:lnTo>
                  <a:pt x="1243075" y="1135580"/>
                </a:lnTo>
                <a:lnTo>
                  <a:pt x="1249477" y="1129173"/>
                </a:lnTo>
                <a:lnTo>
                  <a:pt x="1258013" y="1120632"/>
                </a:lnTo>
                <a:lnTo>
                  <a:pt x="1264415" y="1109954"/>
                </a:lnTo>
                <a:lnTo>
                  <a:pt x="1268683" y="1099277"/>
                </a:lnTo>
                <a:lnTo>
                  <a:pt x="1272951" y="1090735"/>
                </a:lnTo>
                <a:lnTo>
                  <a:pt x="1275085" y="1080058"/>
                </a:lnTo>
                <a:lnTo>
                  <a:pt x="1275085" y="1069381"/>
                </a:lnTo>
                <a:lnTo>
                  <a:pt x="1275085" y="488540"/>
                </a:lnTo>
                <a:lnTo>
                  <a:pt x="1275085" y="477863"/>
                </a:lnTo>
                <a:lnTo>
                  <a:pt x="1272951" y="467186"/>
                </a:lnTo>
                <a:lnTo>
                  <a:pt x="1268683" y="458644"/>
                </a:lnTo>
                <a:lnTo>
                  <a:pt x="1264415" y="447967"/>
                </a:lnTo>
                <a:lnTo>
                  <a:pt x="1258013" y="437290"/>
                </a:lnTo>
                <a:lnTo>
                  <a:pt x="1249477" y="428748"/>
                </a:lnTo>
                <a:lnTo>
                  <a:pt x="1243075" y="422342"/>
                </a:lnTo>
                <a:lnTo>
                  <a:pt x="1234539" y="415935"/>
                </a:lnTo>
                <a:lnTo>
                  <a:pt x="730911" y="125515"/>
                </a:lnTo>
                <a:lnTo>
                  <a:pt x="722375" y="121244"/>
                </a:lnTo>
                <a:lnTo>
                  <a:pt x="711705" y="119109"/>
                </a:lnTo>
                <a:lnTo>
                  <a:pt x="701035" y="116973"/>
                </a:lnTo>
                <a:lnTo>
                  <a:pt x="690365" y="116973"/>
                </a:lnTo>
                <a:close/>
                <a:moveTo>
                  <a:pt x="677997" y="0"/>
                </a:moveTo>
                <a:lnTo>
                  <a:pt x="690553" y="0"/>
                </a:lnTo>
                <a:lnTo>
                  <a:pt x="703108" y="0"/>
                </a:lnTo>
                <a:lnTo>
                  <a:pt x="715664" y="2513"/>
                </a:lnTo>
                <a:lnTo>
                  <a:pt x="728219" y="5026"/>
                </a:lnTo>
                <a:lnTo>
                  <a:pt x="738264" y="10051"/>
                </a:lnTo>
                <a:lnTo>
                  <a:pt x="1330883" y="351789"/>
                </a:lnTo>
                <a:lnTo>
                  <a:pt x="1340928" y="359327"/>
                </a:lnTo>
                <a:lnTo>
                  <a:pt x="1348461" y="366865"/>
                </a:lnTo>
                <a:lnTo>
                  <a:pt x="1358505" y="376916"/>
                </a:lnTo>
                <a:lnTo>
                  <a:pt x="1366039" y="389480"/>
                </a:lnTo>
                <a:lnTo>
                  <a:pt x="1371061" y="402044"/>
                </a:lnTo>
                <a:lnTo>
                  <a:pt x="1376083" y="412095"/>
                </a:lnTo>
                <a:lnTo>
                  <a:pt x="1378594" y="424659"/>
                </a:lnTo>
                <a:lnTo>
                  <a:pt x="1378594" y="437223"/>
                </a:lnTo>
                <a:lnTo>
                  <a:pt x="1378594" y="1120697"/>
                </a:lnTo>
                <a:lnTo>
                  <a:pt x="1378594" y="1133261"/>
                </a:lnTo>
                <a:lnTo>
                  <a:pt x="1376083" y="1145825"/>
                </a:lnTo>
                <a:lnTo>
                  <a:pt x="1371061" y="1155876"/>
                </a:lnTo>
                <a:lnTo>
                  <a:pt x="1366039" y="1168440"/>
                </a:lnTo>
                <a:lnTo>
                  <a:pt x="1358505" y="1181004"/>
                </a:lnTo>
                <a:lnTo>
                  <a:pt x="1348461" y="1191055"/>
                </a:lnTo>
                <a:lnTo>
                  <a:pt x="1340928" y="1198593"/>
                </a:lnTo>
                <a:lnTo>
                  <a:pt x="1330883" y="1206132"/>
                </a:lnTo>
                <a:lnTo>
                  <a:pt x="738264" y="1547869"/>
                </a:lnTo>
                <a:lnTo>
                  <a:pt x="728219" y="1552895"/>
                </a:lnTo>
                <a:lnTo>
                  <a:pt x="715664" y="1555407"/>
                </a:lnTo>
                <a:lnTo>
                  <a:pt x="703108" y="1557920"/>
                </a:lnTo>
                <a:lnTo>
                  <a:pt x="690553" y="1557920"/>
                </a:lnTo>
                <a:lnTo>
                  <a:pt x="677997" y="1557920"/>
                </a:lnTo>
                <a:lnTo>
                  <a:pt x="662931" y="1555407"/>
                </a:lnTo>
                <a:lnTo>
                  <a:pt x="652886" y="1552895"/>
                </a:lnTo>
                <a:lnTo>
                  <a:pt x="640331" y="1547869"/>
                </a:lnTo>
                <a:lnTo>
                  <a:pt x="50222" y="1206132"/>
                </a:lnTo>
                <a:lnTo>
                  <a:pt x="40178" y="1198593"/>
                </a:lnTo>
                <a:lnTo>
                  <a:pt x="30133" y="1191055"/>
                </a:lnTo>
                <a:lnTo>
                  <a:pt x="22600" y="1181004"/>
                </a:lnTo>
                <a:lnTo>
                  <a:pt x="15067" y="1168440"/>
                </a:lnTo>
                <a:lnTo>
                  <a:pt x="10045" y="1155876"/>
                </a:lnTo>
                <a:lnTo>
                  <a:pt x="5022" y="1145825"/>
                </a:lnTo>
                <a:lnTo>
                  <a:pt x="2511" y="1133261"/>
                </a:lnTo>
                <a:lnTo>
                  <a:pt x="0" y="1120697"/>
                </a:lnTo>
                <a:lnTo>
                  <a:pt x="0" y="437223"/>
                </a:lnTo>
                <a:lnTo>
                  <a:pt x="2511" y="424659"/>
                </a:lnTo>
                <a:lnTo>
                  <a:pt x="5022" y="412095"/>
                </a:lnTo>
                <a:lnTo>
                  <a:pt x="10045" y="402044"/>
                </a:lnTo>
                <a:lnTo>
                  <a:pt x="15067" y="389480"/>
                </a:lnTo>
                <a:lnTo>
                  <a:pt x="22600" y="376916"/>
                </a:lnTo>
                <a:lnTo>
                  <a:pt x="30133" y="366865"/>
                </a:lnTo>
                <a:lnTo>
                  <a:pt x="40178" y="359327"/>
                </a:lnTo>
                <a:lnTo>
                  <a:pt x="50222" y="351789"/>
                </a:lnTo>
                <a:lnTo>
                  <a:pt x="640331" y="10051"/>
                </a:lnTo>
                <a:lnTo>
                  <a:pt x="652886" y="5026"/>
                </a:lnTo>
                <a:lnTo>
                  <a:pt x="662931" y="2513"/>
                </a:lnTo>
                <a:close/>
              </a:path>
            </a:pathLst>
          </a:custGeom>
          <a:solidFill>
            <a:srgbClr val="0093D4"/>
          </a:solidFill>
          <a:ln>
            <a:noFill/>
          </a:ln>
          <a:effectLst/>
        </p:spPr>
        <p:txBody>
          <a:bodyPr wrap="square" lIns="0" tIns="0" rIns="0" bIns="0" anchor="ctr"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latinLnBrk="0"/>
            <a:endParaRPr lang="ko-KR" altLang="en-US" sz="1200" spc="-30" dirty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Freeform 6"/>
          <p:cNvSpPr>
            <a:spLocks/>
          </p:cNvSpPr>
          <p:nvPr/>
        </p:nvSpPr>
        <p:spPr bwMode="auto">
          <a:xfrm>
            <a:off x="3728733" y="3120557"/>
            <a:ext cx="1038552" cy="1163743"/>
          </a:xfrm>
          <a:custGeom>
            <a:avLst/>
            <a:gdLst>
              <a:gd name="T0" fmla="*/ 0 w 1098"/>
              <a:gd name="T1" fmla="*/ 348 h 1240"/>
              <a:gd name="T2" fmla="*/ 0 w 1098"/>
              <a:gd name="T3" fmla="*/ 348 h 1240"/>
              <a:gd name="T4" fmla="*/ 2 w 1098"/>
              <a:gd name="T5" fmla="*/ 338 h 1240"/>
              <a:gd name="T6" fmla="*/ 4 w 1098"/>
              <a:gd name="T7" fmla="*/ 328 h 1240"/>
              <a:gd name="T8" fmla="*/ 8 w 1098"/>
              <a:gd name="T9" fmla="*/ 320 h 1240"/>
              <a:gd name="T10" fmla="*/ 12 w 1098"/>
              <a:gd name="T11" fmla="*/ 310 h 1240"/>
              <a:gd name="T12" fmla="*/ 18 w 1098"/>
              <a:gd name="T13" fmla="*/ 300 h 1240"/>
              <a:gd name="T14" fmla="*/ 24 w 1098"/>
              <a:gd name="T15" fmla="*/ 292 h 1240"/>
              <a:gd name="T16" fmla="*/ 32 w 1098"/>
              <a:gd name="T17" fmla="*/ 286 h 1240"/>
              <a:gd name="T18" fmla="*/ 40 w 1098"/>
              <a:gd name="T19" fmla="*/ 280 h 1240"/>
              <a:gd name="T20" fmla="*/ 510 w 1098"/>
              <a:gd name="T21" fmla="*/ 8 h 1240"/>
              <a:gd name="T22" fmla="*/ 510 w 1098"/>
              <a:gd name="T23" fmla="*/ 8 h 1240"/>
              <a:gd name="T24" fmla="*/ 520 w 1098"/>
              <a:gd name="T25" fmla="*/ 4 h 1240"/>
              <a:gd name="T26" fmla="*/ 528 w 1098"/>
              <a:gd name="T27" fmla="*/ 2 h 1240"/>
              <a:gd name="T28" fmla="*/ 540 w 1098"/>
              <a:gd name="T29" fmla="*/ 0 h 1240"/>
              <a:gd name="T30" fmla="*/ 550 w 1098"/>
              <a:gd name="T31" fmla="*/ 0 h 1240"/>
              <a:gd name="T32" fmla="*/ 560 w 1098"/>
              <a:gd name="T33" fmla="*/ 0 h 1240"/>
              <a:gd name="T34" fmla="*/ 570 w 1098"/>
              <a:gd name="T35" fmla="*/ 2 h 1240"/>
              <a:gd name="T36" fmla="*/ 580 w 1098"/>
              <a:gd name="T37" fmla="*/ 4 h 1240"/>
              <a:gd name="T38" fmla="*/ 588 w 1098"/>
              <a:gd name="T39" fmla="*/ 8 h 1240"/>
              <a:gd name="T40" fmla="*/ 1060 w 1098"/>
              <a:gd name="T41" fmla="*/ 280 h 1240"/>
              <a:gd name="T42" fmla="*/ 1060 w 1098"/>
              <a:gd name="T43" fmla="*/ 280 h 1240"/>
              <a:gd name="T44" fmla="*/ 1068 w 1098"/>
              <a:gd name="T45" fmla="*/ 286 h 1240"/>
              <a:gd name="T46" fmla="*/ 1074 w 1098"/>
              <a:gd name="T47" fmla="*/ 292 h 1240"/>
              <a:gd name="T48" fmla="*/ 1082 w 1098"/>
              <a:gd name="T49" fmla="*/ 300 h 1240"/>
              <a:gd name="T50" fmla="*/ 1088 w 1098"/>
              <a:gd name="T51" fmla="*/ 310 h 1240"/>
              <a:gd name="T52" fmla="*/ 1092 w 1098"/>
              <a:gd name="T53" fmla="*/ 320 h 1240"/>
              <a:gd name="T54" fmla="*/ 1096 w 1098"/>
              <a:gd name="T55" fmla="*/ 328 h 1240"/>
              <a:gd name="T56" fmla="*/ 1098 w 1098"/>
              <a:gd name="T57" fmla="*/ 338 h 1240"/>
              <a:gd name="T58" fmla="*/ 1098 w 1098"/>
              <a:gd name="T59" fmla="*/ 348 h 1240"/>
              <a:gd name="T60" fmla="*/ 1098 w 1098"/>
              <a:gd name="T61" fmla="*/ 892 h 1240"/>
              <a:gd name="T62" fmla="*/ 1098 w 1098"/>
              <a:gd name="T63" fmla="*/ 892 h 1240"/>
              <a:gd name="T64" fmla="*/ 1098 w 1098"/>
              <a:gd name="T65" fmla="*/ 902 h 1240"/>
              <a:gd name="T66" fmla="*/ 1096 w 1098"/>
              <a:gd name="T67" fmla="*/ 912 h 1240"/>
              <a:gd name="T68" fmla="*/ 1092 w 1098"/>
              <a:gd name="T69" fmla="*/ 920 h 1240"/>
              <a:gd name="T70" fmla="*/ 1088 w 1098"/>
              <a:gd name="T71" fmla="*/ 930 h 1240"/>
              <a:gd name="T72" fmla="*/ 1082 w 1098"/>
              <a:gd name="T73" fmla="*/ 940 h 1240"/>
              <a:gd name="T74" fmla="*/ 1074 w 1098"/>
              <a:gd name="T75" fmla="*/ 948 h 1240"/>
              <a:gd name="T76" fmla="*/ 1068 w 1098"/>
              <a:gd name="T77" fmla="*/ 954 h 1240"/>
              <a:gd name="T78" fmla="*/ 1060 w 1098"/>
              <a:gd name="T79" fmla="*/ 960 h 1240"/>
              <a:gd name="T80" fmla="*/ 588 w 1098"/>
              <a:gd name="T81" fmla="*/ 1232 h 1240"/>
              <a:gd name="T82" fmla="*/ 588 w 1098"/>
              <a:gd name="T83" fmla="*/ 1232 h 1240"/>
              <a:gd name="T84" fmla="*/ 580 w 1098"/>
              <a:gd name="T85" fmla="*/ 1236 h 1240"/>
              <a:gd name="T86" fmla="*/ 570 w 1098"/>
              <a:gd name="T87" fmla="*/ 1238 h 1240"/>
              <a:gd name="T88" fmla="*/ 560 w 1098"/>
              <a:gd name="T89" fmla="*/ 1240 h 1240"/>
              <a:gd name="T90" fmla="*/ 550 w 1098"/>
              <a:gd name="T91" fmla="*/ 1240 h 1240"/>
              <a:gd name="T92" fmla="*/ 540 w 1098"/>
              <a:gd name="T93" fmla="*/ 1240 h 1240"/>
              <a:gd name="T94" fmla="*/ 528 w 1098"/>
              <a:gd name="T95" fmla="*/ 1238 h 1240"/>
              <a:gd name="T96" fmla="*/ 520 w 1098"/>
              <a:gd name="T97" fmla="*/ 1236 h 1240"/>
              <a:gd name="T98" fmla="*/ 510 w 1098"/>
              <a:gd name="T99" fmla="*/ 1232 h 1240"/>
              <a:gd name="T100" fmla="*/ 40 w 1098"/>
              <a:gd name="T101" fmla="*/ 960 h 1240"/>
              <a:gd name="T102" fmla="*/ 40 w 1098"/>
              <a:gd name="T103" fmla="*/ 960 h 1240"/>
              <a:gd name="T104" fmla="*/ 32 w 1098"/>
              <a:gd name="T105" fmla="*/ 954 h 1240"/>
              <a:gd name="T106" fmla="*/ 24 w 1098"/>
              <a:gd name="T107" fmla="*/ 948 h 1240"/>
              <a:gd name="T108" fmla="*/ 18 w 1098"/>
              <a:gd name="T109" fmla="*/ 940 h 1240"/>
              <a:gd name="T110" fmla="*/ 12 w 1098"/>
              <a:gd name="T111" fmla="*/ 930 h 1240"/>
              <a:gd name="T112" fmla="*/ 8 w 1098"/>
              <a:gd name="T113" fmla="*/ 920 h 1240"/>
              <a:gd name="T114" fmla="*/ 4 w 1098"/>
              <a:gd name="T115" fmla="*/ 912 h 1240"/>
              <a:gd name="T116" fmla="*/ 2 w 1098"/>
              <a:gd name="T117" fmla="*/ 902 h 1240"/>
              <a:gd name="T118" fmla="*/ 0 w 1098"/>
              <a:gd name="T119" fmla="*/ 892 h 1240"/>
              <a:gd name="T120" fmla="*/ 0 w 1098"/>
              <a:gd name="T121" fmla="*/ 348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8" h="1240">
                <a:moveTo>
                  <a:pt x="0" y="348"/>
                </a:moveTo>
                <a:lnTo>
                  <a:pt x="0" y="348"/>
                </a:lnTo>
                <a:lnTo>
                  <a:pt x="2" y="338"/>
                </a:lnTo>
                <a:lnTo>
                  <a:pt x="4" y="328"/>
                </a:lnTo>
                <a:lnTo>
                  <a:pt x="8" y="320"/>
                </a:lnTo>
                <a:lnTo>
                  <a:pt x="12" y="310"/>
                </a:lnTo>
                <a:lnTo>
                  <a:pt x="18" y="300"/>
                </a:lnTo>
                <a:lnTo>
                  <a:pt x="24" y="292"/>
                </a:lnTo>
                <a:lnTo>
                  <a:pt x="32" y="286"/>
                </a:lnTo>
                <a:lnTo>
                  <a:pt x="40" y="280"/>
                </a:lnTo>
                <a:lnTo>
                  <a:pt x="510" y="8"/>
                </a:lnTo>
                <a:lnTo>
                  <a:pt x="510" y="8"/>
                </a:lnTo>
                <a:lnTo>
                  <a:pt x="520" y="4"/>
                </a:lnTo>
                <a:lnTo>
                  <a:pt x="528" y="2"/>
                </a:lnTo>
                <a:lnTo>
                  <a:pt x="540" y="0"/>
                </a:lnTo>
                <a:lnTo>
                  <a:pt x="550" y="0"/>
                </a:lnTo>
                <a:lnTo>
                  <a:pt x="560" y="0"/>
                </a:lnTo>
                <a:lnTo>
                  <a:pt x="570" y="2"/>
                </a:lnTo>
                <a:lnTo>
                  <a:pt x="580" y="4"/>
                </a:lnTo>
                <a:lnTo>
                  <a:pt x="588" y="8"/>
                </a:lnTo>
                <a:lnTo>
                  <a:pt x="1060" y="280"/>
                </a:lnTo>
                <a:lnTo>
                  <a:pt x="1060" y="280"/>
                </a:lnTo>
                <a:lnTo>
                  <a:pt x="1068" y="286"/>
                </a:lnTo>
                <a:lnTo>
                  <a:pt x="1074" y="292"/>
                </a:lnTo>
                <a:lnTo>
                  <a:pt x="1082" y="300"/>
                </a:lnTo>
                <a:lnTo>
                  <a:pt x="1088" y="310"/>
                </a:lnTo>
                <a:lnTo>
                  <a:pt x="1092" y="320"/>
                </a:lnTo>
                <a:lnTo>
                  <a:pt x="1096" y="328"/>
                </a:lnTo>
                <a:lnTo>
                  <a:pt x="1098" y="338"/>
                </a:lnTo>
                <a:lnTo>
                  <a:pt x="1098" y="348"/>
                </a:lnTo>
                <a:lnTo>
                  <a:pt x="1098" y="892"/>
                </a:lnTo>
                <a:lnTo>
                  <a:pt x="1098" y="892"/>
                </a:lnTo>
                <a:lnTo>
                  <a:pt x="1098" y="902"/>
                </a:lnTo>
                <a:lnTo>
                  <a:pt x="1096" y="912"/>
                </a:lnTo>
                <a:lnTo>
                  <a:pt x="1092" y="920"/>
                </a:lnTo>
                <a:lnTo>
                  <a:pt x="1088" y="930"/>
                </a:lnTo>
                <a:lnTo>
                  <a:pt x="1082" y="940"/>
                </a:lnTo>
                <a:lnTo>
                  <a:pt x="1074" y="948"/>
                </a:lnTo>
                <a:lnTo>
                  <a:pt x="1068" y="954"/>
                </a:lnTo>
                <a:lnTo>
                  <a:pt x="1060" y="960"/>
                </a:lnTo>
                <a:lnTo>
                  <a:pt x="588" y="1232"/>
                </a:lnTo>
                <a:lnTo>
                  <a:pt x="588" y="1232"/>
                </a:lnTo>
                <a:lnTo>
                  <a:pt x="580" y="1236"/>
                </a:lnTo>
                <a:lnTo>
                  <a:pt x="570" y="1238"/>
                </a:lnTo>
                <a:lnTo>
                  <a:pt x="560" y="1240"/>
                </a:lnTo>
                <a:lnTo>
                  <a:pt x="550" y="1240"/>
                </a:lnTo>
                <a:lnTo>
                  <a:pt x="540" y="1240"/>
                </a:lnTo>
                <a:lnTo>
                  <a:pt x="528" y="1238"/>
                </a:lnTo>
                <a:lnTo>
                  <a:pt x="520" y="1236"/>
                </a:lnTo>
                <a:lnTo>
                  <a:pt x="510" y="1232"/>
                </a:lnTo>
                <a:lnTo>
                  <a:pt x="40" y="960"/>
                </a:lnTo>
                <a:lnTo>
                  <a:pt x="40" y="960"/>
                </a:lnTo>
                <a:lnTo>
                  <a:pt x="32" y="954"/>
                </a:lnTo>
                <a:lnTo>
                  <a:pt x="24" y="948"/>
                </a:lnTo>
                <a:lnTo>
                  <a:pt x="18" y="940"/>
                </a:lnTo>
                <a:lnTo>
                  <a:pt x="12" y="930"/>
                </a:lnTo>
                <a:lnTo>
                  <a:pt x="8" y="920"/>
                </a:lnTo>
                <a:lnTo>
                  <a:pt x="4" y="912"/>
                </a:lnTo>
                <a:lnTo>
                  <a:pt x="2" y="902"/>
                </a:lnTo>
                <a:lnTo>
                  <a:pt x="0" y="892"/>
                </a:lnTo>
                <a:lnTo>
                  <a:pt x="0" y="348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067745" latinLnBrk="0">
              <a:lnSpc>
                <a:spcPct val="90000"/>
              </a:lnSpc>
              <a:defRPr/>
            </a:pPr>
            <a:endParaRPr lang="ko-KR" altLang="en-US" sz="1300" kern="0" spc="-15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7" name="Rectangle 395"/>
          <p:cNvSpPr>
            <a:spLocks noChangeArrowheads="1"/>
          </p:cNvSpPr>
          <p:nvPr/>
        </p:nvSpPr>
        <p:spPr bwMode="gray">
          <a:xfrm>
            <a:off x="3812561" y="3569397"/>
            <a:ext cx="873409" cy="397481"/>
          </a:xfrm>
          <a:prstGeom prst="rect">
            <a:avLst/>
          </a:prstGeom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defTabSz="74893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SzPct val="70000"/>
              <a:tabLst>
                <a:tab pos="800916" algn="l"/>
              </a:tabLst>
              <a:defRPr/>
            </a:pP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인덱싱</a:t>
            </a:r>
            <a:endParaRPr lang="en-US" altLang="ko-KR" sz="120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74893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SzPct val="70000"/>
              <a:tabLst>
                <a:tab pos="800916" algn="l"/>
              </a:tabLst>
              <a:defRPr/>
            </a:pP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(Indexing)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32287" y="3159838"/>
            <a:ext cx="231445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latinLnBrk="0">
              <a:defRPr/>
            </a:pPr>
            <a:r>
              <a:rPr lang="en-US" altLang="ko-KR" sz="1500" dirty="0">
                <a:ln>
                  <a:solidFill>
                    <a:srgbClr val="2EB34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endParaRPr lang="ko-KR" altLang="en-US" sz="1500" dirty="0">
              <a:ln>
                <a:solidFill>
                  <a:srgbClr val="2EB34A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>
            <a:off x="4113194" y="3396845"/>
            <a:ext cx="2696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6"/>
          <p:cNvSpPr>
            <a:spLocks/>
          </p:cNvSpPr>
          <p:nvPr/>
        </p:nvSpPr>
        <p:spPr bwMode="auto">
          <a:xfrm>
            <a:off x="5254006" y="3044788"/>
            <a:ext cx="1172892" cy="1315278"/>
          </a:xfrm>
          <a:custGeom>
            <a:avLst/>
            <a:gdLst/>
            <a:ahLst/>
            <a:cxnLst/>
            <a:rect l="l" t="t" r="r" b="b"/>
            <a:pathLst>
              <a:path w="1378594" h="1557920">
                <a:moveTo>
                  <a:pt x="679695" y="116973"/>
                </a:moveTo>
                <a:lnTo>
                  <a:pt x="666891" y="119109"/>
                </a:lnTo>
                <a:lnTo>
                  <a:pt x="658354" y="121244"/>
                </a:lnTo>
                <a:lnTo>
                  <a:pt x="647684" y="125515"/>
                </a:lnTo>
                <a:lnTo>
                  <a:pt x="146191" y="415935"/>
                </a:lnTo>
                <a:lnTo>
                  <a:pt x="137655" y="422342"/>
                </a:lnTo>
                <a:lnTo>
                  <a:pt x="129118" y="428748"/>
                </a:lnTo>
                <a:lnTo>
                  <a:pt x="122716" y="437290"/>
                </a:lnTo>
                <a:lnTo>
                  <a:pt x="116314" y="447967"/>
                </a:lnTo>
                <a:lnTo>
                  <a:pt x="112046" y="458644"/>
                </a:lnTo>
                <a:lnTo>
                  <a:pt x="107778" y="467186"/>
                </a:lnTo>
                <a:lnTo>
                  <a:pt x="105644" y="477863"/>
                </a:lnTo>
                <a:lnTo>
                  <a:pt x="103510" y="488540"/>
                </a:lnTo>
                <a:lnTo>
                  <a:pt x="103510" y="1069381"/>
                </a:lnTo>
                <a:lnTo>
                  <a:pt x="105644" y="1080058"/>
                </a:lnTo>
                <a:lnTo>
                  <a:pt x="107778" y="1090735"/>
                </a:lnTo>
                <a:lnTo>
                  <a:pt x="112046" y="1099277"/>
                </a:lnTo>
                <a:lnTo>
                  <a:pt x="116314" y="1109954"/>
                </a:lnTo>
                <a:lnTo>
                  <a:pt x="122716" y="1120632"/>
                </a:lnTo>
                <a:lnTo>
                  <a:pt x="129118" y="1129173"/>
                </a:lnTo>
                <a:lnTo>
                  <a:pt x="137655" y="1135580"/>
                </a:lnTo>
                <a:lnTo>
                  <a:pt x="146191" y="1141986"/>
                </a:lnTo>
                <a:lnTo>
                  <a:pt x="647684" y="1432406"/>
                </a:lnTo>
                <a:lnTo>
                  <a:pt x="658354" y="1436677"/>
                </a:lnTo>
                <a:lnTo>
                  <a:pt x="666891" y="1438813"/>
                </a:lnTo>
                <a:lnTo>
                  <a:pt x="679695" y="1440948"/>
                </a:lnTo>
                <a:lnTo>
                  <a:pt x="690365" y="1440948"/>
                </a:lnTo>
                <a:lnTo>
                  <a:pt x="701035" y="1440948"/>
                </a:lnTo>
                <a:lnTo>
                  <a:pt x="711705" y="1438813"/>
                </a:lnTo>
                <a:lnTo>
                  <a:pt x="722375" y="1436677"/>
                </a:lnTo>
                <a:lnTo>
                  <a:pt x="730911" y="1432406"/>
                </a:lnTo>
                <a:lnTo>
                  <a:pt x="1234539" y="1141986"/>
                </a:lnTo>
                <a:lnTo>
                  <a:pt x="1243075" y="1135580"/>
                </a:lnTo>
                <a:lnTo>
                  <a:pt x="1249477" y="1129173"/>
                </a:lnTo>
                <a:lnTo>
                  <a:pt x="1258013" y="1120632"/>
                </a:lnTo>
                <a:lnTo>
                  <a:pt x="1264415" y="1109954"/>
                </a:lnTo>
                <a:lnTo>
                  <a:pt x="1268683" y="1099277"/>
                </a:lnTo>
                <a:lnTo>
                  <a:pt x="1272951" y="1090735"/>
                </a:lnTo>
                <a:lnTo>
                  <a:pt x="1275085" y="1080058"/>
                </a:lnTo>
                <a:lnTo>
                  <a:pt x="1275085" y="1069381"/>
                </a:lnTo>
                <a:lnTo>
                  <a:pt x="1275085" y="488540"/>
                </a:lnTo>
                <a:lnTo>
                  <a:pt x="1275085" y="477863"/>
                </a:lnTo>
                <a:lnTo>
                  <a:pt x="1272951" y="467186"/>
                </a:lnTo>
                <a:lnTo>
                  <a:pt x="1268683" y="458644"/>
                </a:lnTo>
                <a:lnTo>
                  <a:pt x="1264415" y="447967"/>
                </a:lnTo>
                <a:lnTo>
                  <a:pt x="1258013" y="437290"/>
                </a:lnTo>
                <a:lnTo>
                  <a:pt x="1249477" y="428748"/>
                </a:lnTo>
                <a:lnTo>
                  <a:pt x="1243075" y="422342"/>
                </a:lnTo>
                <a:lnTo>
                  <a:pt x="1234539" y="415935"/>
                </a:lnTo>
                <a:lnTo>
                  <a:pt x="730911" y="125515"/>
                </a:lnTo>
                <a:lnTo>
                  <a:pt x="722375" y="121244"/>
                </a:lnTo>
                <a:lnTo>
                  <a:pt x="711705" y="119109"/>
                </a:lnTo>
                <a:lnTo>
                  <a:pt x="701035" y="116973"/>
                </a:lnTo>
                <a:lnTo>
                  <a:pt x="690365" y="116973"/>
                </a:lnTo>
                <a:close/>
                <a:moveTo>
                  <a:pt x="677997" y="0"/>
                </a:moveTo>
                <a:lnTo>
                  <a:pt x="690553" y="0"/>
                </a:lnTo>
                <a:lnTo>
                  <a:pt x="703108" y="0"/>
                </a:lnTo>
                <a:lnTo>
                  <a:pt x="715664" y="2513"/>
                </a:lnTo>
                <a:lnTo>
                  <a:pt x="728219" y="5026"/>
                </a:lnTo>
                <a:lnTo>
                  <a:pt x="738264" y="10051"/>
                </a:lnTo>
                <a:lnTo>
                  <a:pt x="1330883" y="351789"/>
                </a:lnTo>
                <a:lnTo>
                  <a:pt x="1340928" y="359327"/>
                </a:lnTo>
                <a:lnTo>
                  <a:pt x="1348461" y="366865"/>
                </a:lnTo>
                <a:lnTo>
                  <a:pt x="1358505" y="376916"/>
                </a:lnTo>
                <a:lnTo>
                  <a:pt x="1366039" y="389480"/>
                </a:lnTo>
                <a:lnTo>
                  <a:pt x="1371061" y="402044"/>
                </a:lnTo>
                <a:lnTo>
                  <a:pt x="1376083" y="412095"/>
                </a:lnTo>
                <a:lnTo>
                  <a:pt x="1378594" y="424659"/>
                </a:lnTo>
                <a:lnTo>
                  <a:pt x="1378594" y="437223"/>
                </a:lnTo>
                <a:lnTo>
                  <a:pt x="1378594" y="1120697"/>
                </a:lnTo>
                <a:lnTo>
                  <a:pt x="1378594" y="1133261"/>
                </a:lnTo>
                <a:lnTo>
                  <a:pt x="1376083" y="1145825"/>
                </a:lnTo>
                <a:lnTo>
                  <a:pt x="1371061" y="1155876"/>
                </a:lnTo>
                <a:lnTo>
                  <a:pt x="1366039" y="1168440"/>
                </a:lnTo>
                <a:lnTo>
                  <a:pt x="1358505" y="1181004"/>
                </a:lnTo>
                <a:lnTo>
                  <a:pt x="1348461" y="1191055"/>
                </a:lnTo>
                <a:lnTo>
                  <a:pt x="1340928" y="1198593"/>
                </a:lnTo>
                <a:lnTo>
                  <a:pt x="1330883" y="1206132"/>
                </a:lnTo>
                <a:lnTo>
                  <a:pt x="738264" y="1547869"/>
                </a:lnTo>
                <a:lnTo>
                  <a:pt x="728219" y="1552895"/>
                </a:lnTo>
                <a:lnTo>
                  <a:pt x="715664" y="1555407"/>
                </a:lnTo>
                <a:lnTo>
                  <a:pt x="703108" y="1557920"/>
                </a:lnTo>
                <a:lnTo>
                  <a:pt x="690553" y="1557920"/>
                </a:lnTo>
                <a:lnTo>
                  <a:pt x="677997" y="1557920"/>
                </a:lnTo>
                <a:lnTo>
                  <a:pt x="662931" y="1555407"/>
                </a:lnTo>
                <a:lnTo>
                  <a:pt x="652886" y="1552895"/>
                </a:lnTo>
                <a:lnTo>
                  <a:pt x="640331" y="1547869"/>
                </a:lnTo>
                <a:lnTo>
                  <a:pt x="50222" y="1206132"/>
                </a:lnTo>
                <a:lnTo>
                  <a:pt x="40178" y="1198593"/>
                </a:lnTo>
                <a:lnTo>
                  <a:pt x="30133" y="1191055"/>
                </a:lnTo>
                <a:lnTo>
                  <a:pt x="22600" y="1181004"/>
                </a:lnTo>
                <a:lnTo>
                  <a:pt x="15067" y="1168440"/>
                </a:lnTo>
                <a:lnTo>
                  <a:pt x="10045" y="1155876"/>
                </a:lnTo>
                <a:lnTo>
                  <a:pt x="5022" y="1145825"/>
                </a:lnTo>
                <a:lnTo>
                  <a:pt x="2511" y="1133261"/>
                </a:lnTo>
                <a:lnTo>
                  <a:pt x="0" y="1120697"/>
                </a:lnTo>
                <a:lnTo>
                  <a:pt x="0" y="437223"/>
                </a:lnTo>
                <a:lnTo>
                  <a:pt x="2511" y="424659"/>
                </a:lnTo>
                <a:lnTo>
                  <a:pt x="5022" y="412095"/>
                </a:lnTo>
                <a:lnTo>
                  <a:pt x="10045" y="402044"/>
                </a:lnTo>
                <a:lnTo>
                  <a:pt x="15067" y="389480"/>
                </a:lnTo>
                <a:lnTo>
                  <a:pt x="22600" y="376916"/>
                </a:lnTo>
                <a:lnTo>
                  <a:pt x="30133" y="366865"/>
                </a:lnTo>
                <a:lnTo>
                  <a:pt x="40178" y="359327"/>
                </a:lnTo>
                <a:lnTo>
                  <a:pt x="50222" y="351789"/>
                </a:lnTo>
                <a:lnTo>
                  <a:pt x="640331" y="10051"/>
                </a:lnTo>
                <a:lnTo>
                  <a:pt x="652886" y="5026"/>
                </a:lnTo>
                <a:lnTo>
                  <a:pt x="662931" y="2513"/>
                </a:lnTo>
                <a:close/>
              </a:path>
            </a:pathLst>
          </a:custGeom>
          <a:solidFill>
            <a:srgbClr val="0093D4"/>
          </a:solidFill>
          <a:ln>
            <a:noFill/>
          </a:ln>
          <a:effectLst/>
        </p:spPr>
        <p:txBody>
          <a:bodyPr wrap="square" lIns="0" tIns="0" rIns="0" bIns="0" anchor="ctr"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latinLnBrk="0"/>
            <a:endParaRPr lang="ko-KR" altLang="en-US" sz="1200" spc="-30" dirty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Freeform 6"/>
          <p:cNvSpPr>
            <a:spLocks/>
          </p:cNvSpPr>
          <p:nvPr/>
        </p:nvSpPr>
        <p:spPr bwMode="auto">
          <a:xfrm>
            <a:off x="5321176" y="3120557"/>
            <a:ext cx="1038552" cy="1163743"/>
          </a:xfrm>
          <a:custGeom>
            <a:avLst/>
            <a:gdLst>
              <a:gd name="T0" fmla="*/ 0 w 1098"/>
              <a:gd name="T1" fmla="*/ 348 h 1240"/>
              <a:gd name="T2" fmla="*/ 0 w 1098"/>
              <a:gd name="T3" fmla="*/ 348 h 1240"/>
              <a:gd name="T4" fmla="*/ 2 w 1098"/>
              <a:gd name="T5" fmla="*/ 338 h 1240"/>
              <a:gd name="T6" fmla="*/ 4 w 1098"/>
              <a:gd name="T7" fmla="*/ 328 h 1240"/>
              <a:gd name="T8" fmla="*/ 8 w 1098"/>
              <a:gd name="T9" fmla="*/ 320 h 1240"/>
              <a:gd name="T10" fmla="*/ 12 w 1098"/>
              <a:gd name="T11" fmla="*/ 310 h 1240"/>
              <a:gd name="T12" fmla="*/ 18 w 1098"/>
              <a:gd name="T13" fmla="*/ 300 h 1240"/>
              <a:gd name="T14" fmla="*/ 24 w 1098"/>
              <a:gd name="T15" fmla="*/ 292 h 1240"/>
              <a:gd name="T16" fmla="*/ 32 w 1098"/>
              <a:gd name="T17" fmla="*/ 286 h 1240"/>
              <a:gd name="T18" fmla="*/ 40 w 1098"/>
              <a:gd name="T19" fmla="*/ 280 h 1240"/>
              <a:gd name="T20" fmla="*/ 510 w 1098"/>
              <a:gd name="T21" fmla="*/ 8 h 1240"/>
              <a:gd name="T22" fmla="*/ 510 w 1098"/>
              <a:gd name="T23" fmla="*/ 8 h 1240"/>
              <a:gd name="T24" fmla="*/ 520 w 1098"/>
              <a:gd name="T25" fmla="*/ 4 h 1240"/>
              <a:gd name="T26" fmla="*/ 528 w 1098"/>
              <a:gd name="T27" fmla="*/ 2 h 1240"/>
              <a:gd name="T28" fmla="*/ 540 w 1098"/>
              <a:gd name="T29" fmla="*/ 0 h 1240"/>
              <a:gd name="T30" fmla="*/ 550 w 1098"/>
              <a:gd name="T31" fmla="*/ 0 h 1240"/>
              <a:gd name="T32" fmla="*/ 560 w 1098"/>
              <a:gd name="T33" fmla="*/ 0 h 1240"/>
              <a:gd name="T34" fmla="*/ 570 w 1098"/>
              <a:gd name="T35" fmla="*/ 2 h 1240"/>
              <a:gd name="T36" fmla="*/ 580 w 1098"/>
              <a:gd name="T37" fmla="*/ 4 h 1240"/>
              <a:gd name="T38" fmla="*/ 588 w 1098"/>
              <a:gd name="T39" fmla="*/ 8 h 1240"/>
              <a:gd name="T40" fmla="*/ 1060 w 1098"/>
              <a:gd name="T41" fmla="*/ 280 h 1240"/>
              <a:gd name="T42" fmla="*/ 1060 w 1098"/>
              <a:gd name="T43" fmla="*/ 280 h 1240"/>
              <a:gd name="T44" fmla="*/ 1068 w 1098"/>
              <a:gd name="T45" fmla="*/ 286 h 1240"/>
              <a:gd name="T46" fmla="*/ 1074 w 1098"/>
              <a:gd name="T47" fmla="*/ 292 h 1240"/>
              <a:gd name="T48" fmla="*/ 1082 w 1098"/>
              <a:gd name="T49" fmla="*/ 300 h 1240"/>
              <a:gd name="T50" fmla="*/ 1088 w 1098"/>
              <a:gd name="T51" fmla="*/ 310 h 1240"/>
              <a:gd name="T52" fmla="*/ 1092 w 1098"/>
              <a:gd name="T53" fmla="*/ 320 h 1240"/>
              <a:gd name="T54" fmla="*/ 1096 w 1098"/>
              <a:gd name="T55" fmla="*/ 328 h 1240"/>
              <a:gd name="T56" fmla="*/ 1098 w 1098"/>
              <a:gd name="T57" fmla="*/ 338 h 1240"/>
              <a:gd name="T58" fmla="*/ 1098 w 1098"/>
              <a:gd name="T59" fmla="*/ 348 h 1240"/>
              <a:gd name="T60" fmla="*/ 1098 w 1098"/>
              <a:gd name="T61" fmla="*/ 892 h 1240"/>
              <a:gd name="T62" fmla="*/ 1098 w 1098"/>
              <a:gd name="T63" fmla="*/ 892 h 1240"/>
              <a:gd name="T64" fmla="*/ 1098 w 1098"/>
              <a:gd name="T65" fmla="*/ 902 h 1240"/>
              <a:gd name="T66" fmla="*/ 1096 w 1098"/>
              <a:gd name="T67" fmla="*/ 912 h 1240"/>
              <a:gd name="T68" fmla="*/ 1092 w 1098"/>
              <a:gd name="T69" fmla="*/ 920 h 1240"/>
              <a:gd name="T70" fmla="*/ 1088 w 1098"/>
              <a:gd name="T71" fmla="*/ 930 h 1240"/>
              <a:gd name="T72" fmla="*/ 1082 w 1098"/>
              <a:gd name="T73" fmla="*/ 940 h 1240"/>
              <a:gd name="T74" fmla="*/ 1074 w 1098"/>
              <a:gd name="T75" fmla="*/ 948 h 1240"/>
              <a:gd name="T76" fmla="*/ 1068 w 1098"/>
              <a:gd name="T77" fmla="*/ 954 h 1240"/>
              <a:gd name="T78" fmla="*/ 1060 w 1098"/>
              <a:gd name="T79" fmla="*/ 960 h 1240"/>
              <a:gd name="T80" fmla="*/ 588 w 1098"/>
              <a:gd name="T81" fmla="*/ 1232 h 1240"/>
              <a:gd name="T82" fmla="*/ 588 w 1098"/>
              <a:gd name="T83" fmla="*/ 1232 h 1240"/>
              <a:gd name="T84" fmla="*/ 580 w 1098"/>
              <a:gd name="T85" fmla="*/ 1236 h 1240"/>
              <a:gd name="T86" fmla="*/ 570 w 1098"/>
              <a:gd name="T87" fmla="*/ 1238 h 1240"/>
              <a:gd name="T88" fmla="*/ 560 w 1098"/>
              <a:gd name="T89" fmla="*/ 1240 h 1240"/>
              <a:gd name="T90" fmla="*/ 550 w 1098"/>
              <a:gd name="T91" fmla="*/ 1240 h 1240"/>
              <a:gd name="T92" fmla="*/ 540 w 1098"/>
              <a:gd name="T93" fmla="*/ 1240 h 1240"/>
              <a:gd name="T94" fmla="*/ 528 w 1098"/>
              <a:gd name="T95" fmla="*/ 1238 h 1240"/>
              <a:gd name="T96" fmla="*/ 520 w 1098"/>
              <a:gd name="T97" fmla="*/ 1236 h 1240"/>
              <a:gd name="T98" fmla="*/ 510 w 1098"/>
              <a:gd name="T99" fmla="*/ 1232 h 1240"/>
              <a:gd name="T100" fmla="*/ 40 w 1098"/>
              <a:gd name="T101" fmla="*/ 960 h 1240"/>
              <a:gd name="T102" fmla="*/ 40 w 1098"/>
              <a:gd name="T103" fmla="*/ 960 h 1240"/>
              <a:gd name="T104" fmla="*/ 32 w 1098"/>
              <a:gd name="T105" fmla="*/ 954 h 1240"/>
              <a:gd name="T106" fmla="*/ 24 w 1098"/>
              <a:gd name="T107" fmla="*/ 948 h 1240"/>
              <a:gd name="T108" fmla="*/ 18 w 1098"/>
              <a:gd name="T109" fmla="*/ 940 h 1240"/>
              <a:gd name="T110" fmla="*/ 12 w 1098"/>
              <a:gd name="T111" fmla="*/ 930 h 1240"/>
              <a:gd name="T112" fmla="*/ 8 w 1098"/>
              <a:gd name="T113" fmla="*/ 920 h 1240"/>
              <a:gd name="T114" fmla="*/ 4 w 1098"/>
              <a:gd name="T115" fmla="*/ 912 h 1240"/>
              <a:gd name="T116" fmla="*/ 2 w 1098"/>
              <a:gd name="T117" fmla="*/ 902 h 1240"/>
              <a:gd name="T118" fmla="*/ 0 w 1098"/>
              <a:gd name="T119" fmla="*/ 892 h 1240"/>
              <a:gd name="T120" fmla="*/ 0 w 1098"/>
              <a:gd name="T121" fmla="*/ 348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8" h="1240">
                <a:moveTo>
                  <a:pt x="0" y="348"/>
                </a:moveTo>
                <a:lnTo>
                  <a:pt x="0" y="348"/>
                </a:lnTo>
                <a:lnTo>
                  <a:pt x="2" y="338"/>
                </a:lnTo>
                <a:lnTo>
                  <a:pt x="4" y="328"/>
                </a:lnTo>
                <a:lnTo>
                  <a:pt x="8" y="320"/>
                </a:lnTo>
                <a:lnTo>
                  <a:pt x="12" y="310"/>
                </a:lnTo>
                <a:lnTo>
                  <a:pt x="18" y="300"/>
                </a:lnTo>
                <a:lnTo>
                  <a:pt x="24" y="292"/>
                </a:lnTo>
                <a:lnTo>
                  <a:pt x="32" y="286"/>
                </a:lnTo>
                <a:lnTo>
                  <a:pt x="40" y="280"/>
                </a:lnTo>
                <a:lnTo>
                  <a:pt x="510" y="8"/>
                </a:lnTo>
                <a:lnTo>
                  <a:pt x="510" y="8"/>
                </a:lnTo>
                <a:lnTo>
                  <a:pt x="520" y="4"/>
                </a:lnTo>
                <a:lnTo>
                  <a:pt x="528" y="2"/>
                </a:lnTo>
                <a:lnTo>
                  <a:pt x="540" y="0"/>
                </a:lnTo>
                <a:lnTo>
                  <a:pt x="550" y="0"/>
                </a:lnTo>
                <a:lnTo>
                  <a:pt x="560" y="0"/>
                </a:lnTo>
                <a:lnTo>
                  <a:pt x="570" y="2"/>
                </a:lnTo>
                <a:lnTo>
                  <a:pt x="580" y="4"/>
                </a:lnTo>
                <a:lnTo>
                  <a:pt x="588" y="8"/>
                </a:lnTo>
                <a:lnTo>
                  <a:pt x="1060" y="280"/>
                </a:lnTo>
                <a:lnTo>
                  <a:pt x="1060" y="280"/>
                </a:lnTo>
                <a:lnTo>
                  <a:pt x="1068" y="286"/>
                </a:lnTo>
                <a:lnTo>
                  <a:pt x="1074" y="292"/>
                </a:lnTo>
                <a:lnTo>
                  <a:pt x="1082" y="300"/>
                </a:lnTo>
                <a:lnTo>
                  <a:pt x="1088" y="310"/>
                </a:lnTo>
                <a:lnTo>
                  <a:pt x="1092" y="320"/>
                </a:lnTo>
                <a:lnTo>
                  <a:pt x="1096" y="328"/>
                </a:lnTo>
                <a:lnTo>
                  <a:pt x="1098" y="338"/>
                </a:lnTo>
                <a:lnTo>
                  <a:pt x="1098" y="348"/>
                </a:lnTo>
                <a:lnTo>
                  <a:pt x="1098" y="892"/>
                </a:lnTo>
                <a:lnTo>
                  <a:pt x="1098" y="892"/>
                </a:lnTo>
                <a:lnTo>
                  <a:pt x="1098" y="902"/>
                </a:lnTo>
                <a:lnTo>
                  <a:pt x="1096" y="912"/>
                </a:lnTo>
                <a:lnTo>
                  <a:pt x="1092" y="920"/>
                </a:lnTo>
                <a:lnTo>
                  <a:pt x="1088" y="930"/>
                </a:lnTo>
                <a:lnTo>
                  <a:pt x="1082" y="940"/>
                </a:lnTo>
                <a:lnTo>
                  <a:pt x="1074" y="948"/>
                </a:lnTo>
                <a:lnTo>
                  <a:pt x="1068" y="954"/>
                </a:lnTo>
                <a:lnTo>
                  <a:pt x="1060" y="960"/>
                </a:lnTo>
                <a:lnTo>
                  <a:pt x="588" y="1232"/>
                </a:lnTo>
                <a:lnTo>
                  <a:pt x="588" y="1232"/>
                </a:lnTo>
                <a:lnTo>
                  <a:pt x="580" y="1236"/>
                </a:lnTo>
                <a:lnTo>
                  <a:pt x="570" y="1238"/>
                </a:lnTo>
                <a:lnTo>
                  <a:pt x="560" y="1240"/>
                </a:lnTo>
                <a:lnTo>
                  <a:pt x="550" y="1240"/>
                </a:lnTo>
                <a:lnTo>
                  <a:pt x="540" y="1240"/>
                </a:lnTo>
                <a:lnTo>
                  <a:pt x="528" y="1238"/>
                </a:lnTo>
                <a:lnTo>
                  <a:pt x="520" y="1236"/>
                </a:lnTo>
                <a:lnTo>
                  <a:pt x="510" y="1232"/>
                </a:lnTo>
                <a:lnTo>
                  <a:pt x="40" y="960"/>
                </a:lnTo>
                <a:lnTo>
                  <a:pt x="40" y="960"/>
                </a:lnTo>
                <a:lnTo>
                  <a:pt x="32" y="954"/>
                </a:lnTo>
                <a:lnTo>
                  <a:pt x="24" y="948"/>
                </a:lnTo>
                <a:lnTo>
                  <a:pt x="18" y="940"/>
                </a:lnTo>
                <a:lnTo>
                  <a:pt x="12" y="930"/>
                </a:lnTo>
                <a:lnTo>
                  <a:pt x="8" y="920"/>
                </a:lnTo>
                <a:lnTo>
                  <a:pt x="4" y="912"/>
                </a:lnTo>
                <a:lnTo>
                  <a:pt x="2" y="902"/>
                </a:lnTo>
                <a:lnTo>
                  <a:pt x="0" y="892"/>
                </a:lnTo>
                <a:lnTo>
                  <a:pt x="0" y="348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067745" latinLnBrk="0">
              <a:lnSpc>
                <a:spcPct val="90000"/>
              </a:lnSpc>
              <a:defRPr/>
            </a:pPr>
            <a:endParaRPr lang="ko-KR" altLang="en-US" sz="1300" kern="0" spc="-15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" name="Rectangle 395"/>
          <p:cNvSpPr>
            <a:spLocks noChangeArrowheads="1"/>
          </p:cNvSpPr>
          <p:nvPr/>
        </p:nvSpPr>
        <p:spPr bwMode="gray">
          <a:xfrm>
            <a:off x="5405003" y="3569398"/>
            <a:ext cx="873409" cy="397481"/>
          </a:xfrm>
          <a:prstGeom prst="rect">
            <a:avLst/>
          </a:prstGeom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defTabSz="74893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SzPct val="70000"/>
              <a:tabLst>
                <a:tab pos="800916" algn="l"/>
              </a:tabLst>
            </a:pPr>
            <a:r>
              <a:rPr lang="ko-KR" alt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저장</a:t>
            </a:r>
            <a:endParaRPr lang="en-US" altLang="ko-KR" sz="120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74893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SzPct val="70000"/>
              <a:tabLst>
                <a:tab pos="800916" algn="l"/>
              </a:tabLst>
            </a:pPr>
            <a:r>
              <a:rPr lang="en-US" altLang="ko-KR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(Save)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724730" y="3159838"/>
            <a:ext cx="231445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latinLnBrk="0">
              <a:defRPr/>
            </a:pPr>
            <a:r>
              <a:rPr lang="en-US" altLang="ko-KR" sz="1500" dirty="0">
                <a:ln>
                  <a:solidFill>
                    <a:srgbClr val="2EB34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</a:t>
            </a:r>
            <a:endParaRPr lang="ko-KR" altLang="en-US" sz="1500" dirty="0">
              <a:ln>
                <a:solidFill>
                  <a:srgbClr val="2EB34A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5727117" y="3390669"/>
            <a:ext cx="2696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 bwMode="gray">
          <a:xfrm>
            <a:off x="333374" y="4664968"/>
            <a:ext cx="3036633" cy="1292335"/>
          </a:xfrm>
          <a:prstGeom prst="rect">
            <a:avLst/>
          </a:prstGeom>
          <a:solidFill>
            <a:srgbClr val="F0F0F0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200" spc="-3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7" name="직사각형 46"/>
          <p:cNvSpPr/>
          <p:nvPr/>
        </p:nvSpPr>
        <p:spPr bwMode="gray">
          <a:xfrm>
            <a:off x="3573016" y="4664968"/>
            <a:ext cx="2954783" cy="1292335"/>
          </a:xfrm>
          <a:prstGeom prst="rect">
            <a:avLst/>
          </a:prstGeom>
          <a:solidFill>
            <a:srgbClr val="F0F0F0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200" spc="-3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8" name="직사각형 47"/>
          <p:cNvSpPr/>
          <p:nvPr/>
        </p:nvSpPr>
        <p:spPr bwMode="gray">
          <a:xfrm>
            <a:off x="333375" y="4664969"/>
            <a:ext cx="3036632" cy="288000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 전처리 및 </a:t>
            </a:r>
            <a:r>
              <a:rPr lang="ko-KR" altLang="en-US" sz="12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벡터화</a:t>
            </a:r>
            <a:endParaRPr lang="en-US" altLang="ko-KR" sz="12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9" name="Rectangle 25"/>
          <p:cNvSpPr>
            <a:spLocks noChangeArrowheads="1"/>
          </p:cNvSpPr>
          <p:nvPr/>
        </p:nvSpPr>
        <p:spPr bwMode="auto">
          <a:xfrm flipH="1">
            <a:off x="415935" y="5014038"/>
            <a:ext cx="2869048" cy="666849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한국어 및 특수 용어 인식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임베딩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모델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(KR-SBERT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등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)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적용</a:t>
            </a:r>
          </a:p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청크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(Chunk)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단위로 견문 보고서 분할 후 벡터 변환</a:t>
            </a:r>
          </a:p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주기적 데이터 수집을 위한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ETL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파이프라인 구축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52" name="직사각형 51"/>
          <p:cNvSpPr/>
          <p:nvPr/>
        </p:nvSpPr>
        <p:spPr bwMode="gray">
          <a:xfrm>
            <a:off x="3573016" y="4664969"/>
            <a:ext cx="2954783" cy="288000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하이브리드</a:t>
            </a:r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검색 엔진</a:t>
            </a:r>
            <a:endParaRPr lang="en-US" altLang="ko-KR" sz="12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3" name="Rectangle 25"/>
          <p:cNvSpPr>
            <a:spLocks noChangeArrowheads="1"/>
          </p:cNvSpPr>
          <p:nvPr/>
        </p:nvSpPr>
        <p:spPr bwMode="auto">
          <a:xfrm flipH="1">
            <a:off x="3661563" y="5014038"/>
            <a:ext cx="2772820" cy="487313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벡터 유사도 검색과 키워드 기반 검색을 통합한 혼합 검색 기능</a:t>
            </a:r>
          </a:p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확장성을 고려한 분산 처리 아키텍처 적용</a:t>
            </a:r>
          </a:p>
        </p:txBody>
      </p:sp>
      <p:grpSp>
        <p:nvGrpSpPr>
          <p:cNvPr id="56" name="그룹 55"/>
          <p:cNvGrpSpPr/>
          <p:nvPr/>
        </p:nvGrpSpPr>
        <p:grpSpPr>
          <a:xfrm>
            <a:off x="360663" y="6081731"/>
            <a:ext cx="1770344" cy="194349"/>
            <a:chOff x="339726" y="2214106"/>
            <a:chExt cx="1770344" cy="194349"/>
          </a:xfrm>
        </p:grpSpPr>
        <p:sp>
          <p:nvSpPr>
            <p:cNvPr id="57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1603003" cy="194349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자연어 기반 검색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&amp; RAG</a:t>
              </a:r>
              <a:endParaRPr lang="ko-KR" altLang="en-US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8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208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3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2.20 </a:t>
            </a:r>
            <a:r>
              <a:rPr lang="ko-KR" altLang="en-US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생성형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AI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이용한 </a:t>
            </a:r>
            <a:r>
              <a:rPr lang="ko-KR" altLang="en-US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견문보고서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검색 및 요약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2.20.2. </a:t>
            </a:r>
            <a:r>
              <a:rPr lang="ko-KR" altLang="en-US" sz="1600" b="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분석 및 예측</a:t>
            </a:r>
            <a:endParaRPr lang="en-US" altLang="ko-KR" sz="1600" b="0" dirty="0" smtClean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4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81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급변하는 사회 환경 속에서 발생하는 다양한 이상행동을 사전에 감지하고 예측하여 선제적으로 대응하는 것은 매우 </a:t>
            </a:r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중요하다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  <a:p>
            <a:pPr algn="l"/>
            <a:r>
              <a:rPr lang="ko-KR" altLang="en-US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 시스템은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이상징후를 사전에 분석하고 예측하여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실시간으로 모니터링하고 대응할 수 있는 체계를 구축한다</a:t>
            </a:r>
            <a:r>
              <a:rPr lang="en-US" altLang="ko-KR" spc="0" dirty="0" smtClean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en-US" altLang="ko-KR" spc="0" dirty="0">
              <a:ln>
                <a:noFill/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336651" y="2517948"/>
            <a:ext cx="6184698" cy="6827665"/>
            <a:chOff x="336651" y="2517948"/>
            <a:chExt cx="6184698" cy="6827665"/>
          </a:xfrm>
        </p:grpSpPr>
        <p:sp>
          <p:nvSpPr>
            <p:cNvPr id="72" name="직사각형 71"/>
            <p:cNvSpPr/>
            <p:nvPr/>
          </p:nvSpPr>
          <p:spPr>
            <a:xfrm>
              <a:off x="336651" y="2770361"/>
              <a:ext cx="6184698" cy="6575251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336651" y="2517948"/>
              <a:ext cx="6184698" cy="6827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346076" y="2517619"/>
            <a:ext cx="1513863" cy="203133"/>
            <a:chOff x="339726" y="2214106"/>
            <a:chExt cx="1513863" cy="203133"/>
          </a:xfrm>
        </p:grpSpPr>
        <p:sp>
          <p:nvSpPr>
            <p:cNvPr id="78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1346522" cy="203133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이상행동 분석 및 예측</a:t>
              </a:r>
              <a:endParaRPr lang="en-US" altLang="ko-KR" sz="1200" spc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79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5287962" y="2234720"/>
            <a:ext cx="1230644" cy="198000"/>
            <a:chOff x="5287962" y="1441732"/>
            <a:chExt cx="1230644" cy="198000"/>
          </a:xfrm>
        </p:grpSpPr>
        <p:sp>
          <p:nvSpPr>
            <p:cNvPr id="12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26" name="직사각형 12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27" name="직사각형 126"/>
            <p:cNvSpPr/>
            <p:nvPr/>
          </p:nvSpPr>
          <p:spPr bwMode="gray">
            <a:xfrm>
              <a:off x="5996747" y="1471482"/>
              <a:ext cx="445956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900" spc="-30" dirty="0" smtClean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SFR-020</a:t>
              </a: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333375" y="7689304"/>
            <a:ext cx="6194424" cy="1598167"/>
            <a:chOff x="333375" y="8045594"/>
            <a:chExt cx="6194424" cy="1598167"/>
          </a:xfrm>
        </p:grpSpPr>
        <p:grpSp>
          <p:nvGrpSpPr>
            <p:cNvPr id="18" name="그룹 17"/>
            <p:cNvGrpSpPr/>
            <p:nvPr/>
          </p:nvGrpSpPr>
          <p:grpSpPr>
            <a:xfrm>
              <a:off x="333375" y="8045594"/>
              <a:ext cx="1476000" cy="1598167"/>
              <a:chOff x="333375" y="8045594"/>
              <a:chExt cx="1476000" cy="1598167"/>
            </a:xfrm>
          </p:grpSpPr>
          <p:sp>
            <p:nvSpPr>
              <p:cNvPr id="31" name="직사각형 30"/>
              <p:cNvSpPr/>
              <p:nvPr/>
            </p:nvSpPr>
            <p:spPr bwMode="gray">
              <a:xfrm>
                <a:off x="333375" y="8045594"/>
                <a:ext cx="1476000" cy="1598167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위험 사전 예방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3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94897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이상행동과</a:t>
                </a: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징후를 조기에 탐지하고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, </a:t>
                </a: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향후 발생 가능성을 예측하여 사전 대응 가능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조직 내 안전성과 안정성 확보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" name="그룹 18"/>
            <p:cNvGrpSpPr/>
            <p:nvPr/>
          </p:nvGrpSpPr>
          <p:grpSpPr>
            <a:xfrm>
              <a:off x="1906183" y="8045594"/>
              <a:ext cx="1476000" cy="1598167"/>
              <a:chOff x="333375" y="8045594"/>
              <a:chExt cx="1476000" cy="1598167"/>
            </a:xfrm>
          </p:grpSpPr>
          <p:sp>
            <p:nvSpPr>
              <p:cNvPr id="28" name="직사각형 27"/>
              <p:cNvSpPr/>
              <p:nvPr/>
            </p:nvSpPr>
            <p:spPr bwMode="gray">
              <a:xfrm>
                <a:off x="333375" y="8045594"/>
                <a:ext cx="1476000" cy="1598167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9" name="직사각형 28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효율적인 데이터 활용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0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79508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군집 정보와 지표 기반의 정밀한 데이터 분석으로 의사결정 지원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실시간 모니터링을 통해 데이터 활용도를 극대화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0" name="그룹 19"/>
            <p:cNvGrpSpPr/>
            <p:nvPr/>
          </p:nvGrpSpPr>
          <p:grpSpPr>
            <a:xfrm>
              <a:off x="3478991" y="8045594"/>
              <a:ext cx="1476000" cy="1598167"/>
              <a:chOff x="333375" y="8045594"/>
              <a:chExt cx="1476000" cy="1598167"/>
            </a:xfrm>
          </p:grpSpPr>
          <p:sp>
            <p:nvSpPr>
              <p:cNvPr id="25" name="직사각형 24"/>
              <p:cNvSpPr/>
              <p:nvPr/>
            </p:nvSpPr>
            <p:spPr bwMode="gray">
              <a:xfrm>
                <a:off x="333375" y="8045594"/>
                <a:ext cx="1476000" cy="1598167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신속한 대응 체계 구축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7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94897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실시간 경고 알림과 대시보드 제공으로 빠른 상황 파악 및 대응 가능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위험 요소 발생 시 체계적인 대응 프로세스 지원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1" name="그룹 20"/>
            <p:cNvGrpSpPr/>
            <p:nvPr/>
          </p:nvGrpSpPr>
          <p:grpSpPr>
            <a:xfrm>
              <a:off x="5051799" y="8045594"/>
              <a:ext cx="1476000" cy="1598167"/>
              <a:chOff x="333375" y="8045594"/>
              <a:chExt cx="1476000" cy="1598167"/>
            </a:xfrm>
          </p:grpSpPr>
          <p:sp>
            <p:nvSpPr>
              <p:cNvPr id="22" name="직사각형 21"/>
              <p:cNvSpPr/>
              <p:nvPr/>
            </p:nvSpPr>
            <p:spPr bwMode="gray">
              <a:xfrm>
                <a:off x="333375" y="8045594"/>
                <a:ext cx="1476000" cy="1598167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조직 운영 효율성 증대</a:t>
                </a:r>
                <a:endPara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4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94897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자동화된 분석 및 예측 시스템으로 인력 부담 감소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AI </a:t>
                </a: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기반 솔루션 도입으로 업무 효율성 향상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.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4" name="AutoShape 9"/>
          <p:cNvSpPr>
            <a:spLocks/>
          </p:cNvSpPr>
          <p:nvPr/>
        </p:nvSpPr>
        <p:spPr bwMode="gray">
          <a:xfrm rot="16200000" flipH="1" flipV="1">
            <a:off x="3265102" y="4099155"/>
            <a:ext cx="340496" cy="6178550"/>
          </a:xfrm>
          <a:prstGeom prst="leftBrace">
            <a:avLst>
              <a:gd name="adj1" fmla="val 87097"/>
              <a:gd name="adj2" fmla="val 50000"/>
            </a:avLst>
          </a:prstGeom>
          <a:gradFill rotWithShape="1">
            <a:gsLst>
              <a:gs pos="0">
                <a:srgbClr val="B2B2B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 rot="10800000" vert="eaVert" wrap="none" anchor="ctr"/>
          <a:lstStyle/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E4136E8-2306-45F9-B4B4-2647E6E86EB6}"/>
              </a:ext>
            </a:extLst>
          </p:cNvPr>
          <p:cNvSpPr/>
          <p:nvPr/>
        </p:nvSpPr>
        <p:spPr>
          <a:xfrm>
            <a:off x="333375" y="5326732"/>
            <a:ext cx="6184698" cy="2182552"/>
          </a:xfrm>
          <a:prstGeom prst="rect">
            <a:avLst/>
          </a:prstGeom>
          <a:solidFill>
            <a:srgbClr val="EAEAEA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000" tIns="0" rIns="0" bIns="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Rectangle 97">
            <a:extLst>
              <a:ext uri="{FF2B5EF4-FFF2-40B4-BE49-F238E27FC236}">
                <a16:creationId xmlns:a16="http://schemas.microsoft.com/office/drawing/2014/main" id="{3240FD11-DCD5-4BCE-A50E-C2702797D82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3520" y="4384758"/>
            <a:ext cx="1202252" cy="25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>
              <a:lnSpc>
                <a:spcPct val="120000"/>
              </a:lnSpc>
              <a:defRPr/>
            </a:pPr>
            <a:r>
              <a:rPr lang="ko-KR" altLang="en-US" sz="1400" b="1" dirty="0" smtClean="0">
                <a:solidFill>
                  <a:srgbClr val="0069B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조기 경보 시스템</a:t>
            </a:r>
            <a:endParaRPr lang="ko-KR" altLang="en-US" sz="1400" b="1" dirty="0">
              <a:solidFill>
                <a:srgbClr val="0069B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7" name="Rectangle 97">
            <a:extLst>
              <a:ext uri="{FF2B5EF4-FFF2-40B4-BE49-F238E27FC236}">
                <a16:creationId xmlns:a16="http://schemas.microsoft.com/office/drawing/2014/main" id="{E293A284-D5E8-46BB-9E47-BEFBF993AA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782806" y="4393200"/>
            <a:ext cx="1359347" cy="25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>
              <a:lnSpc>
                <a:spcPct val="120000"/>
              </a:lnSpc>
              <a:defRPr/>
            </a:pPr>
            <a:r>
              <a:rPr lang="ko-KR" altLang="en-US" sz="1400" b="1" dirty="0" smtClean="0">
                <a:solidFill>
                  <a:srgbClr val="0069B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향후 이상징후 예측</a:t>
            </a:r>
            <a:endParaRPr lang="en-US" altLang="ko-KR" sz="1400" b="1" dirty="0" smtClean="0">
              <a:solidFill>
                <a:srgbClr val="0069B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8" name="Rectangle 97">
            <a:extLst>
              <a:ext uri="{FF2B5EF4-FFF2-40B4-BE49-F238E27FC236}">
                <a16:creationId xmlns:a16="http://schemas.microsoft.com/office/drawing/2014/main" id="{E452C1C0-D32A-462E-88A3-BFA83D25060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63925" y="4400403"/>
            <a:ext cx="1949858" cy="24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>
              <a:lnSpc>
                <a:spcPct val="120000"/>
              </a:lnSpc>
              <a:defRPr/>
            </a:pPr>
            <a:r>
              <a:rPr lang="ko-KR" altLang="en-US" sz="1400" b="1" dirty="0" smtClean="0">
                <a:solidFill>
                  <a:srgbClr val="0069B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실시간 시각화</a:t>
            </a:r>
            <a:endParaRPr lang="ko-KR" altLang="en-US" sz="1400" b="1" dirty="0">
              <a:solidFill>
                <a:srgbClr val="0069B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03952FF-4D89-4AF8-9EA5-9799C6FB2727}"/>
              </a:ext>
            </a:extLst>
          </p:cNvPr>
          <p:cNvCxnSpPr>
            <a:cxnSpLocks/>
          </p:cNvCxnSpPr>
          <p:nvPr/>
        </p:nvCxnSpPr>
        <p:spPr>
          <a:xfrm>
            <a:off x="2384644" y="4251951"/>
            <a:ext cx="0" cy="2745861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5952F8DF-FB11-447E-BC6C-9F5CE0CCDB56}"/>
              </a:ext>
            </a:extLst>
          </p:cNvPr>
          <p:cNvCxnSpPr>
            <a:cxnSpLocks/>
          </p:cNvCxnSpPr>
          <p:nvPr/>
        </p:nvCxnSpPr>
        <p:spPr>
          <a:xfrm>
            <a:off x="4544644" y="4251951"/>
            <a:ext cx="0" cy="2745861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6575EA-F51B-4347-9938-1EB0A177929B}"/>
              </a:ext>
            </a:extLst>
          </p:cNvPr>
          <p:cNvCxnSpPr>
            <a:cxnSpLocks/>
          </p:cNvCxnSpPr>
          <p:nvPr/>
        </p:nvCxnSpPr>
        <p:spPr>
          <a:xfrm>
            <a:off x="2384644" y="3958184"/>
            <a:ext cx="0" cy="1260322"/>
          </a:xfrm>
          <a:prstGeom prst="line">
            <a:avLst/>
          </a:prstGeom>
          <a:solidFill>
            <a:schemeClr val="bg1"/>
          </a:solidFill>
          <a:ln w="15240" algn="ctr">
            <a:solidFill>
              <a:srgbClr val="0185CF"/>
            </a:solidFill>
            <a:prstDash val="sysDot"/>
            <a:round/>
            <a:headEnd/>
            <a:tailEnd/>
          </a:ln>
          <a:effectLst/>
        </p:spPr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6EC1587-C791-4F1E-934C-01BC41F77A3A}"/>
              </a:ext>
            </a:extLst>
          </p:cNvPr>
          <p:cNvCxnSpPr>
            <a:cxnSpLocks/>
          </p:cNvCxnSpPr>
          <p:nvPr/>
        </p:nvCxnSpPr>
        <p:spPr>
          <a:xfrm>
            <a:off x="4544644" y="3958184"/>
            <a:ext cx="0" cy="1260322"/>
          </a:xfrm>
          <a:prstGeom prst="line">
            <a:avLst/>
          </a:prstGeom>
          <a:solidFill>
            <a:schemeClr val="bg1"/>
          </a:solidFill>
          <a:ln w="15240" algn="ctr">
            <a:solidFill>
              <a:srgbClr val="0185CF"/>
            </a:solidFill>
            <a:prstDash val="sysDot"/>
            <a:round/>
            <a:headEnd/>
            <a:tailEnd/>
          </a:ln>
          <a:effectLst/>
        </p:spPr>
      </p:cxnSp>
      <p:sp>
        <p:nvSpPr>
          <p:cNvPr id="43" name="Rectangle 26">
            <a:extLst>
              <a:ext uri="{FF2B5EF4-FFF2-40B4-BE49-F238E27FC236}">
                <a16:creationId xmlns:a16="http://schemas.microsoft.com/office/drawing/2014/main" id="{29C9F483-6CAA-44AC-A569-D18608E05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40" y="6021504"/>
            <a:ext cx="1914575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85725" indent="-85725"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buFont typeface="Arial" pitchFamily="34" charset="0"/>
              <a:buChar char="•"/>
              <a:defRPr/>
            </a:pPr>
            <a:r>
              <a:rPr lang="ko-KR" altLang="en-US" sz="1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이상행동 탐지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특정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영역에서 발생하는 이상 행동을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실시간으로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감지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패턴 분석을 통해 비정상적인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행동이나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사건을 자동으로 식별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marL="85725" indent="-85725"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buFont typeface="Arial" pitchFamily="34" charset="0"/>
              <a:buChar char="•"/>
              <a:defRPr/>
            </a:pPr>
            <a:r>
              <a:rPr lang="ko-KR" altLang="en-US" sz="10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군집 </a:t>
            </a:r>
            <a:r>
              <a:rPr lang="ko-KR" altLang="en-US" sz="1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정보 분석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특정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지역이나 그룹에 대한 군집 정보를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수집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및 분석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군집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내 행동 패턴을 파악하여 이상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징후를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탐지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44" name="Rectangle 26">
            <a:extLst>
              <a:ext uri="{FF2B5EF4-FFF2-40B4-BE49-F238E27FC236}">
                <a16:creationId xmlns:a16="http://schemas.microsoft.com/office/drawing/2014/main" id="{C61D5F4B-6815-40F1-973D-581592967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9746" y="6021504"/>
            <a:ext cx="1954493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85725" indent="-85725"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buFont typeface="Arial" pitchFamily="34" charset="0"/>
              <a:buChar char="•"/>
              <a:defRPr/>
            </a:pPr>
            <a:r>
              <a:rPr lang="ko-KR" altLang="en-US" sz="1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예측 모델 기반 분석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과거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데이터와 현재 데이터를 결합하여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향후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발생 가능한 이상징후를 예측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머신러닝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및 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AI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알고리즘을 활용해 높은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정확도의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예측 결과 제공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marL="85725" indent="-85725"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buFont typeface="Arial" pitchFamily="34" charset="0"/>
              <a:buChar char="•"/>
              <a:defRPr/>
            </a:pPr>
            <a:r>
              <a:rPr lang="ko-KR" altLang="en-US" sz="1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지표 정의 및 탐지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이상징후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탐지를 위한 주요 지표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행동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패턴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시간대별 변화 등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를 정의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지표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기반으로 실시간 이상징후를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탐지하여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경고 알림 제공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45" name="Rectangle 26">
            <a:extLst>
              <a:ext uri="{FF2B5EF4-FFF2-40B4-BE49-F238E27FC236}">
                <a16:creationId xmlns:a16="http://schemas.microsoft.com/office/drawing/2014/main" id="{B74D0569-98BE-4151-828A-D00C7A480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925" y="6021504"/>
            <a:ext cx="179085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85725" indent="-85725"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buFont typeface="Arial" pitchFamily="34" charset="0"/>
              <a:buChar char="•"/>
              <a:defRPr/>
            </a:pPr>
            <a:r>
              <a:rPr lang="ko-KR" altLang="en-US" sz="1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분석 및 예측 결과 모니터링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이상행동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분석 및 향후 예측 결과를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실시간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대시보드로 시각화 제공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사용자가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즉각적으로 상황을 파악하고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대응할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 있도록 지원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marL="85725" indent="-85725"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buFont typeface="Arial" pitchFamily="34" charset="0"/>
              <a:buChar char="•"/>
              <a:defRPr/>
            </a:pPr>
            <a:r>
              <a:rPr lang="ko-KR" altLang="en-US" sz="1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경고 알림 시스템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이상징후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발생 시 즉각적인 알림 </a:t>
            </a:r>
            <a:endParaRPr lang="en-US" altLang="ko-KR" sz="900" kern="0" spc="-3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전송으로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신속한 대응 가능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defTabSz="1076325" fontAlgn="ctr" latinLnBrk="0">
              <a:spcBef>
                <a:spcPts val="0"/>
              </a:spcBef>
              <a:buClr>
                <a:srgbClr val="808080"/>
              </a:buClr>
              <a:buSzPct val="80000"/>
              <a:defRPr/>
            </a:pP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900" kern="0" spc="-3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</a:t>
            </a:r>
            <a:r>
              <a:rPr lang="ko-KR" altLang="en-US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맞춤형 알림 설정 기능 제공</a:t>
            </a:r>
            <a:r>
              <a:rPr lang="en-US" altLang="ko-KR" sz="9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900" kern="0" spc="-30" dirty="0">
              <a:solidFill>
                <a:prstClr val="black">
                  <a:lumMod val="75000"/>
                  <a:lumOff val="25000"/>
                </a:prst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1E9AE36-907C-4D14-A114-DC6430BDAD5B}"/>
              </a:ext>
            </a:extLst>
          </p:cNvPr>
          <p:cNvSpPr/>
          <p:nvPr/>
        </p:nvSpPr>
        <p:spPr>
          <a:xfrm>
            <a:off x="776490" y="4824596"/>
            <a:ext cx="1056310" cy="1056310"/>
          </a:xfrm>
          <a:prstGeom prst="rect">
            <a:avLst/>
          </a:prstGeom>
          <a:solidFill>
            <a:srgbClr val="8FCFFF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0" rIns="1800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92075" indent="-92075" defTabSz="1076325" fontAlgn="ctr" latinLnBrk="0">
              <a:lnSpc>
                <a:spcPct val="110000"/>
              </a:lnSpc>
              <a:spcBef>
                <a:spcPts val="0"/>
              </a:spcBef>
              <a:buClr>
                <a:srgbClr val="808080"/>
              </a:buClr>
              <a:buSzPct val="80000"/>
              <a:buFont typeface="Arial" pitchFamily="34" charset="0"/>
              <a:buChar char="•"/>
            </a:pPr>
            <a:endParaRPr lang="ko-KR" altLang="en-US" sz="900" kern="0" spc="-5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직각 삼각형 46">
            <a:extLst>
              <a:ext uri="{FF2B5EF4-FFF2-40B4-BE49-F238E27FC236}">
                <a16:creationId xmlns:a16="http://schemas.microsoft.com/office/drawing/2014/main" id="{85229934-EBD0-4CDD-B433-4D6C19A7CD75}"/>
              </a:ext>
            </a:extLst>
          </p:cNvPr>
          <p:cNvSpPr/>
          <p:nvPr/>
        </p:nvSpPr>
        <p:spPr>
          <a:xfrm rot="5400000">
            <a:off x="776488" y="4824596"/>
            <a:ext cx="238441" cy="238441"/>
          </a:xfrm>
          <a:prstGeom prst="rtTriangle">
            <a:avLst/>
          </a:prstGeom>
          <a:solidFill>
            <a:srgbClr val="0185CF"/>
          </a:solidFill>
          <a:ln w="6350">
            <a:noFill/>
          </a:ln>
          <a:effectLst/>
        </p:spPr>
        <p:txBody>
          <a:bodyPr wrap="square" lIns="71985" tIns="0" rIns="71985" bIns="0" anchor="ctr" anchorCtr="0">
            <a:noAutofit/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defTabSz="1164913">
              <a:lnSpc>
                <a:spcPct val="110000"/>
              </a:lnSpc>
              <a:buClr>
                <a:srgbClr val="000000"/>
              </a:buClr>
              <a:buSzPct val="80000"/>
              <a:tabLst>
                <a:tab pos="655666" algn="l"/>
              </a:tabLst>
            </a:pPr>
            <a:endParaRPr lang="ko-KR" altLang="en-US" sz="1200" dirty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25715B0-7396-4318-988B-1E8EF7940715}"/>
              </a:ext>
            </a:extLst>
          </p:cNvPr>
          <p:cNvSpPr/>
          <p:nvPr/>
        </p:nvSpPr>
        <p:spPr>
          <a:xfrm>
            <a:off x="838669" y="4886775"/>
            <a:ext cx="931952" cy="9319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18000" tIns="0" rIns="0" bIns="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fontAlgn="base" latinLnBrk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Rectangle 395">
            <a:extLst>
              <a:ext uri="{FF2B5EF4-FFF2-40B4-BE49-F238E27FC236}">
                <a16:creationId xmlns:a16="http://schemas.microsoft.com/office/drawing/2014/main" id="{ABCD2637-6A01-4EC4-A8A7-D4930CB535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540" y="5170589"/>
            <a:ext cx="716210" cy="364331"/>
          </a:xfrm>
          <a:prstGeom prst="rect">
            <a:avLst/>
          </a:prstGeom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latinLnBrk="0">
              <a:lnSpc>
                <a:spcPct val="110000"/>
              </a:lnSpc>
              <a:spcBef>
                <a:spcPts val="0"/>
              </a:spcBef>
              <a:tabLst>
                <a:tab pos="914400" algn="l"/>
                <a:tab pos="7315200" algn="r"/>
              </a:tabLst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이상행동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0" lvl="1" algn="ctr" latinLnBrk="0">
              <a:lnSpc>
                <a:spcPct val="110000"/>
              </a:lnSpc>
              <a:spcBef>
                <a:spcPts val="0"/>
              </a:spcBef>
              <a:tabLst>
                <a:tab pos="914400" algn="l"/>
                <a:tab pos="7315200" algn="r"/>
              </a:tabLst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분석 및 탐지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3CF4EBE-ECB7-43AB-A636-C294BDC142FA}"/>
              </a:ext>
            </a:extLst>
          </p:cNvPr>
          <p:cNvSpPr/>
          <p:nvPr/>
        </p:nvSpPr>
        <p:spPr>
          <a:xfrm>
            <a:off x="2936490" y="4824596"/>
            <a:ext cx="1056310" cy="1056310"/>
          </a:xfrm>
          <a:prstGeom prst="rect">
            <a:avLst/>
          </a:prstGeom>
          <a:solidFill>
            <a:srgbClr val="8FCFFF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0" rIns="1800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92075" indent="-92075" defTabSz="1076325" fontAlgn="ctr" latinLnBrk="0">
              <a:lnSpc>
                <a:spcPct val="110000"/>
              </a:lnSpc>
              <a:spcBef>
                <a:spcPts val="0"/>
              </a:spcBef>
              <a:buClr>
                <a:srgbClr val="808080"/>
              </a:buClr>
              <a:buSzPct val="80000"/>
              <a:buFont typeface="Arial" pitchFamily="34" charset="0"/>
              <a:buChar char="•"/>
            </a:pPr>
            <a:endParaRPr lang="ko-KR" altLang="en-US" sz="900" kern="0" spc="-5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직각 삼각형 50">
            <a:extLst>
              <a:ext uri="{FF2B5EF4-FFF2-40B4-BE49-F238E27FC236}">
                <a16:creationId xmlns:a16="http://schemas.microsoft.com/office/drawing/2014/main" id="{9F4C2BF0-76B3-4641-B691-832877244789}"/>
              </a:ext>
            </a:extLst>
          </p:cNvPr>
          <p:cNvSpPr/>
          <p:nvPr/>
        </p:nvSpPr>
        <p:spPr>
          <a:xfrm rot="5400000">
            <a:off x="2936488" y="4824596"/>
            <a:ext cx="238441" cy="238441"/>
          </a:xfrm>
          <a:prstGeom prst="rtTriangle">
            <a:avLst/>
          </a:prstGeom>
          <a:solidFill>
            <a:srgbClr val="0185CF"/>
          </a:solidFill>
          <a:ln w="6350">
            <a:noFill/>
          </a:ln>
          <a:effectLst/>
        </p:spPr>
        <p:txBody>
          <a:bodyPr wrap="square" lIns="71985" tIns="0" rIns="71985" bIns="0" anchor="ctr" anchorCtr="0">
            <a:noAutofit/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defTabSz="1164913">
              <a:lnSpc>
                <a:spcPct val="110000"/>
              </a:lnSpc>
              <a:buClr>
                <a:srgbClr val="000000"/>
              </a:buClr>
              <a:buSzPct val="80000"/>
              <a:tabLst>
                <a:tab pos="655666" algn="l"/>
              </a:tabLst>
            </a:pPr>
            <a:endParaRPr lang="ko-KR" altLang="en-US" sz="1200" dirty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E4AA564-3701-4503-BC12-72F8690228D8}"/>
              </a:ext>
            </a:extLst>
          </p:cNvPr>
          <p:cNvSpPr/>
          <p:nvPr/>
        </p:nvSpPr>
        <p:spPr>
          <a:xfrm>
            <a:off x="2998669" y="4886775"/>
            <a:ext cx="931952" cy="9319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18000" tIns="0" rIns="0" bIns="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fontAlgn="base" latinLnBrk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Rectangle 395">
            <a:extLst>
              <a:ext uri="{FF2B5EF4-FFF2-40B4-BE49-F238E27FC236}">
                <a16:creationId xmlns:a16="http://schemas.microsoft.com/office/drawing/2014/main" id="{0673D15D-7EE0-45E1-A836-B351925F32E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31337" y="5170587"/>
            <a:ext cx="866614" cy="364331"/>
          </a:xfrm>
          <a:prstGeom prst="rect">
            <a:avLst/>
          </a:prstGeom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latinLnBrk="0">
              <a:lnSpc>
                <a:spcPct val="110000"/>
              </a:lnSpc>
              <a:spcBef>
                <a:spcPts val="0"/>
              </a:spcBef>
              <a:tabLst>
                <a:tab pos="914400" algn="l"/>
                <a:tab pos="7315200" algn="r"/>
              </a:tabLst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예측 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0" lvl="1" algn="ctr" latinLnBrk="0">
              <a:lnSpc>
                <a:spcPct val="110000"/>
              </a:lnSpc>
              <a:spcBef>
                <a:spcPts val="0"/>
              </a:spcBef>
              <a:tabLst>
                <a:tab pos="914400" algn="l"/>
                <a:tab pos="7315200" algn="r"/>
              </a:tabLst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지표 관리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6EA855E-7A5A-4301-96BA-50021B0D915B}"/>
              </a:ext>
            </a:extLst>
          </p:cNvPr>
          <p:cNvSpPr/>
          <p:nvPr/>
        </p:nvSpPr>
        <p:spPr>
          <a:xfrm>
            <a:off x="5096490" y="4824596"/>
            <a:ext cx="1056310" cy="1056310"/>
          </a:xfrm>
          <a:prstGeom prst="rect">
            <a:avLst/>
          </a:prstGeom>
          <a:solidFill>
            <a:srgbClr val="8FCFFF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0" rIns="1800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92075" indent="-92075" defTabSz="1076325" fontAlgn="ctr" latinLnBrk="0">
              <a:lnSpc>
                <a:spcPct val="110000"/>
              </a:lnSpc>
              <a:spcBef>
                <a:spcPts val="0"/>
              </a:spcBef>
              <a:buClr>
                <a:srgbClr val="808080"/>
              </a:buClr>
              <a:buSzPct val="80000"/>
              <a:buFont typeface="Arial" pitchFamily="34" charset="0"/>
              <a:buChar char="•"/>
            </a:pPr>
            <a:endParaRPr lang="ko-KR" altLang="en-US" sz="900" kern="0" spc="-5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직각 삼각형 54">
            <a:extLst>
              <a:ext uri="{FF2B5EF4-FFF2-40B4-BE49-F238E27FC236}">
                <a16:creationId xmlns:a16="http://schemas.microsoft.com/office/drawing/2014/main" id="{53B98210-61B0-459E-8E57-7BF2A895AC73}"/>
              </a:ext>
            </a:extLst>
          </p:cNvPr>
          <p:cNvSpPr/>
          <p:nvPr/>
        </p:nvSpPr>
        <p:spPr>
          <a:xfrm rot="5400000">
            <a:off x="5096488" y="4824596"/>
            <a:ext cx="238441" cy="238441"/>
          </a:xfrm>
          <a:prstGeom prst="rtTriangle">
            <a:avLst/>
          </a:prstGeom>
          <a:solidFill>
            <a:srgbClr val="0185CF"/>
          </a:solidFill>
          <a:ln w="6350">
            <a:noFill/>
          </a:ln>
          <a:effectLst/>
        </p:spPr>
        <p:txBody>
          <a:bodyPr wrap="square" lIns="71985" tIns="0" rIns="71985" bIns="0" anchor="ctr" anchorCtr="0">
            <a:noAutofit/>
            <a:scene3d>
              <a:camera prst="orthographicFront"/>
              <a:lightRig rig="threePt" dir="t"/>
            </a:scene3d>
            <a:sp3d>
              <a:bevelT w="0"/>
              <a:bevelB h="0"/>
            </a:sp3d>
          </a:bodyPr>
          <a:lstStyle/>
          <a:p>
            <a:pPr algn="ctr" defTabSz="1164913">
              <a:lnSpc>
                <a:spcPct val="110000"/>
              </a:lnSpc>
              <a:buClr>
                <a:srgbClr val="000000"/>
              </a:buClr>
              <a:buSzPct val="80000"/>
              <a:tabLst>
                <a:tab pos="655666" algn="l"/>
              </a:tabLst>
            </a:pPr>
            <a:endParaRPr lang="ko-KR" altLang="en-US" sz="1200" dirty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0D8409B-9F42-45FD-A843-9DAF630FBF47}"/>
              </a:ext>
            </a:extLst>
          </p:cNvPr>
          <p:cNvSpPr/>
          <p:nvPr/>
        </p:nvSpPr>
        <p:spPr>
          <a:xfrm>
            <a:off x="5158669" y="4886775"/>
            <a:ext cx="931952" cy="9319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18000" tIns="0" rIns="0" bIns="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fontAlgn="base" latinLnBrk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Rectangle 395">
            <a:extLst>
              <a:ext uri="{FF2B5EF4-FFF2-40B4-BE49-F238E27FC236}">
                <a16:creationId xmlns:a16="http://schemas.microsoft.com/office/drawing/2014/main" id="{BF2B58A5-826A-48D9-9016-E6CDB7486A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5266539" y="5166547"/>
            <a:ext cx="716210" cy="372410"/>
          </a:xfrm>
          <a:prstGeom prst="rect">
            <a:avLst/>
          </a:prstGeom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latinLnBrk="0">
              <a:lnSpc>
                <a:spcPct val="110000"/>
              </a:lnSpc>
              <a:spcBef>
                <a:spcPts val="0"/>
              </a:spcBef>
              <a:tabLst>
                <a:tab pos="914400" algn="l"/>
                <a:tab pos="7315200" algn="r"/>
              </a:tabLst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실시간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0" lvl="1" algn="ctr" latinLnBrk="0">
              <a:lnSpc>
                <a:spcPct val="110000"/>
              </a:lnSpc>
              <a:spcBef>
                <a:spcPts val="0"/>
              </a:spcBef>
              <a:tabLst>
                <a:tab pos="914400" algn="l"/>
                <a:tab pos="7315200" algn="r"/>
              </a:tabLst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모니터링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333375" y="3908884"/>
            <a:ext cx="6184697" cy="328106"/>
            <a:chOff x="649243" y="3830320"/>
            <a:chExt cx="6478677" cy="37636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86DAB271-84F3-40D0-9310-6A10503D12E6}"/>
                </a:ext>
              </a:extLst>
            </p:cNvPr>
            <p:cNvSpPr/>
            <p:nvPr/>
          </p:nvSpPr>
          <p:spPr>
            <a:xfrm>
              <a:off x="649243" y="3830320"/>
              <a:ext cx="6478677" cy="376361"/>
            </a:xfrm>
            <a:prstGeom prst="rect">
              <a:avLst/>
            </a:prstGeom>
            <a:solidFill>
              <a:srgbClr val="0185CF"/>
            </a:solidFill>
            <a:ln>
              <a:noFill/>
            </a:ln>
            <a:effectLst/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>
                <a:bevelT w="0"/>
                <a:bevelB h="0"/>
              </a:sp3d>
            </a:bodyPr>
            <a:lstStyle/>
            <a:p>
              <a:pPr algn="ctr" defTabSz="1164913">
                <a:lnSpc>
                  <a:spcPct val="110000"/>
                </a:lnSpc>
                <a:buClr>
                  <a:srgbClr val="000000"/>
                </a:buClr>
                <a:buSzPct val="80000"/>
                <a:tabLst>
                  <a:tab pos="655666" algn="l"/>
                </a:tabLst>
              </a:pPr>
              <a:endParaRPr lang="ko-KR" altLang="en-US" sz="1100" dirty="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4A36A29-560A-4CEA-853E-FFA6D9385D1F}"/>
                </a:ext>
              </a:extLst>
            </p:cNvPr>
            <p:cNvSpPr/>
            <p:nvPr/>
          </p:nvSpPr>
          <p:spPr>
            <a:xfrm>
              <a:off x="649243" y="3830320"/>
              <a:ext cx="6478677" cy="188181"/>
            </a:xfrm>
            <a:prstGeom prst="rect">
              <a:avLst/>
            </a:prstGeom>
            <a:gradFill>
              <a:gsLst>
                <a:gs pos="68000">
                  <a:srgbClr val="0185CF">
                    <a:alpha val="0"/>
                  </a:srgbClr>
                </a:gs>
                <a:gs pos="99000">
                  <a:srgbClr val="0069B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>
                <a:bevelT w="0"/>
                <a:bevelB h="0"/>
              </a:sp3d>
            </a:bodyPr>
            <a:lstStyle/>
            <a:p>
              <a:pPr algn="ctr" defTabSz="1164680">
                <a:lnSpc>
                  <a:spcPct val="110000"/>
                </a:lnSpc>
                <a:buClr>
                  <a:srgbClr val="000000"/>
                </a:buClr>
                <a:buSzPct val="80000"/>
                <a:tabLst>
                  <a:tab pos="655535" algn="l"/>
                </a:tabLst>
              </a:pPr>
              <a:endParaRPr lang="ko-KR" altLang="en-US" sz="1100" dirty="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C49DB129-2E56-4BA3-A28C-C1B7E28F7195}"/>
                </a:ext>
              </a:extLst>
            </p:cNvPr>
            <p:cNvSpPr/>
            <p:nvPr/>
          </p:nvSpPr>
          <p:spPr>
            <a:xfrm flipH="1">
              <a:off x="649243" y="4018503"/>
              <a:ext cx="6478677" cy="188183"/>
            </a:xfrm>
            <a:prstGeom prst="rect">
              <a:avLst/>
            </a:prstGeom>
            <a:gradFill>
              <a:gsLst>
                <a:gs pos="68000">
                  <a:srgbClr val="0185CF">
                    <a:alpha val="0"/>
                  </a:srgbClr>
                </a:gs>
                <a:gs pos="99000">
                  <a:srgbClr val="0069B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>
                <a:bevelT w="0"/>
                <a:bevelB h="0"/>
              </a:sp3d>
            </a:bodyPr>
            <a:lstStyle/>
            <a:p>
              <a:pPr algn="ctr" defTabSz="1164680">
                <a:lnSpc>
                  <a:spcPct val="110000"/>
                </a:lnSpc>
                <a:buClr>
                  <a:srgbClr val="000000"/>
                </a:buClr>
                <a:buSzPct val="80000"/>
                <a:tabLst>
                  <a:tab pos="655535" algn="l"/>
                </a:tabLst>
              </a:pPr>
              <a:endParaRPr lang="ko-KR" altLang="en-US" sz="1100" dirty="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62" name="Text Box 432">
              <a:extLst>
                <a:ext uri="{FF2B5EF4-FFF2-40B4-BE49-F238E27FC236}">
                  <a16:creationId xmlns:a16="http://schemas.microsoft.com/office/drawing/2014/main" id="{91C395D9-EF18-4F29-A66B-10910E667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2016" y="3882578"/>
              <a:ext cx="1313133" cy="271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marL="0" algn="ctr" defTabSz="914400" eaLnBrk="1" latinLnBrk="0" hangingPunct="1">
                <a:lnSpc>
                  <a:spcPct val="90000"/>
                </a:lnSpc>
                <a:buClr>
                  <a:srgbClr val="CC0000"/>
                </a:buClr>
                <a:buSzPct val="70000"/>
                <a:defRPr sz="1050" spc="-8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10800000" scaled="1"/>
                  </a:gradFill>
                  <a:latin typeface="Rix고딕 B" pitchFamily="18" charset="-127"/>
                  <a:ea typeface="Rix고딕 B" pitchFamily="18" charset="-127"/>
                </a:defRPr>
              </a:lvl1pPr>
              <a:lvl2pPr marL="457200" defTabSz="914400" eaLnBrk="1" hangingPunct="1">
                <a:defRPr sz="1800">
                  <a:latin typeface="+mn-lt"/>
                  <a:ea typeface="+mn-ea"/>
                </a:defRPr>
              </a:lvl2pPr>
              <a:lvl3pPr marL="914400" defTabSz="914400" eaLnBrk="1" hangingPunct="1">
                <a:defRPr sz="1800">
                  <a:latin typeface="+mn-lt"/>
                  <a:ea typeface="+mn-ea"/>
                </a:defRPr>
              </a:lvl3pPr>
              <a:lvl4pPr marL="1371600" defTabSz="914400" eaLnBrk="1" hangingPunct="1">
                <a:defRPr sz="1800">
                  <a:latin typeface="+mn-lt"/>
                  <a:ea typeface="+mn-ea"/>
                </a:defRPr>
              </a:lvl4pPr>
              <a:lvl5pPr marL="1828800" defTabSz="914400" eaLnBrk="1" hangingPunct="1">
                <a:defRPr sz="1800">
                  <a:latin typeface="+mn-lt"/>
                  <a:ea typeface="+mn-ea"/>
                </a:defRPr>
              </a:lvl5pPr>
              <a:lvl6pPr marL="2286000" defTabSz="914400">
                <a:defRPr sz="1800">
                  <a:latin typeface="+mn-lt"/>
                  <a:ea typeface="+mn-ea"/>
                </a:defRPr>
              </a:lvl6pPr>
              <a:lvl7pPr marL="2743200" defTabSz="914400">
                <a:defRPr sz="1800">
                  <a:latin typeface="+mn-lt"/>
                  <a:ea typeface="+mn-ea"/>
                </a:defRPr>
              </a:lvl7pPr>
              <a:lvl8pPr marL="3200400" defTabSz="914400">
                <a:defRPr sz="1800">
                  <a:latin typeface="+mn-lt"/>
                  <a:ea typeface="+mn-ea"/>
                </a:defRPr>
              </a:lvl8pPr>
              <a:lvl9pPr marL="3657600" defTabSz="914400">
                <a:defRPr sz="1800">
                  <a:latin typeface="+mn-lt"/>
                  <a:ea typeface="+mn-ea"/>
                </a:defRPr>
              </a:lvl9pPr>
            </a:lstStyle>
            <a:p>
              <a:pPr>
                <a:lnSpc>
                  <a:spcPct val="110000"/>
                </a:lnSpc>
                <a:defRPr/>
              </a:pPr>
              <a:r>
                <a:rPr lang="ko-KR" altLang="en-US" sz="1400" spc="0" dirty="0" smtClean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분석 및 예측 </a:t>
              </a:r>
              <a:r>
                <a:rPr lang="ko-KR" altLang="en-US" sz="1400" spc="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방안</a:t>
              </a:r>
            </a:p>
          </p:txBody>
        </p:sp>
      </p:grpSp>
      <p:sp>
        <p:nvSpPr>
          <p:cNvPr id="63" name="Rectangle 13"/>
          <p:cNvSpPr>
            <a:spLocks noChangeArrowheads="1"/>
          </p:cNvSpPr>
          <p:nvPr/>
        </p:nvSpPr>
        <p:spPr bwMode="gray">
          <a:xfrm>
            <a:off x="1097432" y="2974402"/>
            <a:ext cx="4663136" cy="270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600" kern="0" dirty="0">
                <a:solidFill>
                  <a:srgbClr val="EB61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사전 예방적 대응 능력 강화를 위한 이상행동 분석 및 </a:t>
            </a:r>
            <a:r>
              <a:rPr lang="ko-KR" altLang="en-US" sz="1600" kern="0" dirty="0" smtClean="0">
                <a:solidFill>
                  <a:srgbClr val="EB61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예측</a:t>
            </a:r>
            <a:endParaRPr lang="en-US" altLang="ko-KR" sz="1600" b="0" dirty="0">
              <a:solidFill>
                <a:prstClr val="black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838669" y="2973165"/>
            <a:ext cx="5167444" cy="176080"/>
            <a:chOff x="1753215" y="2773308"/>
            <a:chExt cx="3351569" cy="112027"/>
          </a:xfrm>
        </p:grpSpPr>
        <p:grpSp>
          <p:nvGrpSpPr>
            <p:cNvPr id="65" name="그룹 64"/>
            <p:cNvGrpSpPr/>
            <p:nvPr/>
          </p:nvGrpSpPr>
          <p:grpSpPr>
            <a:xfrm>
              <a:off x="1753215" y="2773308"/>
              <a:ext cx="167172" cy="112027"/>
              <a:chOff x="2083209" y="1553008"/>
              <a:chExt cx="167172" cy="112027"/>
            </a:xfrm>
          </p:grpSpPr>
          <p:sp>
            <p:nvSpPr>
              <p:cNvPr id="69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6" name="그룹 65"/>
            <p:cNvGrpSpPr/>
            <p:nvPr/>
          </p:nvGrpSpPr>
          <p:grpSpPr>
            <a:xfrm rot="10800000">
              <a:off x="4937612" y="2773308"/>
              <a:ext cx="167172" cy="112027"/>
              <a:chOff x="2083209" y="1553008"/>
              <a:chExt cx="167172" cy="112027"/>
            </a:xfrm>
          </p:grpSpPr>
          <p:sp>
            <p:nvSpPr>
              <p:cNvPr id="67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68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4" name="왼쪽 화살표 73"/>
          <p:cNvSpPr/>
          <p:nvPr/>
        </p:nvSpPr>
        <p:spPr bwMode="gray">
          <a:xfrm rot="16200000" flipH="1">
            <a:off x="3174762" y="3357880"/>
            <a:ext cx="508477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04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[전북] 제안서 A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IA_제안서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KP돋움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008BDF"/>
        </a:solidFill>
        <a:ln>
          <a:noFill/>
        </a:ln>
        <a:ex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100" dirty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rgbClr val="00A0E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23376</TotalTime>
  <Words>2885</Words>
  <Application>Microsoft Office PowerPoint</Application>
  <PresentationFormat>A4 용지(210x297mm)</PresentationFormat>
  <Paragraphs>439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7" baseType="lpstr">
      <vt:lpstr>KoPub돋움체 Bold</vt:lpstr>
      <vt:lpstr>KoPub돋움체 Light</vt:lpstr>
      <vt:lpstr>KoPub돋움체 Medium</vt:lpstr>
      <vt:lpstr>Monotype Sorts</vt:lpstr>
      <vt:lpstr>굴림</vt:lpstr>
      <vt:lpstr>나눔고딕</vt:lpstr>
      <vt:lpstr>나눔스퀘어</vt:lpstr>
      <vt:lpstr>맑은 고딕</vt:lpstr>
      <vt:lpstr>Arial</vt:lpstr>
      <vt:lpstr>Segoe UI</vt:lpstr>
      <vt:lpstr>Symbol</vt:lpstr>
      <vt:lpstr>Times New Roman</vt:lpstr>
      <vt:lpstr>Wingdings</vt:lpstr>
      <vt:lpstr>[전북] 제안서 A4</vt:lpstr>
      <vt:lpstr>NIA_제안서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PMS</dc:creator>
  <cp:lastModifiedBy>asher.kim</cp:lastModifiedBy>
  <cp:revision>998</cp:revision>
  <cp:lastPrinted>2018-12-03T03:57:42Z</cp:lastPrinted>
  <dcterms:created xsi:type="dcterms:W3CDTF">2017-10-12T02:04:35Z</dcterms:created>
  <dcterms:modified xsi:type="dcterms:W3CDTF">2025-03-12T07:57:37Z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F5E99A964F38BCEAA133E8E0F86B0F5403D48E4C44D3131F8DFD0CE8FB7313E4D632698F547958320998097296CB57599780E2A002359782FBE36E47C0AA4E53</vt:lpwstr>
  </property>
  <property fmtid="{5C58129F-E5B8-477A-9B38-B3E54BFA04C8}" pid="2">
    <vt:lpwstr>5A54E7EBD3244599A6D58415F73C281076A6826A586EF9EE5BFEBB7E03DDF200</vt:lpwstr>
  </property>
</Properties>
</file>