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0" r:id="rId2"/>
    <p:sldId id="271" r:id="rId3"/>
    <p:sldId id="296" r:id="rId4"/>
    <p:sldId id="290" r:id="rId5"/>
    <p:sldId id="297" r:id="rId6"/>
    <p:sldId id="291" r:id="rId7"/>
    <p:sldId id="29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98" userDrawn="1">
          <p15:clr>
            <a:srgbClr val="A4A3A4"/>
          </p15:clr>
        </p15:guide>
        <p15:guide id="4" pos="7582" userDrawn="1">
          <p15:clr>
            <a:srgbClr val="A4A3A4"/>
          </p15:clr>
        </p15:guide>
        <p15:guide id="5" orient="horz" pos="12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FF0000"/>
    <a:srgbClr val="7F7F7F"/>
    <a:srgbClr val="DEEBF7"/>
    <a:srgbClr val="313F50"/>
    <a:srgbClr val="F2F2F2"/>
    <a:srgbClr val="F2C5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3" autoAdjust="0"/>
    <p:restoredTop sz="96429" autoAdjust="0"/>
  </p:normalViewPr>
  <p:slideViewPr>
    <p:cSldViewPr>
      <p:cViewPr varScale="1">
        <p:scale>
          <a:sx n="124" d="100"/>
          <a:sy n="124" d="100"/>
        </p:scale>
        <p:origin x="258" y="102"/>
      </p:cViewPr>
      <p:guideLst>
        <p:guide orient="horz" pos="2319"/>
        <p:guide pos="3840"/>
        <p:guide pos="98"/>
        <p:guide pos="7582"/>
        <p:guide orient="horz" pos="12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9733;%20&#51204;&#47029;&#44592;&#54925;&#54016;%20&#44288;&#47532;\20250218_25&#45380;_&#54016;%20&#49324;&#50629;&#44228;&#54925;&#49436;\24&#45380;%20IT&#49436;&#48708;&#49828;&#48512;&#47928;_&#51204;&#47029;&#49324;&#50629;&#54016;%20&#49892;&#51201;&#44208;&#49328;_250219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ko-KR">
                <a:solidFill>
                  <a:sysClr val="windowText" lastClr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전략사업팀 </a:t>
            </a:r>
            <a:r>
              <a:rPr lang="en-US">
                <a:solidFill>
                  <a:sysClr val="windowText" lastClr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21~24</a:t>
            </a:r>
            <a:r>
              <a:rPr lang="ko-KR">
                <a:solidFill>
                  <a:sysClr val="windowText" lastClr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년 매출 현황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매출</c:v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5462668816039986E-17"/>
                  <c:y val="0.10495626822157435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0.1205053449951408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0.1010689990281827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1.0185067526415994E-16"/>
                  <c:y val="8.940719144800778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'매출 요약'!$B$4:$B$7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'매출 요약'!$E$4:$E$7</c:f>
              <c:numCache>
                <c:formatCode>_(* #,##0_);_(* \(#,##0\);_(* "-"_);_(@_)</c:formatCode>
                <c:ptCount val="4"/>
                <c:pt idx="0">
                  <c:v>1800333815</c:v>
                </c:pt>
                <c:pt idx="1">
                  <c:v>2170747609</c:v>
                </c:pt>
                <c:pt idx="2">
                  <c:v>2205001260</c:v>
                </c:pt>
                <c:pt idx="3">
                  <c:v>2250785841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61560288"/>
        <c:axId val="461568912"/>
      </c:barChart>
      <c:lineChart>
        <c:grouping val="standard"/>
        <c:varyColors val="0"/>
        <c:ser>
          <c:idx val="1"/>
          <c:order val="1"/>
          <c:tx>
            <c:v>영업이익</c:v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12700">
                <a:solidFill>
                  <a:schemeClr val="lt2"/>
                </a:solidFill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7.5000000000000053E-2"/>
                  <c:y val="-5.4421768707482922E-2"/>
                </c:manualLayout>
              </c:layout>
              <c:spPr>
                <a:solidFill>
                  <a:srgbClr val="FFFF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F0000"/>
                      </a:solidFill>
                      <a:latin typeface="KoPub돋움체 Light" panose="02020603020101020101" pitchFamily="18" charset="-127"/>
                      <a:ea typeface="KoPub돋움체 Light" panose="02020603020101020101" pitchFamily="18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8.0555555555555561E-2"/>
                  <c:y val="-5.4421768707483067E-2"/>
                </c:manualLayout>
              </c:layout>
              <c:spPr>
                <a:solidFill>
                  <a:srgbClr val="FFFF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F0000"/>
                      </a:solidFill>
                      <a:latin typeface="KoPub돋움체 Light" panose="02020603020101020101" pitchFamily="18" charset="-127"/>
                      <a:ea typeface="KoPub돋움체 Light" panose="02020603020101020101" pitchFamily="18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6.9444444444444545E-2"/>
                  <c:y val="-5.4421768707482922E-2"/>
                </c:manualLayout>
              </c:layout>
              <c:spPr>
                <a:solidFill>
                  <a:srgbClr val="FFFF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F0000"/>
                      </a:solidFill>
                      <a:latin typeface="KoPub돋움체 Light" panose="02020603020101020101" pitchFamily="18" charset="-127"/>
                      <a:ea typeface="KoPub돋움체 Light" panose="02020603020101020101" pitchFamily="18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7.2222222222222215E-2"/>
                  <c:y val="-5.4421768707483067E-2"/>
                </c:manualLayout>
              </c:layout>
              <c:spPr>
                <a:solidFill>
                  <a:srgbClr val="FFFF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F0000"/>
                      </a:solidFill>
                      <a:latin typeface="KoPub돋움체 Light" panose="02020603020101020101" pitchFamily="18" charset="-127"/>
                      <a:ea typeface="KoPub돋움체 Light" panose="02020603020101020101" pitchFamily="18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solidFill>
                <a:srgbClr val="FFFF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KoPub돋움체 Light" panose="02020603020101020101" pitchFamily="18" charset="-127"/>
                    <a:ea typeface="KoPub돋움체 Light" panose="02020603020101020101" pitchFamily="18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'매출 요약'!$B$4:$B$7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'매출 요약'!$G$4:$G$7</c:f>
              <c:numCache>
                <c:formatCode>_(* #,##0_);_(* \(#,##0\);_(* "-"_);_(@_)</c:formatCode>
                <c:ptCount val="4"/>
                <c:pt idx="0">
                  <c:v>500294573.29999995</c:v>
                </c:pt>
                <c:pt idx="1">
                  <c:v>644576125.02999997</c:v>
                </c:pt>
                <c:pt idx="2">
                  <c:v>613045586.37</c:v>
                </c:pt>
                <c:pt idx="3">
                  <c:v>650801956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1560288"/>
        <c:axId val="461568912"/>
      </c:lineChart>
      <c:lineChart>
        <c:grouping val="standard"/>
        <c:varyColors val="0"/>
        <c:ser>
          <c:idx val="2"/>
          <c:order val="2"/>
          <c:tx>
            <c:v>기획지원MM</c:v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6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12700">
                <a:solidFill>
                  <a:schemeClr val="lt2"/>
                </a:solidFill>
                <a:round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40AB1457-2E82-4E24-9201-F45BC762AF66}" type="VALUE">
                      <a:rPr lang="en-US" altLang="ko-KR"/>
                      <a:pPr/>
                      <a:t>[값]</a:t>
                    </a:fld>
                    <a:r>
                      <a:rPr lang="en-US" altLang="ko-KR"/>
                      <a:t>MM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/>
                      <a:t>6.61MM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7.4861111111111114E-2"/>
                  <c:y val="0.24486888118577016"/>
                </c:manualLayout>
              </c:layout>
              <c:tx>
                <c:rich>
                  <a:bodyPr/>
                  <a:lstStyle/>
                  <a:p>
                    <a:r>
                      <a:rPr lang="en-US" altLang="ko-KR"/>
                      <a:t>23.78MM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7.2083333333333333E-2"/>
                  <c:y val="-5.4450846705386247E-2"/>
                </c:manualLayout>
              </c:layout>
              <c:tx>
                <c:rich>
                  <a:bodyPr/>
                  <a:lstStyle/>
                  <a:p>
                    <a:r>
                      <a:rPr lang="en-US" altLang="ko-KR"/>
                      <a:t>11.64MM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'매출 요약'!$I$4:$I$7</c:f>
              <c:numCache>
                <c:formatCode>0.00</c:formatCode>
                <c:ptCount val="4"/>
                <c:pt idx="0">
                  <c:v>2</c:v>
                </c:pt>
                <c:pt idx="1">
                  <c:v>6.61</c:v>
                </c:pt>
                <c:pt idx="2">
                  <c:v>23.78</c:v>
                </c:pt>
                <c:pt idx="3">
                  <c:v>11.64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1568520"/>
        <c:axId val="461562640"/>
      </c:lineChart>
      <c:catAx>
        <c:axId val="461560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61568912"/>
        <c:crosses val="autoZero"/>
        <c:auto val="1"/>
        <c:lblAlgn val="ctr"/>
        <c:lblOffset val="100"/>
        <c:noMultiLvlLbl val="0"/>
      </c:catAx>
      <c:valAx>
        <c:axId val="461568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defRPr>
            </a:pPr>
            <a:endParaRPr lang="ko-KR"/>
          </a:p>
        </c:txPr>
        <c:crossAx val="461560288"/>
        <c:crosses val="autoZero"/>
        <c:crossBetween val="between"/>
      </c:valAx>
      <c:valAx>
        <c:axId val="461562640"/>
        <c:scaling>
          <c:orientation val="minMax"/>
        </c:scaling>
        <c:delete val="0"/>
        <c:axPos val="r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61568520"/>
        <c:crosses val="max"/>
        <c:crossBetween val="between"/>
      </c:valAx>
      <c:catAx>
        <c:axId val="461568520"/>
        <c:scaling>
          <c:orientation val="minMax"/>
        </c:scaling>
        <c:delete val="1"/>
        <c:axPos val="b"/>
        <c:majorTickMark val="out"/>
        <c:minorTickMark val="none"/>
        <c:tickLblPos val="nextTo"/>
        <c:crossAx val="46156264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963507762090826E-2"/>
          <c:y val="0.15234323461920105"/>
          <c:w val="0.69753056099995292"/>
          <c:h val="0.8078056041258457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팀원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B3B7-4BDB-804A-1F767BF88437}"/>
              </c:ext>
            </c:extLst>
          </c:dPt>
          <c:dPt>
            <c:idx val="1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3B7-4BDB-804A-1F767BF88437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B3B7-4BDB-804A-1F767BF88437}"/>
              </c:ext>
            </c:extLst>
          </c:dPt>
          <c:dPt>
            <c:idx val="3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B3B7-4BDB-804A-1F767BF88437}"/>
              </c:ext>
            </c:extLst>
          </c:dPt>
          <c:dPt>
            <c:idx val="4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B3B7-4BDB-804A-1F767BF88437}"/>
              </c:ext>
            </c:extLst>
          </c:dPt>
          <c:dPt>
            <c:idx val="5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6-B3B7-4BDB-804A-1F767BF8843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팀장</c:v>
                </c:pt>
                <c:pt idx="1">
                  <c:v>부장</c:v>
                </c:pt>
                <c:pt idx="2">
                  <c:v>차장</c:v>
                </c:pt>
                <c:pt idx="3">
                  <c:v>과장</c:v>
                </c:pt>
                <c:pt idx="4">
                  <c:v>대리</c:v>
                </c:pt>
                <c:pt idx="5">
                  <c:v>사원</c:v>
                </c:pt>
              </c:strCache>
            </c:strRef>
          </c:cat>
          <c:val>
            <c:numRef>
              <c:f>Sheet1!$B$2:$B$7</c:f>
              <c:numCache>
                <c:formatCode>0.0%</c:formatCode>
                <c:ptCount val="6"/>
                <c:pt idx="0">
                  <c:v>7.0999999999999994E-2</c:v>
                </c:pt>
                <c:pt idx="1">
                  <c:v>7.0999999999999994E-2</c:v>
                </c:pt>
                <c:pt idx="2">
                  <c:v>0.14299999999999999</c:v>
                </c:pt>
                <c:pt idx="3">
                  <c:v>0.35699999999999998</c:v>
                </c:pt>
                <c:pt idx="4">
                  <c:v>0.14299999999999999</c:v>
                </c:pt>
                <c:pt idx="5">
                  <c:v>0.214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3B7-4BDB-804A-1F767BF884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326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6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3BD297-3721-4F20-8BED-1562722BAA6E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E1CBB0-6CE3-4287-BDBB-BDA6A77B0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33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E1CBB0-6CE3-4287-BDBB-BDA6A77B0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057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E1CBB0-6CE3-4287-BDBB-BDA6A77B061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282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E1CBB0-6CE3-4287-BDBB-BDA6A77B061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831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fld id="{44F7DF64-0884-4D71-AED3-AE4750E7AF59}" type="datetimeFigureOut">
              <a:rPr lang="ko-KR" altLang="en-US" smtClean="0"/>
              <a:pPr/>
              <a:t>2025-04-29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fld id="{90711C62-5D1A-4429-9725-BA9C994D7E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63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1080"/>
            <a:ext cx="1219200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 descr="bg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00265" y="0"/>
            <a:ext cx="5291735" cy="2857496"/>
          </a:xfrm>
          <a:prstGeom prst="rect">
            <a:avLst/>
          </a:prstGeom>
        </p:spPr>
      </p:pic>
      <p:grpSp>
        <p:nvGrpSpPr>
          <p:cNvPr id="10" name="그룹 9"/>
          <p:cNvGrpSpPr/>
          <p:nvPr userDrawn="1"/>
        </p:nvGrpSpPr>
        <p:grpSpPr>
          <a:xfrm>
            <a:off x="5941015" y="-644852"/>
            <a:ext cx="5457065" cy="4243171"/>
            <a:chOff x="4827074" y="-644852"/>
            <a:chExt cx="4433865" cy="4243171"/>
          </a:xfrm>
        </p:grpSpPr>
        <p:grpSp>
          <p:nvGrpSpPr>
            <p:cNvPr id="11" name="그룹 16"/>
            <p:cNvGrpSpPr/>
            <p:nvPr/>
          </p:nvGrpSpPr>
          <p:grpSpPr>
            <a:xfrm rot="2691553">
              <a:off x="7282535" y="-644851"/>
              <a:ext cx="28800" cy="4243170"/>
              <a:chOff x="4238620" y="1428736"/>
              <a:chExt cx="142876" cy="1500198"/>
            </a:xfrm>
          </p:grpSpPr>
          <p:sp>
            <p:nvSpPr>
              <p:cNvPr id="32" name="직사각형 31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2" name="그룹 20"/>
            <p:cNvGrpSpPr/>
            <p:nvPr/>
          </p:nvGrpSpPr>
          <p:grpSpPr>
            <a:xfrm rot="2691553">
              <a:off x="6437537" y="-297113"/>
              <a:ext cx="28800" cy="2020548"/>
              <a:chOff x="4238620" y="1428736"/>
              <a:chExt cx="142876" cy="1500198"/>
            </a:xfrm>
          </p:grpSpPr>
          <p:sp>
            <p:nvSpPr>
              <p:cNvPr id="29" name="직사각형 28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3" name="그룹 24"/>
            <p:cNvGrpSpPr/>
            <p:nvPr/>
          </p:nvGrpSpPr>
          <p:grpSpPr>
            <a:xfrm rot="2691553">
              <a:off x="4827073" y="-308165"/>
              <a:ext cx="28800" cy="2057007"/>
              <a:chOff x="4238620" y="1428736"/>
              <a:chExt cx="142876" cy="1500198"/>
            </a:xfrm>
          </p:grpSpPr>
          <p:sp>
            <p:nvSpPr>
              <p:cNvPr id="26" name="직사각형 25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7" name="직사각형 26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8" name="직사각형 27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4" name="그룹 28"/>
            <p:cNvGrpSpPr/>
            <p:nvPr/>
          </p:nvGrpSpPr>
          <p:grpSpPr>
            <a:xfrm rot="2691553">
              <a:off x="9232138" y="189843"/>
              <a:ext cx="28800" cy="1885920"/>
              <a:chOff x="4238620" y="1428736"/>
              <a:chExt cx="142876" cy="1500198"/>
            </a:xfrm>
          </p:grpSpPr>
          <p:sp>
            <p:nvSpPr>
              <p:cNvPr id="23" name="직사각형 22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5" name="그룹 32"/>
            <p:cNvGrpSpPr/>
            <p:nvPr/>
          </p:nvGrpSpPr>
          <p:grpSpPr>
            <a:xfrm rot="2691553">
              <a:off x="8876694" y="2063979"/>
              <a:ext cx="28800" cy="1395312"/>
              <a:chOff x="4238620" y="1428736"/>
              <a:chExt cx="142876" cy="1500198"/>
            </a:xfrm>
          </p:grpSpPr>
          <p:sp>
            <p:nvSpPr>
              <p:cNvPr id="20" name="직사각형 19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6" name="그룹 40"/>
            <p:cNvGrpSpPr/>
            <p:nvPr/>
          </p:nvGrpSpPr>
          <p:grpSpPr>
            <a:xfrm rot="2691553">
              <a:off x="5561535" y="2994648"/>
              <a:ext cx="28800" cy="398892"/>
              <a:chOff x="4238620" y="1428736"/>
              <a:chExt cx="142876" cy="1500198"/>
            </a:xfrm>
          </p:grpSpPr>
          <p:sp>
            <p:nvSpPr>
              <p:cNvPr id="17" name="직사각형 16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2610" y="3429001"/>
            <a:ext cx="10363200" cy="14700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361877" y="5445900"/>
            <a:ext cx="5305586" cy="7696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tint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마스터 부제목 스타일 편집</a:t>
            </a:r>
            <a:endParaRPr lang="ko-KR" altLang="en-US" dirty="0"/>
          </a:p>
        </p:txBody>
      </p:sp>
      <p:grpSp>
        <p:nvGrpSpPr>
          <p:cNvPr id="35" name="그룹 34"/>
          <p:cNvGrpSpPr/>
          <p:nvPr userDrawn="1"/>
        </p:nvGrpSpPr>
        <p:grpSpPr>
          <a:xfrm>
            <a:off x="12016153" y="3143248"/>
            <a:ext cx="175847" cy="1500198"/>
            <a:chOff x="4238620" y="1428736"/>
            <a:chExt cx="142876" cy="1500198"/>
          </a:xfrm>
        </p:grpSpPr>
        <p:sp>
          <p:nvSpPr>
            <p:cNvPr id="36" name="직사각형 35"/>
            <p:cNvSpPr/>
            <p:nvPr/>
          </p:nvSpPr>
          <p:spPr>
            <a:xfrm>
              <a:off x="4238620" y="1428736"/>
              <a:ext cx="142876" cy="500066"/>
            </a:xfrm>
            <a:prstGeom prst="rect">
              <a:avLst/>
            </a:prstGeom>
            <a:solidFill>
              <a:srgbClr val="1E21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4238620" y="1928802"/>
              <a:ext cx="142876" cy="500066"/>
            </a:xfrm>
            <a:prstGeom prst="rect">
              <a:avLst/>
            </a:prstGeom>
            <a:solidFill>
              <a:srgbClr val="0D60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4238620" y="2428868"/>
              <a:ext cx="142876" cy="500066"/>
            </a:xfrm>
            <a:prstGeom prst="rect">
              <a:avLst/>
            </a:prstGeom>
            <a:solidFill>
              <a:srgbClr val="0097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40" name="TextBox 39"/>
          <p:cNvSpPr txBox="1"/>
          <p:nvPr userDrawn="1"/>
        </p:nvSpPr>
        <p:spPr>
          <a:xfrm>
            <a:off x="512610" y="5146307"/>
            <a:ext cx="20665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꿈과 열정의 새로운 디지털 세상</a:t>
            </a:r>
            <a:endParaRPr lang="ko-KR" altLang="en-US" sz="1200" b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2" name="직사각형 41"/>
          <p:cNvSpPr/>
          <p:nvPr userDrawn="1"/>
        </p:nvSpPr>
        <p:spPr>
          <a:xfrm>
            <a:off x="509539" y="5440730"/>
            <a:ext cx="5634892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ko-KR" sz="900" dirty="0" smtClean="0">
                <a:solidFill>
                  <a:srgbClr val="89898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This </a:t>
            </a:r>
            <a:r>
              <a:rPr lang="en-US" altLang="ko-KR" sz="900" dirty="0">
                <a:solidFill>
                  <a:srgbClr val="89898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material is proprietary to </a:t>
            </a:r>
            <a:r>
              <a:rPr lang="en-US" altLang="ko-KR" sz="900" dirty="0" smtClean="0">
                <a:solidFill>
                  <a:srgbClr val="89898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Gaeasoft</a:t>
            </a:r>
            <a:endParaRPr lang="en-US" altLang="ko-KR" sz="900" baseline="0" dirty="0" smtClean="0">
              <a:solidFill>
                <a:srgbClr val="898989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l">
              <a:defRPr/>
            </a:pPr>
            <a:r>
              <a:rPr lang="en-US" altLang="ko-KR" sz="900" baseline="0" dirty="0" smtClean="0">
                <a:solidFill>
                  <a:srgbClr val="89898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</a:t>
            </a:r>
            <a:r>
              <a:rPr lang="en-US" altLang="ko-KR" sz="900" dirty="0" smtClean="0">
                <a:solidFill>
                  <a:srgbClr val="89898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 </a:t>
            </a:r>
            <a:r>
              <a:rPr lang="en-US" altLang="ko-KR" sz="900" dirty="0">
                <a:solidFill>
                  <a:srgbClr val="89898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contains trade secrets and confidential </a:t>
            </a:r>
            <a:r>
              <a:rPr lang="en-US" altLang="ko-KR" sz="900" dirty="0" smtClean="0">
                <a:solidFill>
                  <a:srgbClr val="89898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information</a:t>
            </a:r>
            <a:endParaRPr lang="en-US" altLang="ko-KR" sz="900" baseline="0" dirty="0" smtClean="0">
              <a:solidFill>
                <a:srgbClr val="898989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l">
              <a:defRPr/>
            </a:pPr>
            <a:r>
              <a:rPr lang="en-US" altLang="ko-KR" sz="900" dirty="0" smtClean="0">
                <a:solidFill>
                  <a:srgbClr val="89898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which </a:t>
            </a:r>
            <a:r>
              <a:rPr lang="en-US" altLang="ko-KR" sz="900" dirty="0">
                <a:solidFill>
                  <a:srgbClr val="89898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is the property of </a:t>
            </a:r>
            <a:r>
              <a:rPr lang="en-US" altLang="ko-KR" sz="900" dirty="0" smtClean="0">
                <a:solidFill>
                  <a:srgbClr val="89898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Gaeasoft</a:t>
            </a:r>
            <a:endParaRPr lang="en-US" altLang="ko-KR" sz="900" dirty="0">
              <a:solidFill>
                <a:srgbClr val="898989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l">
              <a:defRPr/>
            </a:pPr>
            <a:endParaRPr lang="en-US" altLang="ko-KR" sz="900" dirty="0">
              <a:solidFill>
                <a:srgbClr val="898989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l">
              <a:defRPr/>
            </a:pPr>
            <a:r>
              <a:rPr lang="en-US" altLang="ko-KR" sz="900" dirty="0">
                <a:solidFill>
                  <a:srgbClr val="89898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This material shall not be used, reproduced, copied, disclosed, transmitted,</a:t>
            </a:r>
          </a:p>
          <a:p>
            <a:pPr algn="l">
              <a:defRPr/>
            </a:pPr>
            <a:r>
              <a:rPr lang="en-US" altLang="ko-KR" sz="900" dirty="0">
                <a:solidFill>
                  <a:srgbClr val="89898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in whole or in part, without the express consent of </a:t>
            </a:r>
            <a:r>
              <a:rPr lang="en-US" altLang="ko-KR" sz="900" dirty="0" smtClean="0">
                <a:solidFill>
                  <a:srgbClr val="898989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Gaeasoft</a:t>
            </a:r>
            <a:endParaRPr lang="ko-KR" altLang="en-US" sz="900" dirty="0">
              <a:solidFill>
                <a:srgbClr val="898989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43" name="그림 42" descr="가로로고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2380" y="6388050"/>
            <a:ext cx="1136727" cy="331546"/>
          </a:xfrm>
          <a:prstGeom prst="rect">
            <a:avLst/>
          </a:prstGeom>
        </p:spPr>
      </p:pic>
      <p:pic>
        <p:nvPicPr>
          <p:cNvPr id="41" name="그림 40" descr="심볼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9083" y="901140"/>
            <a:ext cx="1320711" cy="131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731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1080"/>
            <a:ext cx="1219200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bg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00265" y="0"/>
            <a:ext cx="5291735" cy="2857496"/>
          </a:xfrm>
          <a:prstGeom prst="rect">
            <a:avLst/>
          </a:prstGeom>
        </p:spPr>
      </p:pic>
      <p:pic>
        <p:nvPicPr>
          <p:cNvPr id="38" name="그림 37" descr="가로로고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21143" y="6356350"/>
            <a:ext cx="923591" cy="331546"/>
          </a:xfrm>
          <a:prstGeom prst="rect">
            <a:avLst/>
          </a:prstGeom>
        </p:spPr>
      </p:pic>
      <p:sp>
        <p:nvSpPr>
          <p:cNvPr id="40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fld id="{44F7DF64-0884-4D71-AED3-AE4750E7AF59}" type="datetimeFigureOut">
              <a:rPr lang="ko-KR" altLang="en-US" smtClean="0"/>
              <a:pPr/>
              <a:t>2025-04-29</a:t>
            </a:fld>
            <a:endParaRPr lang="ko-KR" altLang="en-US" dirty="0"/>
          </a:p>
        </p:txBody>
      </p:sp>
      <p:sp>
        <p:nvSpPr>
          <p:cNvPr id="4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4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fld id="{90711C62-5D1A-4429-9725-BA9C994D7E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43" name="그룹 42"/>
          <p:cNvGrpSpPr/>
          <p:nvPr userDrawn="1"/>
        </p:nvGrpSpPr>
        <p:grpSpPr>
          <a:xfrm rot="16200000" flipH="1">
            <a:off x="1365850" y="-627692"/>
            <a:ext cx="102640" cy="1358023"/>
            <a:chOff x="4238620" y="1428736"/>
            <a:chExt cx="142876" cy="1500198"/>
          </a:xfrm>
        </p:grpSpPr>
        <p:sp>
          <p:nvSpPr>
            <p:cNvPr id="44" name="직사각형 43"/>
            <p:cNvSpPr/>
            <p:nvPr/>
          </p:nvSpPr>
          <p:spPr>
            <a:xfrm>
              <a:off x="4238620" y="1428736"/>
              <a:ext cx="142876" cy="500066"/>
            </a:xfrm>
            <a:prstGeom prst="rect">
              <a:avLst/>
            </a:prstGeom>
            <a:solidFill>
              <a:srgbClr val="1E21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4238620" y="1928802"/>
              <a:ext cx="142876" cy="500066"/>
            </a:xfrm>
            <a:prstGeom prst="rect">
              <a:avLst/>
            </a:prstGeom>
            <a:solidFill>
              <a:srgbClr val="0D60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4238620" y="2428868"/>
              <a:ext cx="142876" cy="500066"/>
            </a:xfrm>
            <a:prstGeom prst="rect">
              <a:avLst/>
            </a:prstGeom>
            <a:solidFill>
              <a:srgbClr val="0097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51" name="제목 개체 틀 1"/>
          <p:cNvSpPr>
            <a:spLocks noGrp="1"/>
          </p:cNvSpPr>
          <p:nvPr>
            <p:ph type="title"/>
          </p:nvPr>
        </p:nvSpPr>
        <p:spPr>
          <a:xfrm>
            <a:off x="416495" y="210412"/>
            <a:ext cx="7776865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52" name="텍스트 개체 틀 2"/>
          <p:cNvSpPr>
            <a:spLocks noGrp="1"/>
          </p:cNvSpPr>
          <p:nvPr>
            <p:ph idx="1"/>
          </p:nvPr>
        </p:nvSpPr>
        <p:spPr>
          <a:xfrm>
            <a:off x="415924" y="981075"/>
            <a:ext cx="11479439" cy="7197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2342086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1080"/>
            <a:ext cx="1219200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bg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00265" y="0"/>
            <a:ext cx="5291735" cy="2857496"/>
          </a:xfrm>
          <a:prstGeom prst="rect">
            <a:avLst/>
          </a:prstGeom>
        </p:spPr>
      </p:pic>
      <p:grpSp>
        <p:nvGrpSpPr>
          <p:cNvPr id="9" name="그룹 8"/>
          <p:cNvGrpSpPr/>
          <p:nvPr userDrawn="1"/>
        </p:nvGrpSpPr>
        <p:grpSpPr>
          <a:xfrm>
            <a:off x="5941015" y="-644852"/>
            <a:ext cx="5457065" cy="4243171"/>
            <a:chOff x="4827074" y="-644852"/>
            <a:chExt cx="4433865" cy="4243171"/>
          </a:xfrm>
        </p:grpSpPr>
        <p:grpSp>
          <p:nvGrpSpPr>
            <p:cNvPr id="10" name="그룹 16"/>
            <p:cNvGrpSpPr/>
            <p:nvPr/>
          </p:nvGrpSpPr>
          <p:grpSpPr>
            <a:xfrm rot="2691553">
              <a:off x="7282535" y="-644851"/>
              <a:ext cx="28800" cy="4243170"/>
              <a:chOff x="4238620" y="1428736"/>
              <a:chExt cx="142876" cy="1500198"/>
            </a:xfrm>
          </p:grpSpPr>
          <p:sp>
            <p:nvSpPr>
              <p:cNvPr id="31" name="직사각형 30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1" name="그룹 20"/>
            <p:cNvGrpSpPr/>
            <p:nvPr/>
          </p:nvGrpSpPr>
          <p:grpSpPr>
            <a:xfrm rot="2691553">
              <a:off x="6437537" y="-297113"/>
              <a:ext cx="28800" cy="2020548"/>
              <a:chOff x="4238620" y="1428736"/>
              <a:chExt cx="142876" cy="1500198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2" name="그룹 24"/>
            <p:cNvGrpSpPr/>
            <p:nvPr/>
          </p:nvGrpSpPr>
          <p:grpSpPr>
            <a:xfrm rot="2691553">
              <a:off x="4827073" y="-308165"/>
              <a:ext cx="28800" cy="2057007"/>
              <a:chOff x="4238620" y="1428736"/>
              <a:chExt cx="142876" cy="1500198"/>
            </a:xfrm>
          </p:grpSpPr>
          <p:sp>
            <p:nvSpPr>
              <p:cNvPr id="25" name="직사각형 24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7" name="직사각형 26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3" name="그룹 28"/>
            <p:cNvGrpSpPr/>
            <p:nvPr/>
          </p:nvGrpSpPr>
          <p:grpSpPr>
            <a:xfrm rot="2691553">
              <a:off x="9232138" y="189843"/>
              <a:ext cx="28800" cy="1885920"/>
              <a:chOff x="4238620" y="1428736"/>
              <a:chExt cx="142876" cy="1500198"/>
            </a:xfrm>
          </p:grpSpPr>
          <p:sp>
            <p:nvSpPr>
              <p:cNvPr id="22" name="직사각형 21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4" name="그룹 32"/>
            <p:cNvGrpSpPr/>
            <p:nvPr/>
          </p:nvGrpSpPr>
          <p:grpSpPr>
            <a:xfrm rot="2691553">
              <a:off x="8876694" y="2063979"/>
              <a:ext cx="28800" cy="1395312"/>
              <a:chOff x="4238620" y="1428736"/>
              <a:chExt cx="142876" cy="1500198"/>
            </a:xfrm>
          </p:grpSpPr>
          <p:sp>
            <p:nvSpPr>
              <p:cNvPr id="19" name="직사각형 18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5" name="그룹 40"/>
            <p:cNvGrpSpPr/>
            <p:nvPr/>
          </p:nvGrpSpPr>
          <p:grpSpPr>
            <a:xfrm rot="2691553">
              <a:off x="5561535" y="2994648"/>
              <a:ext cx="28800" cy="398892"/>
              <a:chOff x="4238620" y="1428736"/>
              <a:chExt cx="142876" cy="1500198"/>
            </a:xfrm>
          </p:grpSpPr>
          <p:sp>
            <p:nvSpPr>
              <p:cNvPr id="16" name="직사각형 15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</p:grpSp>
      <p:pic>
        <p:nvPicPr>
          <p:cNvPr id="39" name="그림 38" descr="가로로고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2380" y="6388050"/>
            <a:ext cx="1136727" cy="331546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12016153" y="3929066"/>
            <a:ext cx="175847" cy="1500198"/>
            <a:chOff x="9763124" y="3929066"/>
            <a:chExt cx="142876" cy="1500198"/>
          </a:xfrm>
        </p:grpSpPr>
        <p:sp>
          <p:nvSpPr>
            <p:cNvPr id="47" name="직사각형 46"/>
            <p:cNvSpPr/>
            <p:nvPr/>
          </p:nvSpPr>
          <p:spPr>
            <a:xfrm>
              <a:off x="9763124" y="3929066"/>
              <a:ext cx="142876" cy="500066"/>
            </a:xfrm>
            <a:prstGeom prst="rect">
              <a:avLst/>
            </a:prstGeom>
            <a:solidFill>
              <a:srgbClr val="1E21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b="0" i="0" dirty="0">
                <a:latin typeface="나눔고딕" charset="-127"/>
                <a:ea typeface="나눔고딕" charset="-127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9763124" y="4429132"/>
              <a:ext cx="142876" cy="500066"/>
            </a:xfrm>
            <a:prstGeom prst="rect">
              <a:avLst/>
            </a:prstGeom>
            <a:solidFill>
              <a:srgbClr val="0D60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b="0" i="0" dirty="0">
                <a:latin typeface="나눔고딕" charset="-127"/>
                <a:ea typeface="나눔고딕" charset="-127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9763124" y="4929198"/>
              <a:ext cx="142876" cy="500066"/>
            </a:xfrm>
            <a:prstGeom prst="rect">
              <a:avLst/>
            </a:prstGeom>
            <a:solidFill>
              <a:srgbClr val="0097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b="0" i="0" dirty="0">
                <a:latin typeface="나눔고딕" charset="-127"/>
                <a:ea typeface="나눔고딕" charset="-127"/>
              </a:endParaRPr>
            </a:p>
          </p:txBody>
        </p:sp>
      </p:grpSp>
      <p:sp>
        <p:nvSpPr>
          <p:cNvPr id="50" name="직사각형 49"/>
          <p:cNvSpPr/>
          <p:nvPr userDrawn="1"/>
        </p:nvSpPr>
        <p:spPr>
          <a:xfrm>
            <a:off x="0" y="3929066"/>
            <a:ext cx="1846398" cy="1500198"/>
          </a:xfrm>
          <a:prstGeom prst="rect">
            <a:avLst/>
          </a:prstGeom>
          <a:solidFill>
            <a:srgbClr val="0D60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i="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 userDrawn="1">
            <p:ph type="title"/>
          </p:nvPr>
        </p:nvSpPr>
        <p:spPr>
          <a:xfrm>
            <a:off x="2196490" y="3929066"/>
            <a:ext cx="6646892" cy="15001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 b="1" cap="all">
                <a:solidFill>
                  <a:srgbClr val="0D605D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82662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1080"/>
            <a:ext cx="12192000" cy="6856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bg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00265" y="0"/>
            <a:ext cx="5291735" cy="2857496"/>
          </a:xfrm>
          <a:prstGeom prst="rect">
            <a:avLst/>
          </a:prstGeom>
        </p:spPr>
      </p:pic>
      <p:grpSp>
        <p:nvGrpSpPr>
          <p:cNvPr id="9" name="그룹 8"/>
          <p:cNvGrpSpPr/>
          <p:nvPr userDrawn="1"/>
        </p:nvGrpSpPr>
        <p:grpSpPr>
          <a:xfrm>
            <a:off x="5941015" y="-644852"/>
            <a:ext cx="5457065" cy="4243171"/>
            <a:chOff x="4827074" y="-644852"/>
            <a:chExt cx="4433865" cy="4243171"/>
          </a:xfrm>
        </p:grpSpPr>
        <p:grpSp>
          <p:nvGrpSpPr>
            <p:cNvPr id="10" name="그룹 16"/>
            <p:cNvGrpSpPr/>
            <p:nvPr/>
          </p:nvGrpSpPr>
          <p:grpSpPr>
            <a:xfrm rot="2691553">
              <a:off x="7282535" y="-644851"/>
              <a:ext cx="28800" cy="4243170"/>
              <a:chOff x="4238620" y="1428736"/>
              <a:chExt cx="142876" cy="1500198"/>
            </a:xfrm>
          </p:grpSpPr>
          <p:sp>
            <p:nvSpPr>
              <p:cNvPr id="31" name="직사각형 30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1" name="그룹 20"/>
            <p:cNvGrpSpPr/>
            <p:nvPr/>
          </p:nvGrpSpPr>
          <p:grpSpPr>
            <a:xfrm rot="2691553">
              <a:off x="6437537" y="-297113"/>
              <a:ext cx="28800" cy="2020548"/>
              <a:chOff x="4238620" y="1428736"/>
              <a:chExt cx="142876" cy="1500198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2" name="그룹 24"/>
            <p:cNvGrpSpPr/>
            <p:nvPr/>
          </p:nvGrpSpPr>
          <p:grpSpPr>
            <a:xfrm rot="2691553">
              <a:off x="4827073" y="-308165"/>
              <a:ext cx="28800" cy="2057007"/>
              <a:chOff x="4238620" y="1428736"/>
              <a:chExt cx="142876" cy="1500198"/>
            </a:xfrm>
          </p:grpSpPr>
          <p:sp>
            <p:nvSpPr>
              <p:cNvPr id="25" name="직사각형 24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7" name="직사각형 26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3" name="그룹 28"/>
            <p:cNvGrpSpPr/>
            <p:nvPr/>
          </p:nvGrpSpPr>
          <p:grpSpPr>
            <a:xfrm rot="2691553">
              <a:off x="9232138" y="189843"/>
              <a:ext cx="28800" cy="1885920"/>
              <a:chOff x="4238620" y="1428736"/>
              <a:chExt cx="142876" cy="1500198"/>
            </a:xfrm>
          </p:grpSpPr>
          <p:sp>
            <p:nvSpPr>
              <p:cNvPr id="22" name="직사각형 21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4" name="그룹 32"/>
            <p:cNvGrpSpPr/>
            <p:nvPr/>
          </p:nvGrpSpPr>
          <p:grpSpPr>
            <a:xfrm rot="2691553">
              <a:off x="8876694" y="2063979"/>
              <a:ext cx="28800" cy="1395312"/>
              <a:chOff x="4238620" y="1428736"/>
              <a:chExt cx="142876" cy="1500198"/>
            </a:xfrm>
          </p:grpSpPr>
          <p:sp>
            <p:nvSpPr>
              <p:cNvPr id="19" name="직사각형 18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5" name="그룹 40"/>
            <p:cNvGrpSpPr/>
            <p:nvPr/>
          </p:nvGrpSpPr>
          <p:grpSpPr>
            <a:xfrm rot="2691553">
              <a:off x="5561535" y="2994648"/>
              <a:ext cx="28800" cy="398892"/>
              <a:chOff x="4238620" y="1428736"/>
              <a:chExt cx="142876" cy="1500198"/>
            </a:xfrm>
          </p:grpSpPr>
          <p:sp>
            <p:nvSpPr>
              <p:cNvPr id="16" name="직사각형 15"/>
              <p:cNvSpPr/>
              <p:nvPr/>
            </p:nvSpPr>
            <p:spPr>
              <a:xfrm>
                <a:off x="4238620" y="1428736"/>
                <a:ext cx="142876" cy="500066"/>
              </a:xfrm>
              <a:prstGeom prst="rect">
                <a:avLst/>
              </a:prstGeom>
              <a:solidFill>
                <a:srgbClr val="1E21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4238620" y="1928802"/>
                <a:ext cx="142876" cy="500066"/>
              </a:xfrm>
              <a:prstGeom prst="rect">
                <a:avLst/>
              </a:prstGeom>
              <a:solidFill>
                <a:srgbClr val="0D60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8" name="직사각형 17"/>
              <p:cNvSpPr/>
              <p:nvPr/>
            </p:nvSpPr>
            <p:spPr>
              <a:xfrm>
                <a:off x="4238620" y="2428868"/>
                <a:ext cx="142876" cy="500066"/>
              </a:xfrm>
              <a:prstGeom prst="rect">
                <a:avLst/>
              </a:prstGeom>
              <a:solidFill>
                <a:srgbClr val="00973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</p:grp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284D11F3-3AF4-43B7-AD8C-98F9093EF62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39" name="그림 38" descr="가로로고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32380" y="6388050"/>
            <a:ext cx="1136727" cy="331546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12016153" y="3143248"/>
            <a:ext cx="175847" cy="1500198"/>
            <a:chOff x="9763124" y="3143248"/>
            <a:chExt cx="142876" cy="1500198"/>
          </a:xfrm>
        </p:grpSpPr>
        <p:sp>
          <p:nvSpPr>
            <p:cNvPr id="35" name="직사각형 34"/>
            <p:cNvSpPr/>
            <p:nvPr/>
          </p:nvSpPr>
          <p:spPr>
            <a:xfrm>
              <a:off x="9763124" y="3143248"/>
              <a:ext cx="142876" cy="500066"/>
            </a:xfrm>
            <a:prstGeom prst="rect">
              <a:avLst/>
            </a:prstGeom>
            <a:solidFill>
              <a:srgbClr val="1E21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9763124" y="3643314"/>
              <a:ext cx="142876" cy="500066"/>
            </a:xfrm>
            <a:prstGeom prst="rect">
              <a:avLst/>
            </a:prstGeom>
            <a:solidFill>
              <a:srgbClr val="0D60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9763124" y="4143380"/>
              <a:ext cx="142876" cy="500066"/>
            </a:xfrm>
            <a:prstGeom prst="rect">
              <a:avLst/>
            </a:prstGeom>
            <a:solidFill>
              <a:srgbClr val="0097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" name="제목 1"/>
          <p:cNvSpPr>
            <a:spLocks noGrp="1"/>
          </p:cNvSpPr>
          <p:nvPr userDrawn="1">
            <p:ph type="title"/>
          </p:nvPr>
        </p:nvSpPr>
        <p:spPr>
          <a:xfrm>
            <a:off x="-7893" y="260648"/>
            <a:ext cx="2115758" cy="47009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algn="ctr">
              <a:defRPr sz="1600" b="1" cap="all" spc="-100" baseline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5309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73740" y="210412"/>
            <a:ext cx="7710395" cy="562074"/>
          </a:xfrm>
          <a:prstGeom prst="rect">
            <a:avLst/>
          </a:prstGeom>
        </p:spPr>
        <p:txBody>
          <a:bodyPr/>
          <a:lstStyle>
            <a:lvl1pPr>
              <a:defRPr spc="-100" baseline="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pc="-100" baseline="0"/>
            </a:lvl1pPr>
            <a:lvl2pPr>
              <a:defRPr spc="-100" baseline="0"/>
            </a:lvl2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</p:txBody>
      </p:sp>
      <p:sp>
        <p:nvSpPr>
          <p:cNvPr id="5" name="슬라이드 번호 개체 틀 5"/>
          <p:cNvSpPr txBox="1">
            <a:spLocks/>
          </p:cNvSpPr>
          <p:nvPr userDrawn="1"/>
        </p:nvSpPr>
        <p:spPr>
          <a:xfrm>
            <a:off x="5720803" y="6481912"/>
            <a:ext cx="750394" cy="306997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900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 </a:t>
            </a:r>
            <a:fld id="{284D11F3-3AF4-43B7-AD8C-98F9093EF629}" type="slidenum">
              <a:rPr lang="ko-KR" altLang="en-US" sz="90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‹#›</a:t>
            </a:fld>
            <a:r>
              <a:rPr lang="ko-KR" altLang="en-US" sz="900" dirty="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900" dirty="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endParaRPr lang="ko-KR" altLang="en-US" sz="9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03548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73740" y="210412"/>
            <a:ext cx="7710395" cy="562074"/>
          </a:xfrm>
          <a:prstGeom prst="rect">
            <a:avLst/>
          </a:prstGeom>
        </p:spPr>
        <p:txBody>
          <a:bodyPr/>
          <a:lstStyle>
            <a:lvl1pPr>
              <a:defRPr spc="-100" baseline="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fld id="{284D11F3-3AF4-43B7-AD8C-98F9093EF62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3175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건물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" y="6215082"/>
            <a:ext cx="3306436" cy="642918"/>
          </a:xfrm>
          <a:prstGeom prst="rect">
            <a:avLst/>
          </a:prstGeom>
        </p:spPr>
      </p:pic>
      <p:pic>
        <p:nvPicPr>
          <p:cNvPr id="8" name="그림 7" descr="구름.jpg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655770" y="1"/>
            <a:ext cx="3536230" cy="2643182"/>
          </a:xfrm>
          <a:prstGeom prst="rect">
            <a:avLst/>
          </a:prstGeom>
        </p:spPr>
      </p:pic>
      <p:grpSp>
        <p:nvGrpSpPr>
          <p:cNvPr id="9" name="그룹 8"/>
          <p:cNvGrpSpPr/>
          <p:nvPr userDrawn="1"/>
        </p:nvGrpSpPr>
        <p:grpSpPr>
          <a:xfrm flipH="1">
            <a:off x="12096784" y="6215082"/>
            <a:ext cx="95216" cy="642918"/>
            <a:chOff x="4238620" y="1428736"/>
            <a:chExt cx="142876" cy="1500198"/>
          </a:xfrm>
        </p:grpSpPr>
        <p:sp>
          <p:nvSpPr>
            <p:cNvPr id="10" name="직사각형 9"/>
            <p:cNvSpPr/>
            <p:nvPr/>
          </p:nvSpPr>
          <p:spPr>
            <a:xfrm>
              <a:off x="4238620" y="1428736"/>
              <a:ext cx="142876" cy="500066"/>
            </a:xfrm>
            <a:prstGeom prst="rect">
              <a:avLst/>
            </a:prstGeom>
            <a:solidFill>
              <a:srgbClr val="1E21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238620" y="1928802"/>
              <a:ext cx="142876" cy="500066"/>
            </a:xfrm>
            <a:prstGeom prst="rect">
              <a:avLst/>
            </a:prstGeom>
            <a:solidFill>
              <a:srgbClr val="0D60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238620" y="2428868"/>
              <a:ext cx="142876" cy="500066"/>
            </a:xfrm>
            <a:prstGeom prst="rect">
              <a:avLst/>
            </a:prstGeom>
            <a:solidFill>
              <a:srgbClr val="0097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3" name="그룹 12"/>
          <p:cNvGrpSpPr/>
          <p:nvPr userDrawn="1"/>
        </p:nvGrpSpPr>
        <p:grpSpPr>
          <a:xfrm rot="16200000" flipH="1">
            <a:off x="1365850" y="-627692"/>
            <a:ext cx="102640" cy="1358023"/>
            <a:chOff x="4238620" y="1428736"/>
            <a:chExt cx="142876" cy="1500198"/>
          </a:xfrm>
        </p:grpSpPr>
        <p:sp>
          <p:nvSpPr>
            <p:cNvPr id="14" name="직사각형 13"/>
            <p:cNvSpPr/>
            <p:nvPr/>
          </p:nvSpPr>
          <p:spPr>
            <a:xfrm>
              <a:off x="4238620" y="1428736"/>
              <a:ext cx="142876" cy="500066"/>
            </a:xfrm>
            <a:prstGeom prst="rect">
              <a:avLst/>
            </a:prstGeom>
            <a:solidFill>
              <a:srgbClr val="1E21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4238620" y="1928802"/>
              <a:ext cx="142876" cy="500066"/>
            </a:xfrm>
            <a:prstGeom prst="rect">
              <a:avLst/>
            </a:prstGeom>
            <a:solidFill>
              <a:srgbClr val="0D60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238620" y="2428868"/>
              <a:ext cx="142876" cy="500066"/>
            </a:xfrm>
            <a:prstGeom prst="rect">
              <a:avLst/>
            </a:prstGeom>
            <a:solidFill>
              <a:srgbClr val="0097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17" name="그림 16" descr="가로로고.png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096651" y="6388050"/>
            <a:ext cx="923591" cy="331546"/>
          </a:xfrm>
          <a:prstGeom prst="rect">
            <a:avLst/>
          </a:prstGeom>
        </p:spPr>
      </p:pic>
      <p:sp>
        <p:nvSpPr>
          <p:cNvPr id="18" name="제목 개체 틀 1"/>
          <p:cNvSpPr>
            <a:spLocks noGrp="1"/>
          </p:cNvSpPr>
          <p:nvPr>
            <p:ph type="title"/>
          </p:nvPr>
        </p:nvSpPr>
        <p:spPr>
          <a:xfrm>
            <a:off x="416495" y="210412"/>
            <a:ext cx="7776865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19" name="텍스트 개체 틀 2"/>
          <p:cNvSpPr>
            <a:spLocks noGrp="1"/>
          </p:cNvSpPr>
          <p:nvPr>
            <p:ph type="body" idx="1"/>
          </p:nvPr>
        </p:nvSpPr>
        <p:spPr>
          <a:xfrm>
            <a:off x="415924" y="981075"/>
            <a:ext cx="11479439" cy="7197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</p:txBody>
      </p:sp>
      <p:sp>
        <p:nvSpPr>
          <p:cNvPr id="20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28464" y="6429388"/>
            <a:ext cx="609695" cy="3069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284D11F3-3AF4-43B7-AD8C-98F9093EF62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27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5" r:id="rId4"/>
    <p:sldLayoutId id="2147483651" r:id="rId5"/>
    <p:sldLayoutId id="2147483653" r:id="rId6"/>
    <p:sldLayoutId id="2147483654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KoPub돋움체 Bold" panose="02020603020101020101" pitchFamily="18" charset="-127"/>
          <a:ea typeface="KoPub돋움체 Bold" panose="0202060302010102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KoPub돋움체 Bold" panose="02020603020101020101" pitchFamily="18" charset="-127"/>
          <a:ea typeface="KoPub돋움체 Bold" panose="0202060302010102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KoPub돋움체 Bold" panose="02020603020101020101" pitchFamily="18" charset="-127"/>
          <a:ea typeface="KoPub돋움체 Bold" panose="02020603020101020101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</a:t>
            </a:r>
            <a:r>
              <a:rPr lang="ko-KR" altLang="en-US" dirty="0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년 </a:t>
            </a:r>
            <a:r>
              <a:rPr lang="en-US" altLang="ko-KR" dirty="0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IT</a:t>
            </a:r>
            <a:r>
              <a:rPr lang="ko-KR" altLang="en-US" dirty="0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서비스부문 사업계획</a:t>
            </a:r>
            <a:r>
              <a:rPr lang="en-US" altLang="ko-KR" dirty="0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/>
            </a:r>
            <a:br>
              <a:rPr lang="en-US" altLang="ko-KR" dirty="0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dirty="0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dirty="0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전략사업팀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전략사업팀</a:t>
            </a:r>
            <a:endParaRPr lang="en-US" altLang="ko-KR" dirty="0" smtClean="0"/>
          </a:p>
          <a:p>
            <a:r>
              <a:rPr lang="en-US" altLang="ko-KR" dirty="0" smtClean="0"/>
              <a:t>25.02.19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1259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16573" y="210412"/>
            <a:ext cx="6439981" cy="562074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사업수행 현황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116573" y="772486"/>
            <a:ext cx="11516627" cy="358453"/>
          </a:xfrm>
        </p:spPr>
        <p:txBody>
          <a:bodyPr/>
          <a:lstStyle/>
          <a:p>
            <a:r>
              <a:rPr lang="en-US" altLang="ko-KR" dirty="0" smtClean="0"/>
              <a:t>24</a:t>
            </a:r>
            <a:r>
              <a:rPr lang="ko-KR" altLang="en-US" dirty="0" smtClean="0"/>
              <a:t>년 매출 </a:t>
            </a:r>
            <a:r>
              <a:rPr lang="en-US" altLang="ko-KR" dirty="0" smtClean="0"/>
              <a:t>2,250</a:t>
            </a:r>
            <a:r>
              <a:rPr lang="ko-KR" altLang="en-US" dirty="0" err="1" smtClean="0"/>
              <a:t>백만원</a:t>
            </a:r>
            <a:r>
              <a:rPr lang="en-US" altLang="ko-KR" dirty="0"/>
              <a:t>, </a:t>
            </a:r>
            <a:r>
              <a:rPr lang="ko-KR" altLang="en-US" dirty="0"/>
              <a:t>매출이익 </a:t>
            </a:r>
            <a:r>
              <a:rPr lang="en-US" altLang="ko-KR" dirty="0" smtClean="0"/>
              <a:t>1,010</a:t>
            </a:r>
            <a:r>
              <a:rPr lang="ko-KR" altLang="en-US" dirty="0" err="1" smtClean="0"/>
              <a:t>백만원</a:t>
            </a:r>
            <a:r>
              <a:rPr lang="en-US" altLang="ko-KR" dirty="0"/>
              <a:t>, </a:t>
            </a:r>
            <a:r>
              <a:rPr lang="ko-KR" altLang="en-US" dirty="0"/>
              <a:t>영업이익 </a:t>
            </a:r>
            <a:r>
              <a:rPr lang="en-US" altLang="ko-KR" dirty="0" smtClean="0"/>
              <a:t>650</a:t>
            </a:r>
            <a:r>
              <a:rPr lang="ko-KR" altLang="en-US" dirty="0" err="1" smtClean="0"/>
              <a:t>백만원</a:t>
            </a:r>
            <a:r>
              <a:rPr lang="ko-KR" altLang="en-US" dirty="0" smtClean="0"/>
              <a:t> 발생 </a:t>
            </a:r>
            <a:endParaRPr lang="en-US" altLang="ko-KR" sz="1050" b="1" dirty="0"/>
          </a:p>
          <a:p>
            <a:r>
              <a:rPr lang="en-US" altLang="ko-KR" dirty="0" smtClean="0"/>
              <a:t>IT</a:t>
            </a:r>
            <a:r>
              <a:rPr lang="ko-KR" altLang="en-US" dirty="0"/>
              <a:t>서비스부문 사업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 </a:t>
            </a:r>
            <a:r>
              <a:rPr lang="ko-KR" altLang="en-US" dirty="0"/>
              <a:t>프로젝트 기획 지원으로 </a:t>
            </a:r>
            <a:r>
              <a:rPr lang="ko-KR" altLang="en-US" dirty="0" err="1"/>
              <a:t>전략사업팀</a:t>
            </a:r>
            <a:r>
              <a:rPr lang="ko-KR" altLang="en-US" dirty="0"/>
              <a:t> 기획자 총 </a:t>
            </a:r>
            <a:r>
              <a:rPr lang="en-US" altLang="ko-KR" dirty="0" smtClean="0"/>
              <a:t>11.64MM </a:t>
            </a:r>
            <a:r>
              <a:rPr lang="ko-KR" altLang="en-US" dirty="0"/>
              <a:t>투입</a:t>
            </a:r>
            <a:endParaRPr lang="en-US" altLang="ko-KR" dirty="0"/>
          </a:p>
        </p:txBody>
      </p:sp>
      <p:sp>
        <p:nvSpPr>
          <p:cNvPr id="25" name="직사각형 24"/>
          <p:cNvSpPr/>
          <p:nvPr/>
        </p:nvSpPr>
        <p:spPr>
          <a:xfrm>
            <a:off x="64937" y="1954595"/>
            <a:ext cx="1152000" cy="216024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◎ </a:t>
            </a:r>
            <a:r>
              <a:rPr kumimoji="0" lang="ko-KR" altLang="en-US" sz="1600" b="0" i="0" u="none" strike="noStrike" kern="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KoPub돋움체 Light" panose="02020603020101020101" pitchFamily="18" charset="-127"/>
                <a:ea typeface="KoPub돋움체 Bold" panose="02020603020101020101"/>
              </a:rPr>
              <a:t> 사업 실적</a:t>
            </a:r>
            <a:endParaRPr kumimoji="0" lang="ko-KR" altLang="en-US" sz="1600" b="0" i="0" u="none" strike="noStrike" kern="0" cap="none" spc="-100" normalizeH="0" baseline="0" noProof="0" dirty="0">
              <a:ln>
                <a:noFill/>
              </a:ln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KoPub돋움체 Light" panose="02020603020101020101" pitchFamily="18" charset="-127"/>
              <a:ea typeface="KoPub돋움체 Bold" panose="02020603020101020101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1226663" y="2051536"/>
            <a:ext cx="457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6128386" y="1954595"/>
            <a:ext cx="1152000" cy="216024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◎ </a:t>
            </a:r>
            <a:r>
              <a:rPr kumimoji="0" lang="ko-KR" altLang="en-US" sz="1600" b="0" i="0" u="none" strike="noStrike" kern="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KoPub돋움체 Light" panose="02020603020101020101" pitchFamily="18" charset="-127"/>
                <a:ea typeface="KoPub돋움체 Bold" panose="02020603020101020101"/>
              </a:rPr>
              <a:t> 사업 분석 </a:t>
            </a:r>
            <a:endParaRPr kumimoji="0" lang="ko-KR" altLang="en-US" sz="1600" b="0" i="0" u="none" strike="noStrike" kern="0" cap="none" spc="-100" normalizeH="0" baseline="0" noProof="0" dirty="0">
              <a:ln>
                <a:noFill/>
              </a:ln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KoPub돋움체 Light" panose="02020603020101020101" pitchFamily="18" charset="-127"/>
              <a:ea typeface="KoPub돋움체 Bold" panose="02020603020101020101"/>
            </a:endParaRPr>
          </a:p>
        </p:txBody>
      </p:sp>
      <p:cxnSp>
        <p:nvCxnSpPr>
          <p:cNvPr id="33" name="직선 연결선 32"/>
          <p:cNvCxnSpPr/>
          <p:nvPr/>
        </p:nvCxnSpPr>
        <p:spPr>
          <a:xfrm>
            <a:off x="7392144" y="2051536"/>
            <a:ext cx="424105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582072"/>
              </p:ext>
            </p:extLst>
          </p:nvPr>
        </p:nvGraphicFramePr>
        <p:xfrm>
          <a:off x="214642" y="5510506"/>
          <a:ext cx="5770074" cy="865510"/>
        </p:xfrm>
        <a:graphic>
          <a:graphicData uri="http://schemas.openxmlformats.org/drawingml/2006/table">
            <a:tbl>
              <a:tblPr/>
              <a:tblGrid>
                <a:gridCol w="45787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2920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5464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2920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3132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3132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18979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01750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280018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수행 년</a:t>
                      </a: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KT (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기획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)</a:t>
                      </a:r>
                      <a:b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</a:b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프로젝트 매출</a:t>
                      </a: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KT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외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</a:b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프로젝트 매출</a:t>
                      </a: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매출 합계</a:t>
                      </a: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매출 이익</a:t>
                      </a: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영업 이익</a:t>
                      </a: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영업 이익율</a:t>
                      </a: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IT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서비스부문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(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타 팀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) </a:t>
                      </a:r>
                      <a:b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</a:b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프로젝트 기획 지원</a:t>
                      </a: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63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1" i="0" u="none" strike="noStrike" dirty="0" smtClean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2021</a:t>
                      </a:r>
                      <a:endParaRPr lang="en-US" altLang="ko-KR" sz="700" b="1" i="0" u="none" strike="noStrike" dirty="0">
                        <a:solidFill>
                          <a:srgbClr val="595959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1,633,466,162 </a:t>
                      </a:r>
                      <a:endParaRPr lang="en-US" altLang="ko-KR" sz="700" b="0" i="0" u="none" strike="noStrike" dirty="0">
                        <a:solidFill>
                          <a:srgbClr val="595959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166,867,653 </a:t>
                      </a:r>
                      <a:endParaRPr lang="en-US" altLang="ko-KR" sz="700" b="0" i="0" u="none" strike="noStrike" dirty="0">
                        <a:solidFill>
                          <a:srgbClr val="595959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1,800,333,815 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644,321,279 </a:t>
                      </a:r>
                      <a:endParaRPr lang="en-US" altLang="ko-KR" sz="700" b="0" i="0" u="none" strike="noStrike" dirty="0">
                        <a:solidFill>
                          <a:srgbClr val="595959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500,294,573 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27.8%</a:t>
                      </a: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700" b="0" i="0" u="none" strike="noStrike" kern="1200" dirty="0" smtClean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2.00MM</a:t>
                      </a:r>
                      <a:endParaRPr lang="en-US" sz="700" b="0" i="0" u="none" strike="noStrike" kern="1200" dirty="0">
                        <a:solidFill>
                          <a:srgbClr val="595959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63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1" i="0" u="none" strike="noStrike" dirty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2022</a:t>
                      </a:r>
                    </a:p>
                  </a:txBody>
                  <a:tcPr marL="6364" marR="6364" marT="636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2,147,111,245 </a:t>
                      </a:r>
                      <a:endParaRPr lang="en-US" altLang="ko-KR" sz="700" b="0" i="0" u="none" strike="noStrike" dirty="0">
                        <a:solidFill>
                          <a:srgbClr val="595959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23,636,364 </a:t>
                      </a:r>
                      <a:endParaRPr lang="en-US" altLang="ko-KR" sz="700" b="0" i="0" u="none" strike="noStrike" dirty="0">
                        <a:solidFill>
                          <a:srgbClr val="595959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2,170,747,609 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818,235,934 </a:t>
                      </a:r>
                      <a:endParaRPr lang="en-US" altLang="ko-KR" sz="700" b="0" i="0" u="none" strike="noStrike" dirty="0">
                        <a:solidFill>
                          <a:srgbClr val="595959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644,576,125 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29.7%</a:t>
                      </a: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700" b="0" i="0" u="none" strike="noStrike" dirty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6.61MM</a:t>
                      </a: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463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1" i="0" u="none" strike="noStrike" dirty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2023</a:t>
                      </a:r>
                    </a:p>
                  </a:txBody>
                  <a:tcPr marL="6364" marR="6364" marT="636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2,205,001,260 </a:t>
                      </a:r>
                      <a:endParaRPr lang="en-US" altLang="ko-KR" sz="700" b="0" i="0" u="none" strike="noStrike" dirty="0">
                        <a:solidFill>
                          <a:srgbClr val="595959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00" b="0" i="0" u="none" strike="noStrike" dirty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                    </a:t>
                      </a:r>
                      <a:r>
                        <a:rPr lang="en-US" altLang="ko-KR" sz="700" b="0" i="0" u="none" strike="noStrike" dirty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- </a:t>
                      </a: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2,205,001,260 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789,445,687 </a:t>
                      </a:r>
                      <a:endParaRPr lang="en-US" altLang="ko-KR" sz="700" b="0" i="0" u="none" strike="noStrike" dirty="0">
                        <a:solidFill>
                          <a:srgbClr val="595959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613,045,586 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27.8%</a:t>
                      </a: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23.78MM</a:t>
                      </a:r>
                      <a:endParaRPr lang="en-US" altLang="ko-KR" sz="700" b="0" i="0" u="none" strike="noStrike" dirty="0">
                        <a:solidFill>
                          <a:srgbClr val="C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463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1" i="0" u="none" strike="noStrike" dirty="0" smtClean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2024</a:t>
                      </a:r>
                      <a:endParaRPr lang="en-US" altLang="ko-KR" sz="700" b="1" i="0" u="none" strike="noStrike" dirty="0">
                        <a:solidFill>
                          <a:srgbClr val="595959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 2,250,785,841  </a:t>
                      </a:r>
                      <a:endParaRPr lang="en-US" altLang="ko-KR" sz="700" b="0" i="0" u="none" strike="noStrike" dirty="0">
                        <a:solidFill>
                          <a:srgbClr val="595959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700" b="0" i="0" u="none" strike="noStrike" dirty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                    </a:t>
                      </a:r>
                      <a:r>
                        <a:rPr lang="en-US" altLang="ko-KR" sz="700" b="0" i="0" u="none" strike="noStrike" dirty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- </a:t>
                      </a: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 2,250,785,841  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595959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1,010,097,606 </a:t>
                      </a:r>
                      <a:endParaRPr lang="en-US" altLang="ko-KR" sz="700" b="0" i="0" u="none" strike="noStrike" dirty="0">
                        <a:solidFill>
                          <a:srgbClr val="595959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650,801,956 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25.2%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7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11.64MM</a:t>
                      </a:r>
                      <a:endParaRPr lang="en-US" altLang="ko-KR" sz="700" b="0" i="0" u="none" strike="noStrike" dirty="0">
                        <a:solidFill>
                          <a:srgbClr val="C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6364" marR="6364" marT="6364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="" xmlns:a16="http://schemas.microsoft.com/office/drawing/2014/main" id="{91960964-0661-B71A-A745-9009DC110B76}"/>
              </a:ext>
            </a:extLst>
          </p:cNvPr>
          <p:cNvSpPr/>
          <p:nvPr/>
        </p:nvSpPr>
        <p:spPr>
          <a:xfrm>
            <a:off x="6096001" y="2141868"/>
            <a:ext cx="5580061" cy="1625313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wrap="none" rtlCol="0" anchor="t"/>
          <a:lstStyle/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사업 분야 </a:t>
            </a: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b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- 22</a:t>
            </a:r>
            <a:r>
              <a:rPr lang="ko-KR" altLang="en-US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년 초까지 </a:t>
            </a: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KT </a:t>
            </a:r>
            <a:r>
              <a:rPr lang="ko-KR" altLang="en-US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외  사이드 프로젝트로 공공 프로젝트 수행</a:t>
            </a: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/>
            </a:r>
            <a:b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- 22</a:t>
            </a:r>
            <a:r>
              <a:rPr lang="ko-KR" altLang="en-US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년부터 </a:t>
            </a: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KT SM + SI</a:t>
            </a:r>
            <a:r>
              <a:rPr lang="ko-KR" altLang="en-US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기획 사업 확장</a:t>
            </a: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KT </a:t>
            </a:r>
            <a:r>
              <a:rPr lang="ko-KR" altLang="en-US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관련 파생 프로젝트 확보로 매출 및 영업이익은 꾸준히 증가함</a:t>
            </a: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/>
            </a:r>
            <a:b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매출은 상승 유지되나</a:t>
            </a: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사업 확장 없이 </a:t>
            </a: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KT </a:t>
            </a:r>
            <a:r>
              <a:rPr lang="ko-KR" altLang="en-US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사업에 몰두됨</a:t>
            </a:r>
            <a:endParaRPr lang="en-US" altLang="ko-KR" sz="1200" b="1" kern="0" spc="-100" dirty="0" smtClean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IT </a:t>
            </a:r>
            <a:r>
              <a:rPr lang="ko-KR" altLang="en-US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서비스부문</a:t>
            </a: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1200" b="1" kern="0" spc="-100" dirty="0" err="1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타팀</a:t>
            </a: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</a:t>
            </a:r>
            <a:r>
              <a:rPr lang="ko-KR" altLang="en-US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에서 진행하는 프로젝트 기획 지원 </a:t>
            </a: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23</a:t>
            </a:r>
            <a:r>
              <a:rPr lang="ko-KR" altLang="en-US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년까지 증가 추세 </a:t>
            </a:r>
            <a:r>
              <a:rPr lang="en-US" altLang="ko-KR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&gt;  24</a:t>
            </a:r>
            <a:r>
              <a:rPr lang="ko-KR" altLang="en-US" sz="1200" b="1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년부터 감소</a:t>
            </a:r>
            <a:endParaRPr lang="en-US" altLang="ko-KR" sz="1200" b="1" kern="0" spc="-100" dirty="0" smtClean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477698" y="2062607"/>
            <a:ext cx="3397188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700" dirty="0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700" dirty="0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단위 </a:t>
            </a:r>
            <a:r>
              <a:rPr lang="en-US" altLang="ko-KR" sz="700" dirty="0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700" dirty="0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원</a:t>
            </a:r>
            <a:r>
              <a:rPr lang="en-US" altLang="ko-KR" sz="700" dirty="0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  <a:endParaRPr lang="ko-KR" altLang="en-US" sz="7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graphicFrame>
        <p:nvGraphicFramePr>
          <p:cNvPr id="16" name="차트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1628806"/>
              </p:ext>
            </p:extLst>
          </p:nvPr>
        </p:nvGraphicFramePr>
        <p:xfrm>
          <a:off x="623178" y="2185167"/>
          <a:ext cx="4572000" cy="3267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91960964-0661-B71A-A745-9009DC110B76}"/>
              </a:ext>
            </a:extLst>
          </p:cNvPr>
          <p:cNvSpPr/>
          <p:nvPr/>
        </p:nvSpPr>
        <p:spPr>
          <a:xfrm>
            <a:off x="6096001" y="4263631"/>
            <a:ext cx="5580061" cy="1625313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wrap="none" rtlCol="0" anchor="t"/>
          <a:lstStyle/>
          <a:p>
            <a:pPr marL="171450" marR="0" lvl="0" indent="-171450" defTabSz="91440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200" b="1" kern="0" spc="-100" dirty="0" smtClean="0">
                <a:solidFill>
                  <a:srgbClr val="C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KTDS </a:t>
            </a:r>
            <a:r>
              <a:rPr lang="ko-KR" altLang="en-US" sz="1200" b="1" kern="0" spc="-100" dirty="0" smtClean="0">
                <a:solidFill>
                  <a:srgbClr val="C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단일 </a:t>
            </a:r>
            <a:r>
              <a:rPr lang="ko-KR" altLang="en-US" sz="1200" b="1" kern="0" spc="-100" dirty="0" err="1" smtClean="0">
                <a:solidFill>
                  <a:srgbClr val="C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고객사</a:t>
            </a:r>
            <a:r>
              <a:rPr lang="ko-KR" altLang="en-US" sz="1200" b="1" kern="0" spc="-100" dirty="0" smtClean="0">
                <a:solidFill>
                  <a:srgbClr val="C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매출로 유지 중 </a:t>
            </a:r>
            <a:r>
              <a:rPr lang="en-US" altLang="ko-KR" sz="1200" b="1" kern="0" spc="-100" dirty="0" smtClean="0">
                <a:solidFill>
                  <a:srgbClr val="C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--&gt; </a:t>
            </a:r>
            <a:r>
              <a:rPr lang="ko-KR" altLang="en-US" sz="1200" b="1" kern="0" spc="-100" dirty="0" smtClean="0">
                <a:solidFill>
                  <a:srgbClr val="C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신규 도메인 사업 발굴에 대한 노력 필요함</a:t>
            </a:r>
            <a:endParaRPr lang="ko-KR" altLang="en-US" sz="1100" b="1" kern="0" spc="-100" dirty="0">
              <a:solidFill>
                <a:srgbClr val="C00000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128386" y="4031970"/>
            <a:ext cx="1152000" cy="216024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◎ </a:t>
            </a:r>
            <a:r>
              <a:rPr kumimoji="0" lang="ko-KR" altLang="en-US" sz="1600" b="0" i="0" u="none" strike="noStrike" kern="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KoPub돋움체 Light" panose="02020603020101020101" pitchFamily="18" charset="-127"/>
                <a:ea typeface="KoPub돋움체 Bold" panose="02020603020101020101"/>
              </a:rPr>
              <a:t> 사업 현황 </a:t>
            </a:r>
            <a:endParaRPr kumimoji="0" lang="ko-KR" altLang="en-US" sz="1600" b="0" i="0" u="none" strike="noStrike" kern="0" cap="none" spc="-100" normalizeH="0" baseline="0" noProof="0" dirty="0">
              <a:ln>
                <a:noFill/>
              </a:ln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KoPub돋움체 Light" panose="02020603020101020101" pitchFamily="18" charset="-127"/>
              <a:ea typeface="KoPub돋움체 Bold" panose="02020603020101020101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7392144" y="4128911"/>
            <a:ext cx="424105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0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16573" y="210412"/>
            <a:ext cx="6439981" cy="562074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조직 운영 현황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116573" y="772486"/>
            <a:ext cx="11516627" cy="358453"/>
          </a:xfrm>
        </p:spPr>
        <p:txBody>
          <a:bodyPr/>
          <a:lstStyle/>
          <a:p>
            <a:r>
              <a:rPr lang="en-US" altLang="ko-KR" dirty="0" smtClean="0"/>
              <a:t>2024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12</a:t>
            </a:r>
            <a:r>
              <a:rPr lang="ko-KR" altLang="en-US" dirty="0" smtClean="0"/>
              <a:t>월 말 </a:t>
            </a:r>
            <a:r>
              <a:rPr lang="ko-KR" altLang="en-US" dirty="0"/>
              <a:t>기준</a:t>
            </a:r>
            <a:r>
              <a:rPr lang="en-US" altLang="ko-KR" dirty="0"/>
              <a:t>, </a:t>
            </a:r>
            <a:r>
              <a:rPr lang="ko-KR" altLang="en-US" dirty="0"/>
              <a:t>정규직 </a:t>
            </a:r>
            <a:r>
              <a:rPr lang="en-US" altLang="ko-KR" dirty="0" smtClean="0"/>
              <a:t>14</a:t>
            </a:r>
            <a:r>
              <a:rPr lang="ko-KR" altLang="en-US" dirty="0" smtClean="0"/>
              <a:t>명과</a:t>
            </a:r>
            <a:r>
              <a:rPr lang="en-US" altLang="ko-KR" sz="1100" dirty="0" smtClean="0"/>
              <a:t>(1</a:t>
            </a:r>
            <a:r>
              <a:rPr lang="ko-KR" altLang="en-US" sz="1100" dirty="0" smtClean="0"/>
              <a:t>명</a:t>
            </a:r>
            <a:r>
              <a:rPr lang="en-US" altLang="ko-KR" sz="1100" dirty="0" smtClean="0"/>
              <a:t>-</a:t>
            </a:r>
            <a:r>
              <a:rPr lang="ko-KR" altLang="en-US" sz="1100" dirty="0" smtClean="0"/>
              <a:t>육아휴직 중</a:t>
            </a:r>
            <a:r>
              <a:rPr lang="en-US" altLang="ko-KR" sz="1100" dirty="0" smtClean="0"/>
              <a:t>)</a:t>
            </a:r>
            <a:r>
              <a:rPr lang="en-US" altLang="ko-KR" dirty="0" smtClean="0"/>
              <a:t> </a:t>
            </a:r>
            <a:r>
              <a:rPr lang="ko-KR" altLang="en-US" dirty="0" err="1"/>
              <a:t>협력직</a:t>
            </a:r>
            <a:r>
              <a:rPr lang="ko-KR" altLang="en-US" dirty="0"/>
              <a:t> </a:t>
            </a:r>
            <a:r>
              <a:rPr lang="en-US" altLang="ko-KR" dirty="0" smtClean="0"/>
              <a:t>10</a:t>
            </a:r>
            <a:r>
              <a:rPr lang="ko-KR" altLang="en-US" dirty="0" smtClean="0"/>
              <a:t>명 </a:t>
            </a:r>
            <a:r>
              <a:rPr lang="ko-KR" altLang="en-US" dirty="0"/>
              <a:t>등 총 </a:t>
            </a:r>
            <a:r>
              <a:rPr lang="en-US" altLang="ko-KR" dirty="0" smtClean="0"/>
              <a:t>24</a:t>
            </a:r>
            <a:r>
              <a:rPr lang="ko-KR" altLang="en-US" dirty="0" smtClean="0"/>
              <a:t>명의 </a:t>
            </a:r>
            <a:r>
              <a:rPr lang="ko-KR" altLang="en-US" dirty="0"/>
              <a:t>상시 근무 인력으로 </a:t>
            </a:r>
            <a:r>
              <a:rPr lang="ko-KR" altLang="en-US" dirty="0" smtClean="0"/>
              <a:t>구성하고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정규직은 </a:t>
            </a:r>
            <a:r>
              <a:rPr lang="en-US" altLang="ko-KR" dirty="0" smtClean="0"/>
              <a:t>100% </a:t>
            </a:r>
            <a:r>
              <a:rPr lang="ko-KR" altLang="en-US" dirty="0" err="1" smtClean="0"/>
              <a:t>투입율</a:t>
            </a:r>
            <a:r>
              <a:rPr lang="ko-KR" altLang="en-US" dirty="0" smtClean="0"/>
              <a:t> 유지</a:t>
            </a:r>
            <a:endParaRPr lang="en-US" altLang="ko-KR" dirty="0" smtClean="0"/>
          </a:p>
          <a:p>
            <a:r>
              <a:rPr lang="en-US" altLang="ko-KR" dirty="0" smtClean="0"/>
              <a:t>24</a:t>
            </a:r>
            <a:r>
              <a:rPr lang="ko-KR" altLang="en-US" dirty="0" smtClean="0"/>
              <a:t>년</a:t>
            </a:r>
            <a:r>
              <a:rPr lang="en-US" altLang="ko-KR" dirty="0" smtClean="0"/>
              <a:t>11</a:t>
            </a:r>
            <a:r>
              <a:rPr lang="ko-KR" altLang="en-US" dirty="0" smtClean="0"/>
              <a:t>월부터 업무 추진 단위의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 파트제로 운영 </a:t>
            </a:r>
            <a:r>
              <a:rPr lang="en-US" altLang="ko-KR" sz="1100" dirty="0" smtClean="0"/>
              <a:t>(</a:t>
            </a:r>
            <a:r>
              <a:rPr lang="ko-KR" altLang="en-US" sz="1100" dirty="0" err="1" smtClean="0"/>
              <a:t>파트별</a:t>
            </a:r>
            <a:r>
              <a:rPr lang="ko-KR" altLang="en-US" sz="1100" dirty="0" smtClean="0"/>
              <a:t> 정규직원 </a:t>
            </a:r>
            <a:r>
              <a:rPr lang="en-US" altLang="ko-KR" sz="1100" dirty="0" smtClean="0"/>
              <a:t>4</a:t>
            </a:r>
            <a:r>
              <a:rPr lang="ko-KR" altLang="en-US" sz="1100" dirty="0" smtClean="0"/>
              <a:t>명 구성</a:t>
            </a:r>
            <a:r>
              <a:rPr lang="en-US" altLang="ko-KR" sz="1100" dirty="0" smtClean="0"/>
              <a:t>)</a:t>
            </a:r>
          </a:p>
          <a:p>
            <a:r>
              <a:rPr lang="en-US" altLang="ko-KR" dirty="0"/>
              <a:t>KT</a:t>
            </a:r>
            <a:r>
              <a:rPr lang="ko-KR" altLang="en-US" dirty="0" err="1"/>
              <a:t>닷컴</a:t>
            </a:r>
            <a:r>
              <a:rPr lang="ko-KR" altLang="en-US" dirty="0"/>
              <a:t> 기획</a:t>
            </a:r>
            <a:r>
              <a:rPr lang="en-US" altLang="ko-KR" dirty="0"/>
              <a:t>/</a:t>
            </a:r>
            <a:r>
              <a:rPr lang="ko-KR" altLang="en-US" dirty="0"/>
              <a:t>운영 프로젝트에 팀원 </a:t>
            </a:r>
            <a:r>
              <a:rPr lang="en-US" altLang="ko-KR" dirty="0"/>
              <a:t>80%</a:t>
            </a:r>
            <a:r>
              <a:rPr lang="ko-KR" altLang="en-US" dirty="0"/>
              <a:t>운용</a:t>
            </a:r>
            <a:r>
              <a:rPr lang="en-US" altLang="ko-KR" dirty="0"/>
              <a:t>, </a:t>
            </a:r>
            <a:r>
              <a:rPr lang="ko-KR" altLang="en-US" dirty="0"/>
              <a:t>이 외 기획</a:t>
            </a:r>
            <a:r>
              <a:rPr lang="en-US" altLang="ko-KR" dirty="0"/>
              <a:t>/SI</a:t>
            </a:r>
            <a:r>
              <a:rPr lang="ko-KR" altLang="en-US" dirty="0"/>
              <a:t>외부 사업에</a:t>
            </a:r>
            <a:r>
              <a:rPr lang="en-US" altLang="ko-KR" dirty="0"/>
              <a:t> 20% </a:t>
            </a:r>
            <a:r>
              <a:rPr lang="ko-KR" altLang="en-US" dirty="0"/>
              <a:t>운용</a:t>
            </a:r>
            <a:endParaRPr lang="en-US" altLang="ko-KR" dirty="0"/>
          </a:p>
        </p:txBody>
      </p:sp>
      <p:graphicFrame>
        <p:nvGraphicFramePr>
          <p:cNvPr id="57" name="차트 56"/>
          <p:cNvGraphicFramePr/>
          <p:nvPr>
            <p:extLst>
              <p:ext uri="{D42A27DB-BD31-4B8C-83A1-F6EECF244321}">
                <p14:modId xmlns:p14="http://schemas.microsoft.com/office/powerpoint/2010/main" val="25781604"/>
              </p:ext>
            </p:extLst>
          </p:nvPr>
        </p:nvGraphicFramePr>
        <p:xfrm>
          <a:off x="6075759" y="2590963"/>
          <a:ext cx="3444793" cy="3417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3" name="막힌 원호 62"/>
          <p:cNvSpPr/>
          <p:nvPr/>
        </p:nvSpPr>
        <p:spPr>
          <a:xfrm>
            <a:off x="6307440" y="3272825"/>
            <a:ext cx="2406991" cy="2414576"/>
          </a:xfrm>
          <a:prstGeom prst="blockArc">
            <a:avLst>
              <a:gd name="adj1" fmla="val 16168171"/>
              <a:gd name="adj2" fmla="val 8519131"/>
              <a:gd name="adj3" fmla="val 2504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67" name="표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528370"/>
              </p:ext>
            </p:extLst>
          </p:nvPr>
        </p:nvGraphicFramePr>
        <p:xfrm>
          <a:off x="9787871" y="3030021"/>
          <a:ext cx="1780137" cy="27081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6529">
                  <a:extLst>
                    <a:ext uri="{9D8B030D-6E8A-4147-A177-3AD203B41FA5}">
                      <a16:colId xmlns="" xmlns:a16="http://schemas.microsoft.com/office/drawing/2014/main" val="56904100"/>
                    </a:ext>
                  </a:extLst>
                </a:gridCol>
                <a:gridCol w="616583">
                  <a:extLst>
                    <a:ext uri="{9D8B030D-6E8A-4147-A177-3AD203B41FA5}">
                      <a16:colId xmlns="" xmlns:a16="http://schemas.microsoft.com/office/drawing/2014/main" val="2585522651"/>
                    </a:ext>
                  </a:extLst>
                </a:gridCol>
                <a:gridCol w="537025">
                  <a:extLst>
                    <a:ext uri="{9D8B030D-6E8A-4147-A177-3AD203B41FA5}">
                      <a16:colId xmlns="" xmlns:a16="http://schemas.microsoft.com/office/drawing/2014/main" val="362331458"/>
                    </a:ext>
                  </a:extLst>
                </a:gridCol>
              </a:tblGrid>
              <a:tr h="4952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직책</a:t>
                      </a:r>
                      <a:r>
                        <a:rPr lang="en-US" altLang="ko-KR" sz="1000" u="none" strike="noStrike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직위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정규직</a:t>
                      </a:r>
                      <a:r>
                        <a:rPr lang="en-US" altLang="ko-KR" sz="1000" u="none" strike="noStrike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000" u="none" strike="noStrike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명</a:t>
                      </a:r>
                      <a:r>
                        <a:rPr lang="en-US" altLang="ko-KR" sz="1000" u="none" strike="noStrike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비율</a:t>
                      </a:r>
                      <a:endParaRPr lang="ko-KR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23387381"/>
                  </a:ext>
                </a:extLst>
              </a:tr>
              <a:tr h="3161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팀장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7.1%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89026589"/>
                  </a:ext>
                </a:extLst>
              </a:tr>
              <a:tr h="3161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부장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7.1%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99499670"/>
                  </a:ext>
                </a:extLst>
              </a:tr>
              <a:tr h="3161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차장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14.3%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03348009"/>
                  </a:ext>
                </a:extLst>
              </a:tr>
              <a:tr h="3161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과장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35.7%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27675053"/>
                  </a:ext>
                </a:extLst>
              </a:tr>
              <a:tr h="3161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대리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14.3%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74905321"/>
                  </a:ext>
                </a:extLst>
              </a:tr>
              <a:tr h="3161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21.4%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90609813"/>
                  </a:ext>
                </a:extLst>
              </a:tr>
              <a:tr h="3161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smtClean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총</a:t>
                      </a:r>
                      <a:r>
                        <a:rPr lang="ko-KR" altLang="en-US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14 </a:t>
                      </a:r>
                      <a:r>
                        <a:rPr lang="ko-KR" altLang="en-US" sz="1000" b="1" u="none" strike="noStrike" dirty="0" smtClean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명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4086" marR="4086" marT="40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47156517"/>
                  </a:ext>
                </a:extLst>
              </a:tr>
            </a:tbl>
          </a:graphicData>
        </a:graphic>
      </p:graphicFrame>
      <p:sp>
        <p:nvSpPr>
          <p:cNvPr id="68" name="모서리가 둥근 직사각형 67"/>
          <p:cNvSpPr/>
          <p:nvPr/>
        </p:nvSpPr>
        <p:spPr>
          <a:xfrm>
            <a:off x="2126220" y="2736256"/>
            <a:ext cx="2160000" cy="43200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50" spc="-100" dirty="0" err="1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최에셀</a:t>
            </a:r>
            <a:r>
              <a:rPr lang="ko-KR" altLang="en-US" sz="1050" spc="-100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050" spc="-100" dirty="0" smtClean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팀장</a:t>
            </a:r>
            <a:r>
              <a:rPr lang="en-US" altLang="ko-KR" sz="1050" spc="-100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/>
            </a:r>
            <a:br>
              <a:rPr lang="en-US" altLang="ko-KR" sz="1050" spc="-100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50" spc="-100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50" spc="-100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1050" spc="-100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팀 관리</a:t>
            </a:r>
            <a:r>
              <a:rPr lang="en-US" altLang="ko-KR" sz="1050" spc="-100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50" spc="-100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사업관리</a:t>
            </a:r>
            <a:r>
              <a:rPr lang="en-US" altLang="ko-KR" sz="1050" spc="-100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KT  </a:t>
            </a:r>
            <a:r>
              <a:rPr lang="ko-KR" altLang="en-US" sz="1050" spc="-100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프로젝트 </a:t>
            </a:r>
            <a:r>
              <a:rPr lang="en-US" altLang="ko-KR" sz="1050" spc="-100" dirty="0">
                <a:solidFill>
                  <a:schemeClr val="tx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PM)</a:t>
            </a:r>
            <a:endParaRPr lang="ko-KR" altLang="en-US" sz="1050" spc="-100" dirty="0">
              <a:solidFill>
                <a:schemeClr val="tx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cxnSp>
        <p:nvCxnSpPr>
          <p:cNvPr id="69" name="꺾인 연결선 68"/>
          <p:cNvCxnSpPr>
            <a:stCxn id="68" idx="2"/>
          </p:cNvCxnSpPr>
          <p:nvPr/>
        </p:nvCxnSpPr>
        <p:spPr>
          <a:xfrm rot="5400000">
            <a:off x="2207446" y="2503072"/>
            <a:ext cx="333590" cy="1663958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</p:cxnSp>
      <p:cxnSp>
        <p:nvCxnSpPr>
          <p:cNvPr id="70" name="꺾인 연결선 69"/>
          <p:cNvCxnSpPr>
            <a:stCxn id="68" idx="2"/>
          </p:cNvCxnSpPr>
          <p:nvPr/>
        </p:nvCxnSpPr>
        <p:spPr>
          <a:xfrm rot="16200000" flipH="1">
            <a:off x="3872724" y="2501751"/>
            <a:ext cx="333590" cy="1666599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</p:cxnSp>
      <p:sp>
        <p:nvSpPr>
          <p:cNvPr id="76" name="모서리가 둥근 직사각형 75"/>
          <p:cNvSpPr/>
          <p:nvPr/>
        </p:nvSpPr>
        <p:spPr>
          <a:xfrm>
            <a:off x="551384" y="2204864"/>
            <a:ext cx="5400000" cy="360000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팀 </a:t>
            </a:r>
            <a:r>
              <a:rPr lang="en-US" altLang="ko-KR" sz="1200" dirty="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– </a:t>
            </a:r>
            <a:r>
              <a:rPr lang="ko-KR" altLang="en-US" sz="1200" dirty="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파트 운영 현황</a:t>
            </a:r>
            <a:endParaRPr lang="ko-KR" alt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6168008" y="2204864"/>
            <a:ext cx="5400000" cy="360000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기획 담당 </a:t>
            </a:r>
            <a:r>
              <a:rPr lang="en-US" altLang="ko-KR" sz="1200" dirty="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– </a:t>
            </a:r>
            <a:r>
              <a:rPr lang="ko-KR" altLang="en-US" sz="1200" dirty="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정규 직원 비율</a:t>
            </a:r>
            <a:endParaRPr lang="ko-KR" alt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551384" y="4204823"/>
            <a:ext cx="2654835" cy="2392529"/>
          </a:xfrm>
          <a:prstGeom prst="roundRect">
            <a:avLst>
              <a:gd name="adj" fmla="val 5232"/>
            </a:avLst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양쪽 모서리가 둥근 사각형 78"/>
          <p:cNvSpPr/>
          <p:nvPr/>
        </p:nvSpPr>
        <p:spPr>
          <a:xfrm>
            <a:off x="702087" y="4204823"/>
            <a:ext cx="900000" cy="216000"/>
          </a:xfrm>
          <a:prstGeom prst="round2SameRect">
            <a:avLst>
              <a:gd name="adj1" fmla="val 0"/>
              <a:gd name="adj2" fmla="val 29072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ko-KR" altLang="en-US" sz="9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긍정적 </a:t>
            </a:r>
            <a:r>
              <a:rPr lang="en-US" altLang="ko-KR" sz="9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point</a:t>
            </a:r>
            <a:endParaRPr lang="ko-KR" altLang="en-US" sz="900" spc="-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0" name="모서리가 둥근 직사각형 79"/>
          <p:cNvSpPr/>
          <p:nvPr/>
        </p:nvSpPr>
        <p:spPr>
          <a:xfrm>
            <a:off x="3289934" y="4204823"/>
            <a:ext cx="2661450" cy="2392529"/>
          </a:xfrm>
          <a:prstGeom prst="roundRect">
            <a:avLst>
              <a:gd name="adj" fmla="val 523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양쪽 모서리가 둥근 사각형 80"/>
          <p:cNvSpPr/>
          <p:nvPr/>
        </p:nvSpPr>
        <p:spPr>
          <a:xfrm>
            <a:off x="3440637" y="4204823"/>
            <a:ext cx="900000" cy="216000"/>
          </a:xfrm>
          <a:prstGeom prst="round2SameRect">
            <a:avLst>
              <a:gd name="adj1" fmla="val 0"/>
              <a:gd name="adj2" fmla="val 2907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</a:t>
            </a:r>
            <a:r>
              <a:rPr lang="ko-KR" altLang="en-US" sz="9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정적 </a:t>
            </a:r>
            <a:r>
              <a:rPr lang="en-US" altLang="ko-KR" sz="9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point</a:t>
            </a:r>
            <a:endParaRPr lang="ko-KR" altLang="en-US" sz="900" spc="-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384" y="4592889"/>
            <a:ext cx="2520752" cy="360000"/>
          </a:xfrm>
          <a:prstGeom prst="roundRect">
            <a:avLst>
              <a:gd name="adj" fmla="val 6525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업무 추진 단위의 </a:t>
            </a:r>
            <a:r>
              <a:rPr lang="ko-KR" altLang="en-US" sz="1100" spc="-50" dirty="0" err="1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파트제</a:t>
            </a: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100" spc="-50" dirty="0" err="1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로</a:t>
            </a: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운영하며</a:t>
            </a:r>
            <a: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</a:t>
            </a:r>
            <a:b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담당 파트에 특화된 인력 투입되어 </a:t>
            </a:r>
            <a:r>
              <a:rPr lang="en-US" altLang="ko-KR" sz="11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/>
            </a:r>
            <a:br>
              <a:rPr lang="en-US" altLang="ko-KR" sz="11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프로젝트 운용 </a:t>
            </a:r>
            <a:endParaRPr lang="en-US" altLang="ko-KR" sz="1100" spc="-50" dirty="0" smtClean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spc="-50" dirty="0" err="1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파트장이</a:t>
            </a: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실질적으로 구체적인 피드백을 제공해</a:t>
            </a:r>
            <a: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/>
            </a:r>
            <a:b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구성원의 성장과 조직 발전에 기여 </a:t>
            </a:r>
            <a:endParaRPr lang="en-US" altLang="ko-KR" sz="1100" spc="-50" dirty="0" smtClean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협력적 분위기 형성 및 구성원들의 </a:t>
            </a:r>
            <a:r>
              <a:rPr lang="ko-KR" altLang="en-US" sz="1100" spc="-50" dirty="0" err="1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참여력을</a:t>
            </a:r>
            <a: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/>
            </a:r>
            <a:b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이끌어낼 수 있는 장점</a:t>
            </a:r>
            <a:endParaRPr lang="en-US" altLang="ko-KR" sz="1100" spc="-50" dirty="0" smtClean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단위 조직 관리자 리더십 훈련으로 관리자 육성</a:t>
            </a:r>
            <a:endParaRPr lang="en-US" altLang="ko-KR" sz="1100" spc="-50" dirty="0" smtClean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8" name="아래쪽 화살표 87"/>
          <p:cNvSpPr/>
          <p:nvPr/>
        </p:nvSpPr>
        <p:spPr>
          <a:xfrm>
            <a:off x="1878801" y="3861590"/>
            <a:ext cx="2664296" cy="221098"/>
          </a:xfrm>
          <a:prstGeom prst="downArrow">
            <a:avLst>
              <a:gd name="adj1" fmla="val 50000"/>
              <a:gd name="adj2" fmla="val 100000"/>
            </a:avLst>
          </a:prstGeom>
          <a:gradFill>
            <a:gsLst>
              <a:gs pos="100000">
                <a:schemeClr val="bg1">
                  <a:lumMod val="75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모서리가 둥근 직사각형 89"/>
          <p:cNvSpPr/>
          <p:nvPr/>
        </p:nvSpPr>
        <p:spPr>
          <a:xfrm>
            <a:off x="3359224" y="4592889"/>
            <a:ext cx="2520752" cy="360000"/>
          </a:xfrm>
          <a:prstGeom prst="roundRect">
            <a:avLst>
              <a:gd name="adj" fmla="val 6525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팀 전원이 소통할 수 있는 기회 적어지고</a:t>
            </a:r>
            <a: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b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팀장</a:t>
            </a:r>
            <a: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</a:t>
            </a: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팀원 간 거리감</a:t>
            </a:r>
            <a:endParaRPr lang="en-US" altLang="ko-KR" sz="1100" spc="-50" dirty="0" smtClean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 spc="-50" dirty="0" smtClean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시간이 지날수록 기획 역량과 경험에 따라</a:t>
            </a:r>
            <a: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/>
            </a:r>
            <a:b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팀원 간 레벨 차이 발생</a:t>
            </a:r>
            <a:endParaRPr lang="en-US" altLang="ko-KR" sz="1100" spc="-50" dirty="0" smtClean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822262" y="3428999"/>
            <a:ext cx="1440000" cy="48527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 cap="flat" cmpd="sng" algn="ctr">
            <a:solidFill>
              <a:schemeClr val="bg1">
                <a:lumMod val="95000"/>
              </a:scheme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-10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KT – </a:t>
            </a:r>
            <a:r>
              <a:rPr kumimoji="0" lang="ko-KR" altLang="en-US" sz="1200" b="0" i="0" u="none" strike="noStrike" kern="0" cap="none" spc="-10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공통 </a:t>
            </a:r>
            <a:r>
              <a:rPr lang="en-US" altLang="ko-KR" sz="1200" kern="0" spc="-100" dirty="0" smtClean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SM : (4</a:t>
            </a:r>
            <a:r>
              <a:rPr lang="ko-KR" altLang="en-US" sz="1200" kern="0" spc="-100" dirty="0" smtClean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명</a:t>
            </a:r>
            <a:r>
              <a:rPr lang="en-US" altLang="ko-KR" sz="1200" kern="0" spc="-100" dirty="0" smtClean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100" normalizeH="0" baseline="0" noProof="0" dirty="0" err="1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이서율</a:t>
            </a:r>
            <a:r>
              <a:rPr kumimoji="0" lang="ko-KR" altLang="en-US" sz="1200" b="0" i="0" u="none" strike="noStrike" kern="0" cap="none" spc="-100" normalizeH="0" baseline="0" noProof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과장</a:t>
            </a:r>
            <a:endParaRPr kumimoji="0" lang="ko-KR" altLang="en-US" sz="1200" b="0" i="0" u="none" strike="noStrike" kern="0" cap="none" spc="-10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2495206" y="3428999"/>
            <a:ext cx="1440000" cy="48527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 cap="flat" cmpd="sng" algn="ctr">
            <a:solidFill>
              <a:schemeClr val="bg1">
                <a:lumMod val="95000"/>
              </a:scheme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spc="-100" dirty="0" smtClean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KT-</a:t>
            </a:r>
            <a:r>
              <a:rPr lang="ko-KR" altLang="en-US" sz="1200" kern="0" spc="-100" dirty="0" smtClean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온라인 </a:t>
            </a:r>
            <a:r>
              <a:rPr lang="en-US" altLang="ko-KR" sz="1200" kern="0" spc="-100" dirty="0" smtClean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CS SM : (4</a:t>
            </a:r>
            <a:r>
              <a:rPr lang="ko-KR" altLang="en-US" sz="1200" kern="0" spc="-100" dirty="0" smtClean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명</a:t>
            </a:r>
            <a:r>
              <a:rPr lang="en-US" altLang="ko-KR" sz="1200" kern="0" spc="-100" dirty="0" smtClean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100" normalizeH="0" baseline="0" noProof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하성진 차장</a:t>
            </a:r>
            <a:endParaRPr kumimoji="0" lang="ko-KR" altLang="en-US" sz="1200" b="0" i="0" u="none" strike="noStrike" kern="0" cap="none" spc="-10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74" name="모서리가 둥근 직사각형 73"/>
          <p:cNvSpPr/>
          <p:nvPr/>
        </p:nvSpPr>
        <p:spPr>
          <a:xfrm>
            <a:off x="4152819" y="3428999"/>
            <a:ext cx="1440000" cy="48527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spc="-100" noProof="0" dirty="0" smtClean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SI  </a:t>
            </a:r>
            <a:r>
              <a:rPr lang="ko-KR" altLang="en-US" sz="1200" spc="-100" noProof="0" dirty="0" smtClean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외부 사업 </a:t>
            </a:r>
            <a:r>
              <a:rPr lang="en-US" altLang="ko-KR" sz="1200" spc="-100" noProof="0" dirty="0" smtClean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(4</a:t>
            </a:r>
            <a:r>
              <a:rPr lang="ko-KR" altLang="en-US" sz="1200" spc="-100" noProof="0" dirty="0" smtClean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명</a:t>
            </a:r>
            <a:r>
              <a:rPr lang="en-US" altLang="ko-KR" sz="1200" spc="-100" noProof="0" dirty="0" smtClean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송은지 부장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419515" y="5877272"/>
            <a:ext cx="2520752" cy="360000"/>
          </a:xfrm>
          <a:prstGeom prst="roundRect">
            <a:avLst>
              <a:gd name="adj" fmla="val 6525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과장 이상 </a:t>
            </a:r>
            <a:r>
              <a:rPr lang="ko-KR" altLang="en-US" sz="1100" spc="-50" dirty="0" err="1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시니어급</a:t>
            </a: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64% </a:t>
            </a: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이상 </a:t>
            </a:r>
            <a: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&gt; </a:t>
            </a: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시니어 단독으로 프로젝트 </a:t>
            </a:r>
            <a: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PL</a:t>
            </a: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활동 가능한 인력은 </a:t>
            </a:r>
            <a: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50% </a:t>
            </a: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미만</a:t>
            </a:r>
            <a:endParaRPr lang="en-US" altLang="ko-KR" sz="110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팀 내 기획 역량은 전반적으로 하향 평준화 상황</a:t>
            </a:r>
            <a:endParaRPr lang="en-US" altLang="ko-KR" sz="110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61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16573" y="210412"/>
            <a:ext cx="6908916" cy="562074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/>
              <a:t>케이티닷컴 기획</a:t>
            </a:r>
            <a:r>
              <a:rPr lang="en-US" altLang="ko-KR" dirty="0"/>
              <a:t>/</a:t>
            </a:r>
            <a:r>
              <a:rPr lang="ko-KR" altLang="en-US" dirty="0" smtClean="0"/>
              <a:t>운영 프로젝트 사업 목표 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116573" y="772486"/>
            <a:ext cx="11669026" cy="358453"/>
          </a:xfrm>
        </p:spPr>
        <p:txBody>
          <a:bodyPr/>
          <a:lstStyle/>
          <a:p>
            <a:r>
              <a:rPr lang="ko-KR" altLang="en-US" dirty="0" err="1" smtClean="0"/>
              <a:t>파트별</a:t>
            </a:r>
            <a:r>
              <a:rPr lang="ko-KR" altLang="en-US" dirty="0" smtClean="0"/>
              <a:t> 운영의 안정성을 확보하기 위한 선제적 가이드 마련과 인력 안정화를 통해 이슈 없는 무결점 서비스 운영 체계 구축  </a:t>
            </a:r>
            <a:endParaRPr lang="en-US" altLang="ko-KR" dirty="0" smtClean="0"/>
          </a:p>
          <a:p>
            <a:r>
              <a:rPr lang="en-US" altLang="ko-KR" dirty="0"/>
              <a:t>AI </a:t>
            </a:r>
            <a:r>
              <a:rPr lang="ko-KR" altLang="en-US" dirty="0"/>
              <a:t>도입 및 </a:t>
            </a:r>
            <a:r>
              <a:rPr lang="en-US" altLang="ko-KR" dirty="0"/>
              <a:t>IT </a:t>
            </a:r>
            <a:r>
              <a:rPr lang="ko-KR" altLang="en-US" dirty="0"/>
              <a:t>모더나이제이션</a:t>
            </a:r>
            <a:r>
              <a:rPr lang="en-US" altLang="ko-KR" dirty="0"/>
              <a:t>(Modernization)</a:t>
            </a:r>
            <a:r>
              <a:rPr lang="ko-KR" altLang="en-US" dirty="0"/>
              <a:t>을 위한 </a:t>
            </a:r>
            <a:r>
              <a:rPr lang="ko-KR" altLang="en-US" b="1" dirty="0"/>
              <a:t>사전 </a:t>
            </a:r>
            <a:r>
              <a:rPr lang="ko-KR" altLang="en-US" b="1" dirty="0" smtClean="0"/>
              <a:t>조사</a:t>
            </a:r>
            <a:r>
              <a:rPr lang="en-US" altLang="ko-KR" b="1" dirty="0" smtClean="0"/>
              <a:t>/</a:t>
            </a:r>
            <a:r>
              <a:rPr lang="ko-KR" altLang="en-US" b="1" dirty="0" smtClean="0"/>
              <a:t>준비</a:t>
            </a:r>
            <a:r>
              <a:rPr lang="ko-KR" altLang="en-US" b="1" dirty="0"/>
              <a:t>를</a:t>
            </a:r>
            <a:r>
              <a:rPr lang="ko-KR" altLang="en-US" dirty="0" smtClean="0"/>
              <a:t> </a:t>
            </a:r>
            <a:r>
              <a:rPr lang="ko-KR" altLang="en-US" dirty="0"/>
              <a:t>통해 </a:t>
            </a:r>
            <a:r>
              <a:rPr lang="en-US" altLang="ko-KR" dirty="0" smtClean="0"/>
              <a:t>[</a:t>
            </a:r>
            <a:r>
              <a:rPr lang="ko-KR" altLang="en-US" b="1" dirty="0" smtClean="0"/>
              <a:t>신규 과업</a:t>
            </a:r>
            <a:r>
              <a:rPr lang="en-US" altLang="ko-KR" b="1" dirty="0" smtClean="0"/>
              <a:t>]</a:t>
            </a:r>
            <a:r>
              <a:rPr lang="ko-KR" altLang="en-US" b="1" dirty="0" smtClean="0"/>
              <a:t>에 </a:t>
            </a:r>
            <a:r>
              <a:rPr lang="ko-KR" altLang="en-US" b="1" dirty="0"/>
              <a:t>대한 선제적 대응 강화</a:t>
            </a:r>
            <a:endParaRPr lang="en-US" altLang="ko-KR" dirty="0" smtClean="0"/>
          </a:p>
        </p:txBody>
      </p:sp>
      <p:sp>
        <p:nvSpPr>
          <p:cNvPr id="19" name="직사각형 18"/>
          <p:cNvSpPr/>
          <p:nvPr/>
        </p:nvSpPr>
        <p:spPr>
          <a:xfrm>
            <a:off x="305269" y="1770940"/>
            <a:ext cx="1152000" cy="216024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lvl="0" latinLnBrk="0">
              <a:defRPr/>
            </a:pPr>
            <a:r>
              <a:rPr lang="ko-KR" altLang="en-US" sz="1600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◎ </a:t>
            </a:r>
            <a:r>
              <a:rPr kumimoji="0" lang="ko-KR" altLang="en-US" sz="1600" b="0" i="0" u="none" strike="noStrike" kern="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KoPub돋움체 Light" panose="02020603020101020101" pitchFamily="18" charset="-127"/>
                <a:ea typeface="KoPub돋움체 Bold" panose="02020603020101020101"/>
              </a:rPr>
              <a:t> 서비스</a:t>
            </a:r>
            <a:r>
              <a:rPr kumimoji="0" lang="en-US" altLang="ko-KR" sz="1600" b="0" i="0" u="none" strike="noStrike" kern="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KoPub돋움체 Light" panose="02020603020101020101" pitchFamily="18" charset="-127"/>
                <a:ea typeface="KoPub돋움체 Bold" panose="02020603020101020101"/>
              </a:rPr>
              <a:t> </a:t>
            </a:r>
            <a:r>
              <a:rPr kumimoji="0" lang="ko-KR" altLang="en-US" sz="1600" b="0" i="0" u="none" strike="noStrike" kern="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KoPub돋움체 Light" panose="02020603020101020101" pitchFamily="18" charset="-127"/>
                <a:ea typeface="KoPub돋움체 Bold" panose="02020603020101020101"/>
              </a:rPr>
              <a:t>안정화</a:t>
            </a:r>
            <a:r>
              <a:rPr kumimoji="0" lang="en-US" altLang="ko-KR" sz="1600" b="0" i="0" u="none" strike="noStrike" kern="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KoPub돋움체 Light" panose="02020603020101020101" pitchFamily="18" charset="-127"/>
                <a:ea typeface="KoPub돋움체 Bold" panose="02020603020101020101"/>
              </a:rPr>
              <a:t> </a:t>
            </a:r>
            <a:r>
              <a:rPr lang="en-US" altLang="ko-KR" sz="1600" kern="0" spc="-1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+</a:t>
            </a:r>
            <a:r>
              <a:rPr kumimoji="0" lang="ko-KR" altLang="en-US" sz="1600" b="0" i="0" u="none" strike="noStrike" kern="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KoPub돋움체 Light" panose="02020603020101020101" pitchFamily="18" charset="-127"/>
                <a:ea typeface="KoPub돋움체 Bold" panose="02020603020101020101"/>
              </a:rPr>
              <a:t> </a:t>
            </a:r>
            <a:r>
              <a:rPr lang="ko-KR" altLang="en-US" sz="1600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파생 </a:t>
            </a:r>
            <a:r>
              <a:rPr lang="ko-KR" altLang="en-US" sz="1600" kern="0" spc="-1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프로젝트 </a:t>
            </a:r>
            <a:r>
              <a:rPr lang="ko-KR" altLang="en-US" sz="1600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예상 및 대응 </a:t>
            </a:r>
            <a:r>
              <a:rPr lang="ko-KR" altLang="en-US" sz="1600" kern="0" spc="-1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계획</a:t>
            </a:r>
            <a:endParaRPr kumimoji="0" lang="ko-KR" altLang="en-US" sz="1600" b="0" i="0" u="none" strike="noStrike" kern="0" cap="none" spc="-100" normalizeH="0" baseline="0" noProof="0" dirty="0">
              <a:ln>
                <a:noFill/>
              </a:ln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KoPub돋움체 Light" panose="02020603020101020101" pitchFamily="18" charset="-127"/>
              <a:ea typeface="KoPub돋움체 Bold" panose="02020603020101020101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4390931" y="1867881"/>
            <a:ext cx="144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/>
          <p:cNvGrpSpPr/>
          <p:nvPr/>
        </p:nvGrpSpPr>
        <p:grpSpPr>
          <a:xfrm>
            <a:off x="341481" y="2249481"/>
            <a:ext cx="5603926" cy="3324078"/>
            <a:chOff x="305269" y="2249481"/>
            <a:chExt cx="5603926" cy="3324078"/>
          </a:xfrm>
        </p:grpSpPr>
        <p:sp>
          <p:nvSpPr>
            <p:cNvPr id="11" name="양쪽 모서리가 둥근 사각형 10"/>
            <p:cNvSpPr/>
            <p:nvPr/>
          </p:nvSpPr>
          <p:spPr>
            <a:xfrm>
              <a:off x="2705195" y="2249481"/>
              <a:ext cx="3204000" cy="972000"/>
            </a:xfrm>
            <a:prstGeom prst="round2SameRect">
              <a:avLst>
                <a:gd name="adj1" fmla="val 9673"/>
                <a:gd name="adj2" fmla="val 12488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- </a:t>
              </a:r>
              <a:r>
                <a:rPr lang="ko-KR" altLang="en-US" sz="12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고객사의 운영 이슈 및 장애 유형 분석 </a:t>
              </a:r>
              <a:endParaRPr lang="en-US" altLang="ko-KR" sz="12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r>
                <a:rPr lang="en-US" altLang="ko-KR" sz="12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- </a:t>
              </a:r>
              <a:r>
                <a:rPr lang="ko-KR" altLang="en-US" sz="12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주요 장애 원인</a:t>
              </a:r>
              <a:r>
                <a:rPr lang="en-US" altLang="ko-KR" sz="12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-</a:t>
              </a:r>
              <a:r>
                <a:rPr lang="ko-KR" altLang="en-US" sz="12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대응 프로세스 표준화</a:t>
              </a:r>
              <a:endParaRPr lang="en-US" altLang="ko-KR" sz="12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r>
                <a:rPr lang="ko-KR" altLang="en-US" sz="12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 →</a:t>
              </a:r>
              <a:r>
                <a:rPr lang="en-US" altLang="ko-KR" sz="12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200" spc="-100" dirty="0" err="1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파트별</a:t>
              </a:r>
              <a:r>
                <a:rPr lang="ko-KR" altLang="en-US" sz="12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자주 </a:t>
              </a:r>
              <a:r>
                <a:rPr lang="ko-KR" altLang="en-US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발생하는 문제와 </a:t>
              </a:r>
              <a:r>
                <a:rPr lang="ko-KR" altLang="en-US" sz="12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해결방안</a:t>
              </a:r>
              <a: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2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가이드 마련 </a:t>
              </a:r>
              <a:endParaRPr lang="en-US" altLang="ko-KR" sz="12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2" name="양쪽 모서리가 둥근 사각형 11"/>
            <p:cNvSpPr/>
            <p:nvPr/>
          </p:nvSpPr>
          <p:spPr>
            <a:xfrm>
              <a:off x="305269" y="2249481"/>
              <a:ext cx="2340000" cy="972000"/>
            </a:xfrm>
            <a:prstGeom prst="round2SameRect">
              <a:avLst>
                <a:gd name="adj1" fmla="val 12592"/>
                <a:gd name="adj2" fmla="val 141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1. </a:t>
              </a:r>
              <a:r>
                <a:rPr lang="ko-KR" altLang="en-US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안정적인 서비스 운영을 위한</a:t>
              </a:r>
              <a: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/>
              </a:r>
              <a:b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</a:br>
              <a:r>
                <a:rPr lang="ko-KR" altLang="en-US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선제적 가이드 배포</a:t>
              </a:r>
              <a:endParaRPr lang="en-US" altLang="ko-KR" sz="14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4" name="양쪽 모서리가 둥근 사각형 23"/>
            <p:cNvSpPr/>
            <p:nvPr/>
          </p:nvSpPr>
          <p:spPr>
            <a:xfrm>
              <a:off x="2705195" y="3425520"/>
              <a:ext cx="3204000" cy="972000"/>
            </a:xfrm>
            <a:prstGeom prst="round2SameRect">
              <a:avLst>
                <a:gd name="adj1" fmla="val 9673"/>
                <a:gd name="adj2" fmla="val 12488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- KT-MS </a:t>
              </a:r>
              <a:r>
                <a:rPr lang="ko-KR" altLang="en-US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협업으로 </a:t>
              </a:r>
              <a: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AI </a:t>
              </a:r>
              <a:r>
                <a:rPr lang="ko-KR" altLang="en-US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도입 예상 </a:t>
              </a:r>
              <a: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(KT </a:t>
              </a:r>
              <a:r>
                <a:rPr lang="ko-KR" altLang="en-US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전사 준비중</a:t>
              </a:r>
              <a: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</a:t>
              </a:r>
            </a:p>
            <a:p>
              <a: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- </a:t>
              </a:r>
              <a:r>
                <a:rPr lang="ko-KR" altLang="en-US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경쟁사</a:t>
              </a:r>
              <a: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, </a:t>
              </a:r>
              <a:r>
                <a:rPr lang="ko-KR" altLang="en-US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타사 </a:t>
              </a:r>
              <a: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AI </a:t>
              </a:r>
              <a:r>
                <a:rPr lang="ko-KR" altLang="en-US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서비스 도입 관련 동향 분석 </a:t>
              </a:r>
              <a: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/>
              </a:r>
              <a:b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</a:br>
              <a: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    </a:t>
              </a:r>
              <a:r>
                <a:rPr lang="ko-KR" altLang="en-US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→ </a:t>
              </a:r>
              <a: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KT </a:t>
              </a:r>
              <a:r>
                <a:rPr lang="ko-KR" altLang="en-US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서비스 내 도입 방안 상시 제안 </a:t>
              </a:r>
            </a:p>
          </p:txBody>
        </p:sp>
        <p:sp>
          <p:nvSpPr>
            <p:cNvPr id="25" name="양쪽 모서리가 둥근 사각형 24"/>
            <p:cNvSpPr/>
            <p:nvPr/>
          </p:nvSpPr>
          <p:spPr>
            <a:xfrm>
              <a:off x="305269" y="3425520"/>
              <a:ext cx="2340000" cy="972000"/>
            </a:xfrm>
            <a:prstGeom prst="round2SameRect">
              <a:avLst>
                <a:gd name="adj1" fmla="val 12592"/>
                <a:gd name="adj2" fmla="val 141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2. </a:t>
              </a:r>
              <a:r>
                <a:rPr lang="ko-KR" altLang="en-US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고객 경험 개선 및 </a:t>
              </a:r>
              <a: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AI </a:t>
              </a:r>
              <a:r>
                <a:rPr lang="ko-KR" altLang="en-US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도입 부분</a:t>
              </a:r>
              <a: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</a:p>
            <a:p>
              <a:pPr algn="ctr"/>
              <a:r>
                <a:rPr lang="ko-KR" altLang="en-US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사전 준비</a:t>
              </a:r>
              <a:endParaRPr lang="en-US" altLang="ko-KR" sz="14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7" name="양쪽 모서리가 둥근 사각형 26"/>
            <p:cNvSpPr/>
            <p:nvPr/>
          </p:nvSpPr>
          <p:spPr>
            <a:xfrm>
              <a:off x="2705195" y="4601559"/>
              <a:ext cx="3204000" cy="972000"/>
            </a:xfrm>
            <a:prstGeom prst="round2SameRect">
              <a:avLst>
                <a:gd name="adj1" fmla="val 9673"/>
                <a:gd name="adj2" fmla="val 12488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- </a:t>
              </a:r>
              <a:r>
                <a:rPr lang="ko-KR" altLang="en-US" sz="1200" spc="-100" dirty="0" err="1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레거시</a:t>
              </a:r>
              <a:r>
                <a:rPr lang="ko-KR" altLang="en-US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시스템을 최신 기술과 아키텍처로 전환하여 </a:t>
              </a:r>
              <a: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/>
              </a:r>
              <a:b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</a:br>
              <a: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  </a:t>
              </a:r>
              <a:r>
                <a:rPr lang="ko-KR" altLang="en-US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운영 효율성을 마련 방안에 대해 </a:t>
              </a:r>
              <a:r>
                <a:rPr lang="en-US" altLang="ko-KR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KT </a:t>
              </a:r>
              <a:r>
                <a:rPr lang="ko-KR" altLang="en-US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전사 고민중</a:t>
              </a:r>
            </a:p>
            <a:p>
              <a:r>
                <a:rPr lang="ko-KR" altLang="en-US" sz="12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  → 자사가 관리하고 있는 시스템에 대해 사전 준비</a:t>
              </a:r>
            </a:p>
          </p:txBody>
        </p:sp>
        <p:sp>
          <p:nvSpPr>
            <p:cNvPr id="28" name="양쪽 모서리가 둥근 사각형 27"/>
            <p:cNvSpPr/>
            <p:nvPr/>
          </p:nvSpPr>
          <p:spPr>
            <a:xfrm>
              <a:off x="305269" y="4601559"/>
              <a:ext cx="2340000" cy="972000"/>
            </a:xfrm>
            <a:prstGeom prst="round2SameRect">
              <a:avLst>
                <a:gd name="adj1" fmla="val 12592"/>
                <a:gd name="adj2" fmla="val 141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3. IT Modernization </a:t>
              </a:r>
              <a:r>
                <a:rPr lang="ko-KR" altLang="en-US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대응 마련</a:t>
              </a:r>
              <a:endParaRPr lang="en-US" altLang="ko-KR" sz="14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6140018" y="1770940"/>
            <a:ext cx="1152000" cy="216024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lvl="0" latinLnBrk="0">
              <a:defRPr/>
            </a:pPr>
            <a:r>
              <a:rPr lang="ko-KR" altLang="en-US" sz="1600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◎ </a:t>
            </a:r>
            <a:r>
              <a:rPr kumimoji="0" lang="ko-KR" altLang="en-US" sz="1600" b="0" i="0" u="none" strike="noStrike" kern="0" cap="none" spc="-100" normalizeH="0" baseline="0" noProof="0" dirty="0" smtClean="0">
                <a:ln>
                  <a:noFill/>
                </a:ln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KoPub돋움체 Light" panose="02020603020101020101" pitchFamily="18" charset="-127"/>
                <a:ea typeface="KoPub돋움체 Bold" panose="02020603020101020101"/>
              </a:rPr>
              <a:t> </a:t>
            </a:r>
            <a:r>
              <a:rPr lang="ko-KR" altLang="en-US" sz="1600" kern="0" spc="-1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인력 </a:t>
            </a:r>
            <a:r>
              <a:rPr lang="ko-KR" altLang="en-US" sz="1600" kern="0" spc="-10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안정화 및 </a:t>
            </a:r>
            <a:r>
              <a:rPr lang="en-US" altLang="ko-KR" sz="1600" kern="0" spc="-1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DS </a:t>
            </a:r>
            <a:r>
              <a:rPr lang="ko-KR" altLang="en-US" sz="1600" kern="0" spc="-10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담당 만족도 향상을 위한 대응 계획</a:t>
            </a:r>
            <a:endParaRPr kumimoji="0" lang="ko-KR" altLang="en-US" sz="1600" b="0" i="0" u="none" strike="noStrike" kern="0" cap="none" spc="-100" normalizeH="0" baseline="0" noProof="0" dirty="0">
              <a:ln>
                <a:noFill/>
              </a:ln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KoPub돋움체 Light" panose="02020603020101020101" pitchFamily="18" charset="-127"/>
              <a:ea typeface="KoPub돋움체 Bold" panose="02020603020101020101"/>
            </a:endParaRPr>
          </a:p>
        </p:txBody>
      </p:sp>
      <p:cxnSp>
        <p:nvCxnSpPr>
          <p:cNvPr id="33" name="직선 연결선 32"/>
          <p:cNvCxnSpPr/>
          <p:nvPr/>
        </p:nvCxnSpPr>
        <p:spPr>
          <a:xfrm>
            <a:off x="10592563" y="1867881"/>
            <a:ext cx="144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/>
          <p:cNvGrpSpPr/>
          <p:nvPr/>
        </p:nvGrpSpPr>
        <p:grpSpPr>
          <a:xfrm>
            <a:off x="6246594" y="2249481"/>
            <a:ext cx="5603926" cy="3324078"/>
            <a:chOff x="305269" y="2249481"/>
            <a:chExt cx="5603926" cy="3324078"/>
          </a:xfrm>
        </p:grpSpPr>
        <p:sp>
          <p:nvSpPr>
            <p:cNvPr id="42" name="양쪽 모서리가 둥근 사각형 41"/>
            <p:cNvSpPr/>
            <p:nvPr/>
          </p:nvSpPr>
          <p:spPr>
            <a:xfrm>
              <a:off x="2705195" y="2249481"/>
              <a:ext cx="3204000" cy="972000"/>
            </a:xfrm>
            <a:prstGeom prst="round2SameRect">
              <a:avLst>
                <a:gd name="adj1" fmla="val 9673"/>
                <a:gd name="adj2" fmla="val 12488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- </a:t>
              </a:r>
              <a:r>
                <a:rPr lang="ko-KR" altLang="en-US" sz="1200" b="1" spc="-100" dirty="0" err="1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셀프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체크리스트 도입 </a:t>
              </a:r>
              <a:r>
                <a:rPr lang="en-US" altLang="ko-KR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('24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년 </a:t>
              </a:r>
              <a:r>
                <a:rPr lang="en-US" altLang="ko-KR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11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월 도입</a:t>
              </a:r>
              <a:r>
                <a:rPr lang="en-US" altLang="ko-KR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</a:t>
              </a:r>
            </a:p>
            <a:p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- </a:t>
              </a:r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과제별 </a:t>
              </a:r>
              <a:r>
                <a:rPr lang="en-US" altLang="ko-KR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PM &amp; PL &amp; PA </a:t>
              </a:r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역할 재조정</a:t>
              </a:r>
              <a:endParaRPr lang="en-US" altLang="ko-KR" sz="1200" b="1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  → 인력 이탈</a:t>
              </a:r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</a:t>
              </a:r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교체 시 업무 부담 및 리스크 감소</a:t>
              </a:r>
              <a:endParaRPr lang="en-US" altLang="ko-KR" sz="1200" b="1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3" name="양쪽 모서리가 둥근 사각형 42"/>
            <p:cNvSpPr/>
            <p:nvPr/>
          </p:nvSpPr>
          <p:spPr>
            <a:xfrm>
              <a:off x="305269" y="2249481"/>
              <a:ext cx="2340000" cy="972000"/>
            </a:xfrm>
            <a:prstGeom prst="round2SameRect">
              <a:avLst>
                <a:gd name="adj1" fmla="val 12592"/>
                <a:gd name="adj2" fmla="val 141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1. </a:t>
              </a:r>
              <a:r>
                <a:rPr lang="ko-KR" altLang="en-US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기획 역량 강화 및 </a:t>
              </a:r>
              <a:endParaRPr lang="en-US" altLang="ko-KR" sz="14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과제별 역할 재조정</a:t>
              </a:r>
              <a:endParaRPr lang="en-US" altLang="ko-KR" sz="14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4" name="양쪽 모서리가 둥근 사각형 43"/>
            <p:cNvSpPr/>
            <p:nvPr/>
          </p:nvSpPr>
          <p:spPr>
            <a:xfrm>
              <a:off x="2705195" y="3425520"/>
              <a:ext cx="3204000" cy="972000"/>
            </a:xfrm>
            <a:prstGeom prst="round2SameRect">
              <a:avLst>
                <a:gd name="adj1" fmla="val 9673"/>
                <a:gd name="adj2" fmla="val 12488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- </a:t>
              </a:r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과제 </a:t>
              </a:r>
              <a:r>
                <a:rPr lang="ko-KR" altLang="en-US" sz="1200" b="1" spc="-100" dirty="0" err="1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아카이빙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도입 </a:t>
              </a:r>
              <a:r>
                <a:rPr lang="en-US" altLang="ko-KR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('24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년 </a:t>
              </a:r>
              <a:r>
                <a:rPr lang="en-US" altLang="ko-KR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11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월 도입</a:t>
              </a:r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</a:t>
              </a:r>
            </a:p>
            <a:p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- </a:t>
              </a:r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주 </a:t>
              </a:r>
              <a:r>
                <a:rPr lang="en-US" altLang="ko-KR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회 </a:t>
              </a:r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문서 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작성 </a:t>
              </a:r>
              <a:r>
                <a:rPr lang="en-US" altLang="ko-KR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&gt; 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이슈 공유 미팅 </a:t>
              </a:r>
              <a:r>
                <a:rPr lang="en-US" altLang="ko-KR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&gt;</a:t>
              </a:r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어려운 업무 </a:t>
              </a:r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/>
              </a:r>
              <a:b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</a:br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  </a:t>
              </a:r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사례 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공유 </a:t>
              </a:r>
              <a:r>
                <a:rPr lang="en-US" altLang="ko-KR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&amp; 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해결책 </a:t>
              </a:r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논의</a:t>
              </a:r>
              <a:endParaRPr lang="en-US" altLang="ko-KR" sz="1200" b="1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   </a:t>
              </a:r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→</a:t>
              </a:r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DS </a:t>
              </a:r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피드백 </a:t>
              </a:r>
              <a:r>
                <a:rPr lang="en-US" altLang="ko-KR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5</a:t>
              </a:r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0% </a:t>
              </a:r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감소 </a:t>
              </a:r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 </a:t>
              </a:r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과제 분석 시간 </a:t>
              </a:r>
              <a:r>
                <a:rPr lang="en-US" altLang="ko-KR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3</a:t>
              </a:r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0% </a:t>
              </a:r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감소</a:t>
              </a:r>
              <a:endParaRPr lang="ko-KR" altLang="en-US" sz="1200" b="1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5" name="양쪽 모서리가 둥근 사각형 44"/>
            <p:cNvSpPr/>
            <p:nvPr/>
          </p:nvSpPr>
          <p:spPr>
            <a:xfrm>
              <a:off x="305269" y="3425520"/>
              <a:ext cx="2340000" cy="972000"/>
            </a:xfrm>
            <a:prstGeom prst="round2SameRect">
              <a:avLst>
                <a:gd name="adj1" fmla="val 12592"/>
                <a:gd name="adj2" fmla="val 141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2. </a:t>
              </a:r>
              <a:r>
                <a:rPr lang="ko-KR" altLang="en-US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업무 퀄리티 강화를 위한 </a:t>
              </a:r>
              <a: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/>
              </a:r>
              <a:b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</a:br>
              <a:r>
                <a:rPr lang="ko-KR" altLang="en-US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마이 업무 관련 위키 구축</a:t>
              </a:r>
              <a:endParaRPr lang="en-US" altLang="ko-KR" sz="14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6" name="양쪽 모서리가 둥근 사각형 45"/>
            <p:cNvSpPr/>
            <p:nvPr/>
          </p:nvSpPr>
          <p:spPr>
            <a:xfrm>
              <a:off x="2705195" y="4601559"/>
              <a:ext cx="3204000" cy="972000"/>
            </a:xfrm>
            <a:prstGeom prst="round2SameRect">
              <a:avLst>
                <a:gd name="adj1" fmla="val 9673"/>
                <a:gd name="adj2" fmla="val 12488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- 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현재 팀 내 수행 중인 업무를 카테고리화 </a:t>
              </a:r>
            </a:p>
            <a:p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- 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유사 업무 간 </a:t>
              </a:r>
              <a:r>
                <a:rPr lang="en-US" altLang="ko-KR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차 순환 → 이후 </a:t>
              </a:r>
              <a:r>
                <a:rPr lang="ko-KR" altLang="en-US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점진적 역할 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수행 계획</a:t>
              </a:r>
            </a:p>
            <a:p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- 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분기별 </a:t>
              </a:r>
              <a:r>
                <a:rPr lang="en-US" altLang="ko-KR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회</a:t>
              </a:r>
              <a:r>
                <a:rPr lang="en-US" altLang="ko-KR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, 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업무 로테이션 진행 </a:t>
              </a:r>
            </a:p>
            <a:p>
              <a:r>
                <a:rPr lang="en-US" altLang="ko-KR" sz="1200" b="1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- </a:t>
              </a:r>
              <a:r>
                <a:rPr lang="ko-KR" altLang="en-US" sz="1200" b="1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로테이션 후 피드백을 통한 개선점 정리</a:t>
              </a:r>
            </a:p>
          </p:txBody>
        </p:sp>
        <p:sp>
          <p:nvSpPr>
            <p:cNvPr id="47" name="양쪽 모서리가 둥근 사각형 46"/>
            <p:cNvSpPr/>
            <p:nvPr/>
          </p:nvSpPr>
          <p:spPr>
            <a:xfrm>
              <a:off x="305269" y="4601559"/>
              <a:ext cx="2340000" cy="972000"/>
            </a:xfrm>
            <a:prstGeom prst="round2SameRect">
              <a:avLst>
                <a:gd name="adj1" fmla="val 12592"/>
                <a:gd name="adj2" fmla="val 1418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3. </a:t>
              </a:r>
              <a:r>
                <a:rPr lang="ko-KR" altLang="en-US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업무 역할 순환</a:t>
              </a:r>
              <a: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</a:t>
              </a:r>
              <a:r>
                <a:rPr lang="ko-KR" altLang="en-US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로테이션</a:t>
              </a:r>
              <a: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 </a:t>
              </a:r>
              <a:r>
                <a:rPr lang="ko-KR" altLang="en-US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체계 </a:t>
              </a:r>
              <a: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/>
              </a:r>
              <a:br>
                <a:rPr lang="en-US" altLang="ko-KR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</a:br>
              <a:r>
                <a:rPr lang="ko-KR" altLang="en-US" sz="14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마련을 위한 장기 계획</a:t>
              </a:r>
              <a:endParaRPr lang="en-US" altLang="ko-KR" sz="14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56" name="직사각형 55"/>
          <p:cNvSpPr/>
          <p:nvPr/>
        </p:nvSpPr>
        <p:spPr>
          <a:xfrm>
            <a:off x="7765543" y="5654487"/>
            <a:ext cx="416652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kern="0" spc="-100" dirty="0" smtClean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* </a:t>
            </a:r>
            <a:r>
              <a:rPr lang="ko-KR" altLang="en-US" sz="1000" kern="0" spc="-100" dirty="0" smtClean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온라인 </a:t>
            </a:r>
            <a:r>
              <a:rPr lang="en-US" altLang="ko-KR" sz="1000" kern="0" spc="-100" dirty="0" smtClean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CS – </a:t>
            </a:r>
            <a:r>
              <a:rPr lang="ko-KR" altLang="en-US" sz="1000" kern="0" spc="-100" dirty="0" smtClean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마이</a:t>
            </a:r>
            <a:r>
              <a:rPr lang="en-US" altLang="ko-KR" sz="1000" kern="0" spc="-100" dirty="0" smtClean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 </a:t>
            </a:r>
            <a:r>
              <a:rPr lang="ko-KR" altLang="en-US" sz="1000" kern="0" spc="-100" dirty="0" smtClean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파트 정규직 인력 계획을 위한 채용 준비 중 </a:t>
            </a:r>
            <a:r>
              <a:rPr lang="en-US" altLang="ko-KR" sz="1000" kern="0" spc="-100" dirty="0" smtClean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(2Q </a:t>
            </a:r>
            <a:r>
              <a:rPr lang="ko-KR" altLang="en-US" sz="1000" kern="0" spc="-100" dirty="0" smtClean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내 추가 공고</a:t>
            </a:r>
            <a:r>
              <a:rPr lang="en-US" altLang="ko-KR" sz="1000" kern="0" spc="-100" dirty="0" smtClean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-</a:t>
            </a:r>
            <a:r>
              <a:rPr lang="ko-KR" altLang="en-US" sz="1000" kern="0" spc="-100" dirty="0" smtClean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채용 예정</a:t>
            </a:r>
            <a:r>
              <a:rPr lang="en-US" altLang="ko-KR" sz="1000" kern="0" spc="-100" dirty="0" smtClean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)</a:t>
            </a:r>
            <a:r>
              <a:rPr lang="ko-KR" altLang="en-US" sz="1000" kern="0" spc="-100" dirty="0" smtClean="0"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1"/>
                </a:gradFill>
                <a:latin typeface="KoPub돋움체 Light" panose="02020603020101020101" pitchFamily="18" charset="-127"/>
                <a:ea typeface="KoPub돋움체 Bold" panose="02020603020101020101"/>
              </a:rPr>
              <a:t>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99006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16573" y="210412"/>
            <a:ext cx="6439981" cy="562074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팀 운영 </a:t>
            </a:r>
            <a:r>
              <a:rPr lang="ko-KR" altLang="en-US" dirty="0" err="1" smtClean="0"/>
              <a:t>로드맵</a:t>
            </a:r>
            <a:r>
              <a:rPr lang="ko-KR" altLang="en-US" dirty="0" smtClean="0"/>
              <a:t> </a:t>
            </a:r>
            <a:r>
              <a:rPr lang="en-US" altLang="ko-KR" dirty="0" smtClean="0"/>
              <a:t>- Task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116573" y="772486"/>
            <a:ext cx="11516627" cy="358453"/>
          </a:xfrm>
        </p:spPr>
        <p:txBody>
          <a:bodyPr/>
          <a:lstStyle/>
          <a:p>
            <a:r>
              <a:rPr lang="ko-KR" altLang="en-US" dirty="0" smtClean="0"/>
              <a:t>지속적으로 </a:t>
            </a:r>
            <a:r>
              <a:rPr lang="ko-KR" altLang="en-US" dirty="0"/>
              <a:t>업무 가이드 및 체크 보완하며 </a:t>
            </a:r>
            <a:r>
              <a:rPr lang="ko-KR" altLang="en-US" dirty="0" smtClean="0"/>
              <a:t>팀 기획 역량 강화를 중점으로 수행 </a:t>
            </a:r>
            <a:endParaRPr lang="en-US" altLang="ko-KR" dirty="0" smtClean="0"/>
          </a:p>
          <a:p>
            <a:r>
              <a:rPr lang="ko-KR" altLang="en-US" dirty="0" smtClean="0"/>
              <a:t>신규 </a:t>
            </a:r>
            <a:r>
              <a:rPr lang="ko-KR" altLang="en-US" dirty="0"/>
              <a:t>도메인 프로젝트 </a:t>
            </a:r>
            <a:r>
              <a:rPr lang="ko-KR" altLang="en-US" dirty="0" smtClean="0"/>
              <a:t>발굴을 위한 노력으로 사업확장</a:t>
            </a:r>
            <a:endParaRPr lang="ko-KR" altLang="en-US" dirty="0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8202576" y="2132415"/>
            <a:ext cx="3240000" cy="3888432"/>
          </a:xfrm>
          <a:prstGeom prst="roundRect">
            <a:avLst>
              <a:gd name="adj" fmla="val 2677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4590169" y="2132415"/>
            <a:ext cx="3240000" cy="3888432"/>
          </a:xfrm>
          <a:prstGeom prst="roundRect">
            <a:avLst>
              <a:gd name="adj" fmla="val 2677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903009" y="2132415"/>
            <a:ext cx="3240000" cy="3888432"/>
          </a:xfrm>
          <a:prstGeom prst="roundRect">
            <a:avLst>
              <a:gd name="adj" fmla="val 2677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1833056" y="2524157"/>
            <a:ext cx="1440000" cy="360000"/>
          </a:xfrm>
          <a:prstGeom prst="roundRect">
            <a:avLst>
              <a:gd name="adj" fmla="val 65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現 </a:t>
            </a:r>
            <a:r>
              <a:rPr lang="en-US" altLang="ko-KR" sz="16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SM </a:t>
            </a:r>
            <a:r>
              <a:rPr lang="ko-KR" altLang="en-US" sz="16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인력 </a:t>
            </a:r>
            <a:r>
              <a:rPr lang="ko-KR" altLang="en-US" sz="16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활용 사업 추진 방향</a:t>
            </a:r>
            <a:endParaRPr lang="en-US" altLang="ko-KR" sz="1600" spc="-50" dirty="0" smtClean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42444" y="3953088"/>
            <a:ext cx="2592000" cy="1598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ko-KR" altLang="en-US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배정된 업무에 대한 </a:t>
            </a:r>
            <a:r>
              <a:rPr lang="ko-KR" altLang="en-US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일정 </a:t>
            </a:r>
            <a:r>
              <a:rPr lang="ko-KR" altLang="en-US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관리 및 </a:t>
            </a:r>
            <a:r>
              <a:rPr lang="en-US" altLang="ko-KR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/>
            </a:r>
            <a:br>
              <a:rPr lang="en-US" altLang="ko-KR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ko-KR" altLang="en-US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퀄리티 보정</a:t>
            </a:r>
            <a:r>
              <a:rPr lang="en-US" altLang="ko-KR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개별 가이드</a:t>
            </a:r>
            <a:r>
              <a:rPr lang="en-US" altLang="ko-KR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/>
            </a:r>
            <a:br>
              <a:rPr lang="en-US" altLang="ko-KR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endParaRPr lang="ko-KR" altLang="en-US" sz="1200" spc="-10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ko-KR" altLang="en-US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클라이언트를 통해 들어온 클레임 </a:t>
            </a:r>
            <a:r>
              <a:rPr lang="en-US" altLang="ko-KR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/>
            </a:r>
            <a:br>
              <a:rPr lang="en-US" altLang="ko-KR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ko-KR" altLang="en-US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즉시 공유하고 자체 </a:t>
            </a:r>
            <a:r>
              <a:rPr lang="ko-KR" altLang="en-US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회고</a:t>
            </a:r>
            <a:r>
              <a:rPr lang="en-US" altLang="ko-KR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&amp;</a:t>
            </a:r>
            <a:r>
              <a:rPr lang="ko-KR" altLang="en-US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반성 </a:t>
            </a:r>
            <a:r>
              <a:rPr lang="ko-KR" altLang="en-US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시행</a:t>
            </a:r>
            <a:r>
              <a:rPr lang="en-US" altLang="ko-KR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/>
            </a:r>
            <a:br>
              <a:rPr lang="en-US" altLang="ko-KR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endParaRPr lang="ko-KR" altLang="en-US" sz="1200" spc="-10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ko-KR" altLang="en-US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고정 인력으로 팀 운영에 안정화 역</a:t>
            </a:r>
            <a:r>
              <a:rPr lang="ko-KR" altLang="en-US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할</a:t>
            </a:r>
            <a:r>
              <a:rPr lang="ko-KR" altLang="en-US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수행</a:t>
            </a:r>
            <a:endParaRPr lang="ko-KR" altLang="en-US" sz="1200" spc="-10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1977056" y="3660914"/>
            <a:ext cx="115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갈매기형 수장 28"/>
          <p:cNvSpPr/>
          <p:nvPr/>
        </p:nvSpPr>
        <p:spPr>
          <a:xfrm>
            <a:off x="2121056" y="1988840"/>
            <a:ext cx="864000" cy="288000"/>
          </a:xfrm>
          <a:prstGeom prst="chevron">
            <a:avLst>
              <a:gd name="adj" fmla="val 23542"/>
            </a:avLst>
          </a:prstGeom>
          <a:solidFill>
            <a:srgbClr val="1E21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Task #1</a:t>
            </a:r>
            <a:endParaRPr lang="en-US" altLang="ko-KR" sz="1000" spc="-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5634169" y="3660914"/>
            <a:ext cx="115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갈매기형 수장 30"/>
          <p:cNvSpPr/>
          <p:nvPr/>
        </p:nvSpPr>
        <p:spPr>
          <a:xfrm>
            <a:off x="5778169" y="1988840"/>
            <a:ext cx="864000" cy="288000"/>
          </a:xfrm>
          <a:prstGeom prst="chevron">
            <a:avLst>
              <a:gd name="adj" fmla="val 23542"/>
            </a:avLst>
          </a:prstGeom>
          <a:solidFill>
            <a:srgbClr val="0D60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Task #2</a:t>
            </a:r>
            <a:endParaRPr lang="en-US" altLang="ko-KR" sz="1000" spc="-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9102576" y="2524157"/>
            <a:ext cx="1440000" cy="360000"/>
          </a:xfrm>
          <a:prstGeom prst="roundRect">
            <a:avLst>
              <a:gd name="adj" fmla="val 65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지속적인 인재 채용</a:t>
            </a:r>
            <a:endParaRPr lang="ko-KR" altLang="en-US" sz="1600" spc="-50" dirty="0">
              <a:solidFill>
                <a:srgbClr val="FF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33" name="직선 연결선 32"/>
          <p:cNvCxnSpPr/>
          <p:nvPr/>
        </p:nvCxnSpPr>
        <p:spPr>
          <a:xfrm>
            <a:off x="9246576" y="3660914"/>
            <a:ext cx="115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갈매기형 수장 33"/>
          <p:cNvSpPr/>
          <p:nvPr/>
        </p:nvSpPr>
        <p:spPr>
          <a:xfrm>
            <a:off x="9390576" y="1988840"/>
            <a:ext cx="864000" cy="288000"/>
          </a:xfrm>
          <a:prstGeom prst="chevron">
            <a:avLst>
              <a:gd name="adj" fmla="val 23542"/>
            </a:avLst>
          </a:prstGeom>
          <a:solidFill>
            <a:srgbClr val="0097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Task #3</a:t>
            </a:r>
            <a:endParaRPr lang="en-US" altLang="ko-KR" sz="1000" spc="-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914169" y="3953088"/>
            <a:ext cx="2592000" cy="1598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ko-KR" altLang="en-US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 </a:t>
            </a:r>
            <a:r>
              <a:rPr lang="ko-KR" altLang="en-US" sz="1200" spc="-100" dirty="0" err="1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협력사</a:t>
            </a:r>
            <a:r>
              <a:rPr lang="ko-KR" altLang="en-US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포털 및 타 도메인 </a:t>
            </a:r>
            <a:r>
              <a:rPr lang="en-US" altLang="ko-KR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/>
            </a:r>
            <a:br>
              <a:rPr lang="en-US" altLang="ko-KR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ko-KR" altLang="en-US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제안</a:t>
            </a:r>
            <a:r>
              <a:rPr lang="en-US" altLang="ko-KR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사이트 수시 </a:t>
            </a:r>
            <a:r>
              <a:rPr lang="ko-KR" altLang="en-US" sz="1200" spc="-100" dirty="0" err="1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서칭</a:t>
            </a:r>
            <a:endParaRPr lang="en-US" altLang="ko-KR" sz="1200" spc="-10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ü"/>
            </a:pPr>
            <a:endParaRPr lang="en-US" altLang="ko-KR" sz="1200" spc="-10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altLang="ko-KR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IT</a:t>
            </a:r>
            <a:r>
              <a:rPr lang="ko-KR" altLang="en-US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부문 내 기획 </a:t>
            </a:r>
            <a:r>
              <a:rPr lang="ko-KR" altLang="en-US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업무 </a:t>
            </a:r>
            <a:r>
              <a:rPr lang="ko-KR" altLang="en-US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참여</a:t>
            </a:r>
            <a:endParaRPr lang="en-US" altLang="ko-KR" sz="1200" spc="-10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ü"/>
            </a:pPr>
            <a:endParaRPr lang="en-US" altLang="ko-KR" sz="1200" spc="-10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altLang="ko-KR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SM </a:t>
            </a:r>
            <a:r>
              <a:rPr lang="ko-KR" altLang="en-US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프로젝트 업무 지원 수행</a:t>
            </a:r>
          </a:p>
        </p:txBody>
      </p:sp>
      <p:sp>
        <p:nvSpPr>
          <p:cNvPr id="36" name="모서리가 둥근 직사각형 35"/>
          <p:cNvSpPr/>
          <p:nvPr/>
        </p:nvSpPr>
        <p:spPr>
          <a:xfrm>
            <a:off x="1833056" y="3124250"/>
            <a:ext cx="1440000" cy="360000"/>
          </a:xfrm>
          <a:prstGeom prst="roundRect">
            <a:avLst>
              <a:gd name="adj" fmla="val 65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개별적으로 업무 역량에 대한</a:t>
            </a:r>
            <a:endParaRPr lang="en-US" altLang="ko-KR" sz="1200" spc="-50" dirty="0" smtClean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2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메타인지 가능하도록 지속적인 업무 가이드</a:t>
            </a:r>
            <a:endParaRPr lang="en-US" altLang="ko-KR" sz="1200" spc="-50" dirty="0" smtClean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5490169" y="2524157"/>
            <a:ext cx="1440000" cy="360000"/>
          </a:xfrm>
          <a:prstGeom prst="roundRect">
            <a:avLst>
              <a:gd name="adj" fmla="val 65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現 </a:t>
            </a:r>
            <a:r>
              <a:rPr lang="en-US" altLang="ko-KR" sz="16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SI </a:t>
            </a:r>
            <a:r>
              <a:rPr lang="ko-KR" altLang="en-US" sz="16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인력 파트 운용</a:t>
            </a:r>
            <a:endParaRPr lang="en-US" altLang="ko-KR" sz="1600" spc="-50" dirty="0" smtClean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5490169" y="3124250"/>
            <a:ext cx="1440000" cy="360000"/>
          </a:xfrm>
          <a:prstGeom prst="roundRect">
            <a:avLst>
              <a:gd name="adj" fmla="val 65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IT </a:t>
            </a:r>
            <a:r>
              <a:rPr lang="ko-KR" altLang="en-US" sz="12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부문 內 발생하는 기획 업무 대응</a:t>
            </a:r>
            <a:endParaRPr lang="en-US" altLang="ko-KR" sz="1200" spc="-50" dirty="0" smtClean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9102576" y="3124250"/>
            <a:ext cx="1440000" cy="360000"/>
          </a:xfrm>
          <a:prstGeom prst="roundRect">
            <a:avLst>
              <a:gd name="adj" fmla="val 65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운영 보다 기획 역량 중심의</a:t>
            </a:r>
          </a:p>
          <a:p>
            <a:pPr algn="ctr"/>
            <a:r>
              <a:rPr lang="ko-KR" altLang="en-US" sz="12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인재 </a:t>
            </a:r>
            <a:r>
              <a:rPr lang="ko-KR" altLang="en-US" sz="12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채용으로 신규 프로젝트 대비</a:t>
            </a:r>
            <a:endParaRPr lang="ko-KR" altLang="en-US" sz="120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8526576" y="3953088"/>
            <a:ext cx="2592000" cy="1598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ko-KR" altLang="en-US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프로젝트 사업계획</a:t>
            </a:r>
            <a:r>
              <a:rPr lang="en-US" altLang="ko-KR" sz="1200" spc="-10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SI </a:t>
            </a:r>
            <a:r>
              <a:rPr lang="ko-KR" altLang="en-US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업무 수행이 가능한 </a:t>
            </a:r>
            <a:br>
              <a:rPr lang="ko-KR" altLang="en-US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ko-KR" altLang="en-US" sz="1200" spc="-1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기획자 채용 진행</a:t>
            </a:r>
          </a:p>
        </p:txBody>
      </p:sp>
    </p:spTree>
    <p:extLst>
      <p:ext uri="{BB962C8B-B14F-4D97-AF65-F5344CB8AC3E}">
        <p14:creationId xmlns:p14="http://schemas.microsoft.com/office/powerpoint/2010/main" val="413770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16572" y="210412"/>
            <a:ext cx="8499707" cy="562074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팀 운영 내재화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전략사업팀</a:t>
            </a:r>
            <a:r>
              <a:rPr lang="ko-KR" altLang="en-US" dirty="0" smtClean="0"/>
              <a:t> 온보딩</a:t>
            </a:r>
            <a:r>
              <a:rPr lang="en-US" altLang="ko-KR" dirty="0" smtClean="0"/>
              <a:t> </a:t>
            </a:r>
            <a:r>
              <a:rPr lang="ko-KR" altLang="en-US" dirty="0" smtClean="0"/>
              <a:t>프로그램 도입 계획 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116573" y="772486"/>
            <a:ext cx="11669026" cy="358453"/>
          </a:xfrm>
        </p:spPr>
        <p:txBody>
          <a:bodyPr/>
          <a:lstStyle/>
          <a:p>
            <a:r>
              <a:rPr lang="ko-KR" altLang="en-US" dirty="0"/>
              <a:t>온보딩 프로그램을 통해 </a:t>
            </a:r>
            <a:r>
              <a:rPr lang="ko-KR" altLang="en-US" b="1" dirty="0"/>
              <a:t>신규 기획자의 조직 적응을 최적화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b="1" dirty="0"/>
              <a:t>실무 프로젝트 투입 후 즉각적인 기획 역량 발휘를 목표로 </a:t>
            </a:r>
            <a:r>
              <a:rPr lang="ko-KR" altLang="en-US" b="1" dirty="0" smtClean="0"/>
              <a:t>함</a:t>
            </a:r>
            <a:endParaRPr lang="en-US" altLang="ko-KR" b="1" dirty="0" smtClean="0"/>
          </a:p>
          <a:p>
            <a:r>
              <a:rPr lang="ko-KR" altLang="en-US" dirty="0"/>
              <a:t>온보딩 체계를 기반으로 </a:t>
            </a:r>
            <a:r>
              <a:rPr lang="ko-KR" altLang="en-US" b="1" dirty="0" smtClean="0"/>
              <a:t>인재상에 </a:t>
            </a:r>
            <a:r>
              <a:rPr lang="ko-KR" altLang="en-US" b="1" dirty="0"/>
              <a:t>대한 명확한 기준을 정립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ko-KR" altLang="en-US" b="1" dirty="0"/>
              <a:t>객관적인 피드백 지표로 활용하여 지속적인 역량 </a:t>
            </a:r>
            <a:r>
              <a:rPr lang="ko-KR" altLang="en-US" b="1" dirty="0" smtClean="0"/>
              <a:t>개발을 강화하고자 </a:t>
            </a:r>
            <a:r>
              <a:rPr lang="ko-KR" altLang="en-US" b="1" dirty="0"/>
              <a:t>함</a:t>
            </a:r>
            <a:endParaRPr lang="en-US" altLang="ko-KR" dirty="0" smtClean="0"/>
          </a:p>
        </p:txBody>
      </p:sp>
      <p:sp>
        <p:nvSpPr>
          <p:cNvPr id="25" name="양쪽 모서리가 둥근 사각형 24"/>
          <p:cNvSpPr/>
          <p:nvPr/>
        </p:nvSpPr>
        <p:spPr>
          <a:xfrm>
            <a:off x="551384" y="1988840"/>
            <a:ext cx="3240000" cy="360000"/>
          </a:xfrm>
          <a:prstGeom prst="round2SameRect">
            <a:avLst>
              <a:gd name="adj1" fmla="val 22044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en-US" altLang="ko-KR" sz="12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Action Item</a:t>
            </a:r>
            <a:endParaRPr lang="ko-KR" altLang="en-US" sz="1200" spc="-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7" name="AutoShape 1682"/>
          <p:cNvSpPr>
            <a:spLocks noChangeArrowheads="1"/>
          </p:cNvSpPr>
          <p:nvPr/>
        </p:nvSpPr>
        <p:spPr bwMode="auto">
          <a:xfrm>
            <a:off x="543860" y="3664691"/>
            <a:ext cx="3240000" cy="43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000" tIns="36000" rIns="90000" bIns="36000" anchor="ctr"/>
          <a:lstStyle/>
          <a:p>
            <a:pPr marL="339725" indent="-339725" algn="ctr" defTabSz="1042988" eaLnBrk="0" hangingPunct="0">
              <a:lnSpc>
                <a:spcPct val="110000"/>
              </a:lnSpc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 spc="-11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신규 입사 시</a:t>
            </a:r>
            <a:r>
              <a:rPr lang="en-US" altLang="ko-KR" sz="1100" spc="-11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, </a:t>
            </a:r>
            <a:r>
              <a:rPr lang="ko-KR" altLang="en-US" sz="1100" spc="-11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프로젝트 투입 시 겪는 </a:t>
            </a:r>
            <a:r>
              <a:rPr lang="ko-KR" altLang="en-US" sz="1100" spc="-11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어려움에 대한</a:t>
            </a:r>
            <a:r>
              <a:rPr lang="en-US" altLang="ko-KR" sz="1100" spc="-11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 </a:t>
            </a:r>
            <a:r>
              <a:rPr lang="ko-KR" altLang="en-US" sz="1100" spc="-11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의견 </a:t>
            </a:r>
            <a:r>
              <a:rPr lang="ko-KR" altLang="en-US" sz="1100" spc="-11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수렴</a:t>
            </a:r>
          </a:p>
        </p:txBody>
      </p:sp>
      <p:sp>
        <p:nvSpPr>
          <p:cNvPr id="28" name="AutoShape 1682"/>
          <p:cNvSpPr>
            <a:spLocks noChangeArrowheads="1"/>
          </p:cNvSpPr>
          <p:nvPr/>
        </p:nvSpPr>
        <p:spPr bwMode="auto">
          <a:xfrm>
            <a:off x="543860" y="4215573"/>
            <a:ext cx="3240000" cy="43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000" tIns="36000" rIns="90000" bIns="36000" anchor="ctr"/>
          <a:lstStyle/>
          <a:p>
            <a:pPr marL="339725" indent="-339725" algn="ctr" defTabSz="1042988" eaLnBrk="0" hangingPunct="0">
              <a:lnSpc>
                <a:spcPct val="110000"/>
              </a:lnSpc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 spc="-110" dirty="0" err="1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온보딩</a:t>
            </a:r>
            <a:r>
              <a:rPr lang="ko-KR" altLang="en-US" sz="1100" spc="-11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 프로그램에서 각자의 역할 정의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29272" y="2564880"/>
            <a:ext cx="305984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spc="-50" dirty="0" err="1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전략사업팀</a:t>
            </a: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100" spc="-50" dirty="0" err="1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온보딩</a:t>
            </a: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프로그램 도입</a:t>
            </a:r>
            <a:endParaRPr lang="ko-KR" altLang="en-US" sz="110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32" name="직선 연결선 31"/>
          <p:cNvCxnSpPr/>
          <p:nvPr/>
        </p:nvCxnSpPr>
        <p:spPr>
          <a:xfrm>
            <a:off x="543860" y="2348880"/>
            <a:ext cx="0" cy="864000"/>
          </a:xfrm>
          <a:prstGeom prst="line">
            <a:avLst/>
          </a:prstGeom>
          <a:ln>
            <a:gradFill flip="none" rotWithShape="1">
              <a:gsLst>
                <a:gs pos="0">
                  <a:schemeClr val="bg1"/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>
            <a:off x="3774524" y="2348880"/>
            <a:ext cx="0" cy="864000"/>
          </a:xfrm>
          <a:prstGeom prst="line">
            <a:avLst/>
          </a:prstGeom>
          <a:ln>
            <a:gradFill flip="none" rotWithShape="1">
              <a:gsLst>
                <a:gs pos="0">
                  <a:schemeClr val="bg1"/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양쪽 모서리가 둥근 사각형 38"/>
          <p:cNvSpPr/>
          <p:nvPr/>
        </p:nvSpPr>
        <p:spPr>
          <a:xfrm>
            <a:off x="3863752" y="1988840"/>
            <a:ext cx="1872300" cy="360000"/>
          </a:xfrm>
          <a:prstGeom prst="round2SameRect">
            <a:avLst>
              <a:gd name="adj1" fmla="val 22044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en-US" altLang="ko-KR" sz="12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1Q</a:t>
            </a:r>
            <a:endParaRPr lang="ko-KR" altLang="en-US" sz="1200" spc="-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0" name="양쪽 모서리가 둥근 사각형 39"/>
          <p:cNvSpPr/>
          <p:nvPr/>
        </p:nvSpPr>
        <p:spPr>
          <a:xfrm>
            <a:off x="5807968" y="1988840"/>
            <a:ext cx="1872300" cy="360000"/>
          </a:xfrm>
          <a:prstGeom prst="round2SameRect">
            <a:avLst>
              <a:gd name="adj1" fmla="val 22044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en-US" altLang="ko-KR" sz="12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2Q</a:t>
            </a:r>
            <a:endParaRPr lang="ko-KR" altLang="en-US" sz="1200" spc="-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1" name="양쪽 모서리가 둥근 사각형 40"/>
          <p:cNvSpPr/>
          <p:nvPr/>
        </p:nvSpPr>
        <p:spPr>
          <a:xfrm>
            <a:off x="7757275" y="1988840"/>
            <a:ext cx="1872300" cy="360000"/>
          </a:xfrm>
          <a:prstGeom prst="round2SameRect">
            <a:avLst>
              <a:gd name="adj1" fmla="val 22044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en-US" altLang="ko-KR" sz="12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3Q</a:t>
            </a:r>
            <a:endParaRPr lang="ko-KR" altLang="en-US" sz="1200" spc="-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2" name="양쪽 모서리가 둥근 사각형 41"/>
          <p:cNvSpPr/>
          <p:nvPr/>
        </p:nvSpPr>
        <p:spPr>
          <a:xfrm>
            <a:off x="9696308" y="1988840"/>
            <a:ext cx="1872300" cy="360000"/>
          </a:xfrm>
          <a:prstGeom prst="round2SameRect">
            <a:avLst>
              <a:gd name="adj1" fmla="val 22044"/>
              <a:gd name="adj2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</a:pPr>
            <a:r>
              <a:rPr lang="en-US" altLang="ko-KR" sz="12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4Q</a:t>
            </a:r>
            <a:endParaRPr lang="ko-KR" altLang="en-US" sz="1200" spc="-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3" name="AutoShape 1682"/>
          <p:cNvSpPr>
            <a:spLocks noChangeArrowheads="1"/>
          </p:cNvSpPr>
          <p:nvPr/>
        </p:nvSpPr>
        <p:spPr bwMode="auto">
          <a:xfrm>
            <a:off x="543860" y="3113809"/>
            <a:ext cx="3240000" cy="43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000" tIns="36000" rIns="90000" bIns="36000" anchor="ctr"/>
          <a:lstStyle/>
          <a:p>
            <a:pPr lvl="0" algn="ctr"/>
            <a:r>
              <a:rPr lang="ko-KR" altLang="en-US" sz="1100" spc="-11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</a:rPr>
              <a:t>건강한 팀 문화를 만들기 위한 팀의 방향성 확인</a:t>
            </a:r>
            <a:endParaRPr lang="en-US" altLang="ko-KR" sz="1100" spc="-11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  <a:cs typeface="Ebrima" panose="02000000000000000000" pitchFamily="2" charset="0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5736052" y="3212976"/>
            <a:ext cx="0" cy="3132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688244" y="3212976"/>
            <a:ext cx="0" cy="3132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9632460" y="3212976"/>
            <a:ext cx="0" cy="3132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11580818" y="3212976"/>
            <a:ext cx="0" cy="3132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3859934" y="2564880"/>
            <a:ext cx="7720883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25</a:t>
            </a: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년 </a:t>
            </a:r>
            <a: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3Q </a:t>
            </a: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도입을 목표로 하고</a:t>
            </a:r>
            <a: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이후 지속적인 피드백 과정을 통해 프로그램의 완성을 높이는 것을 </a:t>
            </a:r>
            <a:r>
              <a:rPr lang="en-US" altLang="ko-KR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25</a:t>
            </a:r>
            <a:r>
              <a:rPr lang="ko-KR" altLang="en-US" sz="1100" spc="-50" dirty="0" smtClean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년 최종 목표로 함  </a:t>
            </a:r>
            <a:endParaRPr lang="en-US" altLang="ko-KR" sz="1100" spc="-50" dirty="0">
              <a:gradFill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>
            <a:off x="543860" y="6399434"/>
            <a:ext cx="1103695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AutoShape 1682"/>
          <p:cNvSpPr>
            <a:spLocks noChangeArrowheads="1"/>
          </p:cNvSpPr>
          <p:nvPr/>
        </p:nvSpPr>
        <p:spPr bwMode="auto">
          <a:xfrm>
            <a:off x="543860" y="4766455"/>
            <a:ext cx="3240000" cy="43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000" tIns="36000" rIns="90000" bIns="36000" anchor="ctr"/>
          <a:lstStyle/>
          <a:p>
            <a:pPr marL="339725" indent="-339725" algn="ctr" defTabSz="1042988" eaLnBrk="0" hangingPunct="0">
              <a:lnSpc>
                <a:spcPct val="110000"/>
              </a:lnSpc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 spc="-110" dirty="0" err="1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온보딩</a:t>
            </a:r>
            <a:r>
              <a:rPr lang="ko-KR" altLang="en-US" sz="1100" spc="-110" dirty="0" smtClean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 프로그램 커리큘럼 구체화 </a:t>
            </a:r>
            <a:r>
              <a:rPr lang="ko-KR" altLang="en-US" sz="1100" spc="-11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및 상세 계획</a:t>
            </a:r>
          </a:p>
        </p:txBody>
      </p:sp>
      <p:sp>
        <p:nvSpPr>
          <p:cNvPr id="53" name="AutoShape 1682"/>
          <p:cNvSpPr>
            <a:spLocks noChangeArrowheads="1"/>
          </p:cNvSpPr>
          <p:nvPr/>
        </p:nvSpPr>
        <p:spPr bwMode="auto">
          <a:xfrm>
            <a:off x="543860" y="5317337"/>
            <a:ext cx="3240000" cy="43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000" tIns="36000" rIns="90000" bIns="36000" anchor="ctr"/>
          <a:lstStyle/>
          <a:p>
            <a:pPr marL="339725" indent="-339725" algn="ctr" defTabSz="1042988" eaLnBrk="0" hangingPunct="0">
              <a:lnSpc>
                <a:spcPct val="110000"/>
              </a:lnSpc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 spc="-11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과장급 이상 교육</a:t>
            </a:r>
            <a:r>
              <a:rPr lang="en-US" altLang="ko-KR" sz="1100" spc="-11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/</a:t>
            </a:r>
            <a:r>
              <a:rPr lang="ko-KR" altLang="en-US" sz="1100" spc="-11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강의 사전 준비</a:t>
            </a:r>
          </a:p>
        </p:txBody>
      </p:sp>
      <p:sp>
        <p:nvSpPr>
          <p:cNvPr id="54" name="AutoShape 1682"/>
          <p:cNvSpPr>
            <a:spLocks noChangeArrowheads="1"/>
          </p:cNvSpPr>
          <p:nvPr/>
        </p:nvSpPr>
        <p:spPr bwMode="auto">
          <a:xfrm>
            <a:off x="543860" y="5868219"/>
            <a:ext cx="3240000" cy="43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lIns="90000" tIns="36000" rIns="90000" bIns="36000" anchor="ctr"/>
          <a:lstStyle/>
          <a:p>
            <a:pPr marL="339725" indent="-339725" algn="ctr" defTabSz="1042988" eaLnBrk="0" hangingPunct="0">
              <a:lnSpc>
                <a:spcPct val="110000"/>
              </a:lnSpc>
              <a:buClr>
                <a:srgbClr val="0000FF"/>
              </a:buClr>
              <a:buSzPct val="140000"/>
              <a:tabLst>
                <a:tab pos="5648325" algn="l"/>
              </a:tabLst>
              <a:defRPr/>
            </a:pPr>
            <a:r>
              <a:rPr lang="ko-KR" altLang="en-US" sz="1100" spc="-110" dirty="0" err="1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온보딩</a:t>
            </a:r>
            <a:r>
              <a:rPr lang="ko-KR" altLang="en-US" sz="1100" spc="-11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Ebrima" panose="02000000000000000000" pitchFamily="2" charset="0"/>
                <a:sym typeface="Monotype Sorts" pitchFamily="2" charset="2"/>
              </a:rPr>
              <a:t> 프로그램 도입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783860" y="3109218"/>
            <a:ext cx="1952192" cy="196707"/>
            <a:chOff x="3783860" y="3090168"/>
            <a:chExt cx="1952192" cy="196707"/>
          </a:xfrm>
        </p:grpSpPr>
        <p:cxnSp>
          <p:nvCxnSpPr>
            <p:cNvPr id="57" name="직선 화살표 연결선 56"/>
            <p:cNvCxnSpPr/>
            <p:nvPr/>
          </p:nvCxnSpPr>
          <p:spPr>
            <a:xfrm>
              <a:off x="3783860" y="3188521"/>
              <a:ext cx="1952192" cy="0"/>
            </a:xfrm>
            <a:prstGeom prst="straightConnector1">
              <a:avLst/>
            </a:prstGeom>
            <a:ln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갈매기형 수장 62"/>
            <p:cNvSpPr/>
            <p:nvPr/>
          </p:nvSpPr>
          <p:spPr>
            <a:xfrm>
              <a:off x="3822910" y="3090168"/>
              <a:ext cx="1801025" cy="196707"/>
            </a:xfrm>
            <a:prstGeom prst="chevron">
              <a:avLst>
                <a:gd name="adj" fmla="val 23542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24.12</a:t>
              </a:r>
              <a:r>
                <a:rPr lang="ko-KR" altLang="en-US" sz="9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월 직급별 그룹 토론 </a:t>
              </a:r>
              <a:r>
                <a:rPr lang="ko-KR" altLang="en-US" sz="900" spc="-50" dirty="0" smtClean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진행</a:t>
              </a:r>
              <a:endParaRPr lang="en-US" altLang="ko-KR" sz="9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3783860" y="3357640"/>
            <a:ext cx="1952192" cy="196707"/>
            <a:chOff x="3783860" y="3376690"/>
            <a:chExt cx="1952192" cy="196707"/>
          </a:xfrm>
        </p:grpSpPr>
        <p:cxnSp>
          <p:nvCxnSpPr>
            <p:cNvPr id="68" name="직선 화살표 연결선 67"/>
            <p:cNvCxnSpPr/>
            <p:nvPr/>
          </p:nvCxnSpPr>
          <p:spPr>
            <a:xfrm>
              <a:off x="3783860" y="3475043"/>
              <a:ext cx="1952192" cy="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갈매기형 수장 68"/>
            <p:cNvSpPr/>
            <p:nvPr/>
          </p:nvSpPr>
          <p:spPr>
            <a:xfrm>
              <a:off x="3822910" y="3376690"/>
              <a:ext cx="1801025" cy="196707"/>
            </a:xfrm>
            <a:prstGeom prst="chevron">
              <a:avLst>
                <a:gd name="adj" fmla="val 23542"/>
              </a:avLst>
            </a:prstGeom>
            <a:solidFill>
              <a:srgbClr val="1E21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9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팀 방향성 및 목표 수립</a:t>
              </a:r>
              <a:endPara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3791384" y="3666941"/>
            <a:ext cx="1952192" cy="196707"/>
            <a:chOff x="3783860" y="3090168"/>
            <a:chExt cx="1952192" cy="196707"/>
          </a:xfrm>
        </p:grpSpPr>
        <p:cxnSp>
          <p:nvCxnSpPr>
            <p:cNvPr id="74" name="직선 화살표 연결선 73"/>
            <p:cNvCxnSpPr/>
            <p:nvPr/>
          </p:nvCxnSpPr>
          <p:spPr>
            <a:xfrm>
              <a:off x="3783860" y="3188521"/>
              <a:ext cx="1952192" cy="0"/>
            </a:xfrm>
            <a:prstGeom prst="straightConnector1">
              <a:avLst/>
            </a:prstGeom>
            <a:ln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갈매기형 수장 74"/>
            <p:cNvSpPr/>
            <p:nvPr/>
          </p:nvSpPr>
          <p:spPr>
            <a:xfrm>
              <a:off x="3822910" y="3090168"/>
              <a:ext cx="1801025" cy="196707"/>
            </a:xfrm>
            <a:prstGeom prst="chevron">
              <a:avLst>
                <a:gd name="adj" fmla="val 23542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24.12</a:t>
              </a:r>
              <a:r>
                <a:rPr lang="ko-KR" altLang="en-US" sz="9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월 직급별 그룹 토론 </a:t>
              </a:r>
              <a:r>
                <a:rPr lang="ko-KR" altLang="en-US" sz="900" spc="-50" dirty="0" smtClean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진행</a:t>
              </a:r>
              <a:endParaRPr lang="en-US" altLang="ko-KR" sz="9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76" name="그룹 75"/>
          <p:cNvGrpSpPr/>
          <p:nvPr/>
        </p:nvGrpSpPr>
        <p:grpSpPr>
          <a:xfrm>
            <a:off x="4102636" y="3915363"/>
            <a:ext cx="1952192" cy="196707"/>
            <a:chOff x="3783860" y="3376690"/>
            <a:chExt cx="1952192" cy="196707"/>
          </a:xfrm>
        </p:grpSpPr>
        <p:cxnSp>
          <p:nvCxnSpPr>
            <p:cNvPr id="77" name="직선 화살표 연결선 76"/>
            <p:cNvCxnSpPr/>
            <p:nvPr/>
          </p:nvCxnSpPr>
          <p:spPr>
            <a:xfrm>
              <a:off x="3783860" y="3475043"/>
              <a:ext cx="1952192" cy="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갈매기형 수장 77"/>
            <p:cNvSpPr/>
            <p:nvPr/>
          </p:nvSpPr>
          <p:spPr>
            <a:xfrm>
              <a:off x="3822910" y="3376690"/>
              <a:ext cx="1801025" cy="196707"/>
            </a:xfrm>
            <a:prstGeom prst="chevron">
              <a:avLst>
                <a:gd name="adj" fmla="val 23542"/>
              </a:avLst>
            </a:prstGeom>
            <a:solidFill>
              <a:srgbClr val="1E21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9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개인별 심층 </a:t>
              </a:r>
              <a:r>
                <a:rPr lang="ko-KR" altLang="en-US" sz="9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설문 </a:t>
              </a:r>
              <a:r>
                <a:rPr lang="ko-KR" altLang="en-US" sz="9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진행 및 결론 도출</a:t>
              </a:r>
              <a:endPara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5511960" y="4333220"/>
            <a:ext cx="1952192" cy="196707"/>
            <a:chOff x="3783860" y="3376690"/>
            <a:chExt cx="1952192" cy="196707"/>
          </a:xfrm>
        </p:grpSpPr>
        <p:cxnSp>
          <p:nvCxnSpPr>
            <p:cNvPr id="83" name="직선 화살표 연결선 82"/>
            <p:cNvCxnSpPr/>
            <p:nvPr/>
          </p:nvCxnSpPr>
          <p:spPr>
            <a:xfrm>
              <a:off x="3783860" y="3475043"/>
              <a:ext cx="1952192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갈매기형 수장 83"/>
            <p:cNvSpPr/>
            <p:nvPr/>
          </p:nvSpPr>
          <p:spPr>
            <a:xfrm>
              <a:off x="3822910" y="3376690"/>
              <a:ext cx="1801025" cy="196707"/>
            </a:xfrm>
            <a:prstGeom prst="chevron">
              <a:avLst>
                <a:gd name="adj" fmla="val 23542"/>
              </a:avLst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9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회사 </a:t>
              </a:r>
              <a:r>
                <a:rPr lang="en-US" altLang="ko-KR" sz="9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VS </a:t>
              </a:r>
              <a:r>
                <a:rPr lang="ko-KR" altLang="en-US" sz="9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팀 </a:t>
              </a:r>
              <a:r>
                <a:rPr lang="en-US" altLang="ko-KR" sz="9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VS </a:t>
              </a:r>
              <a:r>
                <a:rPr lang="ko-KR" altLang="en-US" sz="9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구성원 역할 정의 </a:t>
              </a:r>
              <a:endPara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3791384" y="4778452"/>
            <a:ext cx="1952192" cy="196707"/>
            <a:chOff x="3783860" y="3090168"/>
            <a:chExt cx="1952192" cy="196707"/>
          </a:xfrm>
        </p:grpSpPr>
        <p:cxnSp>
          <p:nvCxnSpPr>
            <p:cNvPr id="87" name="직선 화살표 연결선 86"/>
            <p:cNvCxnSpPr/>
            <p:nvPr/>
          </p:nvCxnSpPr>
          <p:spPr>
            <a:xfrm>
              <a:off x="3783860" y="3188521"/>
              <a:ext cx="1952192" cy="0"/>
            </a:xfrm>
            <a:prstGeom prst="straightConnector1">
              <a:avLst/>
            </a:prstGeom>
            <a:ln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갈매기형 수장 87"/>
            <p:cNvSpPr/>
            <p:nvPr/>
          </p:nvSpPr>
          <p:spPr>
            <a:xfrm>
              <a:off x="3822910" y="3090168"/>
              <a:ext cx="1801025" cy="196707"/>
            </a:xfrm>
            <a:prstGeom prst="chevron">
              <a:avLst>
                <a:gd name="adj" fmla="val 23542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9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24.12</a:t>
              </a:r>
              <a:r>
                <a:rPr lang="ko-KR" altLang="en-US" sz="900" spc="-50" dirty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월 </a:t>
              </a:r>
              <a:r>
                <a:rPr lang="ko-KR" altLang="en-US" sz="900" spc="-50" dirty="0" smtClean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프로그램 주제 </a:t>
              </a:r>
              <a:r>
                <a:rPr lang="en-US" altLang="ko-KR" sz="900" spc="-50" dirty="0" smtClean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1</a:t>
              </a:r>
              <a:r>
                <a:rPr lang="ko-KR" altLang="en-US" sz="900" spc="-50" dirty="0" smtClean="0">
                  <a:gradFill>
                    <a:gsLst>
                      <a:gs pos="0">
                        <a:schemeClr val="tx1">
                          <a:lumMod val="75000"/>
                          <a:lumOff val="2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차 선정</a:t>
              </a:r>
              <a:endParaRPr lang="en-US" altLang="ko-KR" sz="900" spc="-5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89" name="그룹 88"/>
          <p:cNvGrpSpPr/>
          <p:nvPr/>
        </p:nvGrpSpPr>
        <p:grpSpPr>
          <a:xfrm>
            <a:off x="4878214" y="5026874"/>
            <a:ext cx="1224000" cy="196707"/>
            <a:chOff x="3586886" y="3376690"/>
            <a:chExt cx="1224000" cy="196707"/>
          </a:xfrm>
        </p:grpSpPr>
        <p:cxnSp>
          <p:nvCxnSpPr>
            <p:cNvPr id="90" name="직선 화살표 연결선 89"/>
            <p:cNvCxnSpPr/>
            <p:nvPr/>
          </p:nvCxnSpPr>
          <p:spPr>
            <a:xfrm>
              <a:off x="3586886" y="3475043"/>
              <a:ext cx="1224000" cy="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갈매기형 수장 90"/>
            <p:cNvSpPr/>
            <p:nvPr/>
          </p:nvSpPr>
          <p:spPr>
            <a:xfrm>
              <a:off x="3599586" y="3376690"/>
              <a:ext cx="1116000" cy="196707"/>
            </a:xfrm>
            <a:prstGeom prst="chevron">
              <a:avLst>
                <a:gd name="adj" fmla="val 23542"/>
              </a:avLst>
            </a:prstGeom>
            <a:solidFill>
              <a:srgbClr val="1E21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9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프로그램 선호도 조사</a:t>
              </a:r>
              <a:endPara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5743576" y="5320449"/>
            <a:ext cx="1051200" cy="196707"/>
            <a:chOff x="3783860" y="3376690"/>
            <a:chExt cx="1051200" cy="196707"/>
          </a:xfrm>
        </p:grpSpPr>
        <p:cxnSp>
          <p:nvCxnSpPr>
            <p:cNvPr id="93" name="직선 화살표 연결선 92"/>
            <p:cNvCxnSpPr/>
            <p:nvPr/>
          </p:nvCxnSpPr>
          <p:spPr>
            <a:xfrm>
              <a:off x="3783860" y="3475043"/>
              <a:ext cx="10512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갈매기형 수장 93"/>
            <p:cNvSpPr/>
            <p:nvPr/>
          </p:nvSpPr>
          <p:spPr>
            <a:xfrm>
              <a:off x="3822910" y="3376690"/>
              <a:ext cx="900000" cy="196707"/>
            </a:xfrm>
            <a:prstGeom prst="chevron">
              <a:avLst>
                <a:gd name="adj" fmla="val 23542"/>
              </a:avLst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900" spc="-1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프로그램 </a:t>
              </a:r>
              <a:r>
                <a:rPr lang="ko-KR" altLang="en-US" sz="9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주제</a:t>
              </a:r>
              <a:r>
                <a:rPr lang="en-US" altLang="ko-KR" sz="9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 </a:t>
              </a:r>
              <a:r>
                <a:rPr lang="ko-KR" altLang="en-US" sz="9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확정</a:t>
              </a:r>
              <a:endPara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98" name="그룹 97"/>
          <p:cNvGrpSpPr/>
          <p:nvPr/>
        </p:nvGrpSpPr>
        <p:grpSpPr>
          <a:xfrm>
            <a:off x="5743576" y="5546763"/>
            <a:ext cx="1952192" cy="196707"/>
            <a:chOff x="3783860" y="3376690"/>
            <a:chExt cx="1952192" cy="196707"/>
          </a:xfrm>
        </p:grpSpPr>
        <p:cxnSp>
          <p:nvCxnSpPr>
            <p:cNvPr id="99" name="직선 화살표 연결선 98"/>
            <p:cNvCxnSpPr/>
            <p:nvPr/>
          </p:nvCxnSpPr>
          <p:spPr>
            <a:xfrm>
              <a:off x="3783860" y="3475043"/>
              <a:ext cx="1952192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갈매기형 수장 99"/>
            <p:cNvSpPr/>
            <p:nvPr/>
          </p:nvSpPr>
          <p:spPr>
            <a:xfrm>
              <a:off x="3822910" y="3376690"/>
              <a:ext cx="1801025" cy="196707"/>
            </a:xfrm>
            <a:prstGeom prst="chevron">
              <a:avLst>
                <a:gd name="adj" fmla="val 23542"/>
              </a:avLst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900" spc="-100" dirty="0" smtClean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교육 사전 준비 및 완료</a:t>
              </a:r>
              <a:endPara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cxnSp>
        <p:nvCxnSpPr>
          <p:cNvPr id="105" name="직선 화살표 연결선 104"/>
          <p:cNvCxnSpPr/>
          <p:nvPr/>
        </p:nvCxnSpPr>
        <p:spPr>
          <a:xfrm>
            <a:off x="7686759" y="6084179"/>
            <a:ext cx="3828509" cy="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갈매기형 수장 102"/>
          <p:cNvSpPr/>
          <p:nvPr/>
        </p:nvSpPr>
        <p:spPr>
          <a:xfrm>
            <a:off x="7723459" y="5985826"/>
            <a:ext cx="2628000" cy="196707"/>
          </a:xfrm>
          <a:prstGeom prst="chevron">
            <a:avLst>
              <a:gd name="adj" fmla="val 23542"/>
            </a:avLst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00" dirty="0" err="1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온보딩</a:t>
            </a:r>
            <a:r>
              <a:rPr lang="ko-KR" altLang="en-US" sz="9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프로그램 도입 및 개선</a:t>
            </a:r>
            <a:endParaRPr lang="en-US" altLang="ko-KR" sz="900" spc="-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7" name="양쪽 모서리가 둥근 사각형 106"/>
          <p:cNvSpPr/>
          <p:nvPr/>
        </p:nvSpPr>
        <p:spPr>
          <a:xfrm>
            <a:off x="8693511" y="3235466"/>
            <a:ext cx="2821757" cy="1761273"/>
          </a:xfrm>
          <a:prstGeom prst="round2SameRect">
            <a:avLst>
              <a:gd name="adj1" fmla="val 6840"/>
              <a:gd name="adj2" fmla="val 778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</a:pPr>
            <a:r>
              <a:rPr lang="ko-KR" altLang="en-US" sz="9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★ </a:t>
            </a:r>
            <a:r>
              <a:rPr lang="ko-KR" altLang="en-US" sz="900" spc="-100" dirty="0" err="1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온보딩</a:t>
            </a:r>
            <a:r>
              <a:rPr lang="ko-KR" altLang="en-US" sz="9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프로그램 교육 주제 </a:t>
            </a:r>
            <a:r>
              <a: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r>
              <a:rPr lang="ko-KR" altLang="en-US" sz="900" spc="-100" dirty="0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차안</a:t>
            </a:r>
            <a:endParaRPr lang="en-US" altLang="ko-KR" sz="900" spc="-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>
              <a:spcBef>
                <a:spcPts val="300"/>
              </a:spcBef>
            </a:pPr>
            <a:endParaRPr lang="en-US" altLang="ko-KR" sz="400" spc="-1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92075" indent="-9207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최에셀</a:t>
            </a:r>
            <a:r>
              <a: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 : </a:t>
            </a: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회사 소개</a:t>
            </a:r>
            <a:r>
              <a: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IT</a:t>
            </a: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부문 </a:t>
            </a:r>
            <a:r>
              <a: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</a:t>
            </a: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팀 소개</a:t>
            </a:r>
            <a:r>
              <a: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900" spc="-100" dirty="0" err="1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팀별</a:t>
            </a: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진행 프로젝트 소개</a:t>
            </a:r>
          </a:p>
          <a:p>
            <a:pPr marL="92075" indent="-9207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송은지</a:t>
            </a:r>
            <a:r>
              <a: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B : </a:t>
            </a: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문서 템플릿 가이드 </a:t>
            </a:r>
            <a:r>
              <a: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&amp; IT </a:t>
            </a: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용어 교육</a:t>
            </a:r>
          </a:p>
          <a:p>
            <a:pPr marL="92075" indent="-9207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하성진</a:t>
            </a:r>
            <a:r>
              <a: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 :  </a:t>
            </a: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전략사업팀에서 수행 중인</a:t>
            </a:r>
            <a:r>
              <a: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수행 했던 프로젝트 소개</a:t>
            </a:r>
          </a:p>
          <a:p>
            <a:pPr marL="92075" indent="-9207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과장급 </a:t>
            </a:r>
            <a:r>
              <a: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실무 프로젝트와 프로세스의 이해</a:t>
            </a:r>
          </a:p>
          <a:p>
            <a:pPr>
              <a:spcBef>
                <a:spcPts val="300"/>
              </a:spcBef>
            </a:pP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           </a:t>
            </a:r>
            <a:r>
              <a: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 </a:t>
            </a: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업무 프로세스와 커뮤니케이션의 이해 </a:t>
            </a:r>
          </a:p>
          <a:p>
            <a:pPr>
              <a:spcBef>
                <a:spcPts val="300"/>
              </a:spcBef>
            </a:pP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           </a:t>
            </a:r>
            <a:r>
              <a: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 KT </a:t>
            </a: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프로젝트 기반 운영 업무 프로세스 실습</a:t>
            </a:r>
          </a:p>
          <a:p>
            <a:pPr>
              <a:spcBef>
                <a:spcPts val="300"/>
              </a:spcBef>
            </a:pP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           </a:t>
            </a:r>
            <a:r>
              <a:rPr lang="en-US" altLang="ko-KR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KT </a:t>
            </a:r>
            <a:r>
              <a:rPr lang="ko-KR" altLang="en-US" sz="900" spc="-1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프로젝트 기반 기획 업무 프로세스</a:t>
            </a:r>
          </a:p>
        </p:txBody>
      </p:sp>
    </p:spTree>
    <p:extLst>
      <p:ext uri="{BB962C8B-B14F-4D97-AF65-F5344CB8AC3E}">
        <p14:creationId xmlns:p14="http://schemas.microsoft.com/office/powerpoint/2010/main" val="2439008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16573" y="210412"/>
            <a:ext cx="5979427" cy="562074"/>
          </a:xfrm>
        </p:spPr>
        <p:txBody>
          <a:bodyPr/>
          <a:lstStyle/>
          <a:p>
            <a:r>
              <a:rPr lang="en-US" altLang="ko-KR" dirty="0" smtClean="0"/>
              <a:t>5. 25</a:t>
            </a:r>
            <a:r>
              <a:rPr lang="ko-KR" altLang="en-US" dirty="0" smtClean="0"/>
              <a:t>년 사업 매출 계획 </a:t>
            </a:r>
            <a:r>
              <a:rPr lang="en-US" altLang="ko-KR" dirty="0" smtClean="0"/>
              <a:t>– </a:t>
            </a:r>
            <a:r>
              <a:rPr lang="ko-KR" altLang="en-US" dirty="0" err="1" smtClean="0"/>
              <a:t>포</a:t>
            </a:r>
            <a:r>
              <a:rPr lang="ko-KR" altLang="en-US" dirty="0" err="1"/>
              <a:t>캐</a:t>
            </a:r>
            <a:r>
              <a:rPr lang="ko-KR" altLang="en-US" dirty="0" err="1" smtClean="0"/>
              <a:t>스팅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116573" y="772486"/>
            <a:ext cx="11669026" cy="358453"/>
          </a:xfrm>
        </p:spPr>
        <p:txBody>
          <a:bodyPr/>
          <a:lstStyle/>
          <a:p>
            <a:r>
              <a:rPr lang="ko-KR" altLang="en-US" dirty="0" err="1" smtClean="0"/>
              <a:t>케이티</a:t>
            </a:r>
            <a:r>
              <a:rPr lang="ko-KR" altLang="en-US" dirty="0" smtClean="0"/>
              <a:t> </a:t>
            </a:r>
            <a:r>
              <a:rPr lang="en-US" altLang="ko-KR" dirty="0" smtClean="0"/>
              <a:t>SM </a:t>
            </a:r>
            <a:r>
              <a:rPr lang="ko-KR" altLang="en-US" dirty="0" smtClean="0"/>
              <a:t>기획 사업을 안정적으로 수행하며</a:t>
            </a:r>
            <a:r>
              <a:rPr lang="en-US" altLang="ko-KR" dirty="0" smtClean="0"/>
              <a:t>, 25</a:t>
            </a:r>
            <a:r>
              <a:rPr lang="ko-KR" altLang="en-US" dirty="0" smtClean="0"/>
              <a:t>년 예정된 </a:t>
            </a:r>
            <a:r>
              <a:rPr lang="en-US" altLang="ko-KR" dirty="0" smtClean="0"/>
              <a:t>KT</a:t>
            </a:r>
            <a:r>
              <a:rPr lang="ko-KR" altLang="en-US" dirty="0"/>
              <a:t> </a:t>
            </a:r>
            <a:r>
              <a:rPr lang="ko-KR" altLang="en-US" dirty="0" err="1" smtClean="0"/>
              <a:t>마이케이티앱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리뉴얼</a:t>
            </a:r>
            <a:r>
              <a:rPr lang="ko-KR" altLang="en-US" dirty="0" smtClean="0"/>
              <a:t> 사업 기획 참여하여 </a:t>
            </a:r>
            <a:r>
              <a:rPr lang="en-US" altLang="ko-KR" dirty="0" smtClean="0"/>
              <a:t>SI </a:t>
            </a:r>
            <a:r>
              <a:rPr lang="ko-KR" altLang="en-US" dirty="0" smtClean="0"/>
              <a:t>사업 진행</a:t>
            </a:r>
            <a:endParaRPr lang="en-US" altLang="ko-KR" dirty="0" smtClean="0"/>
          </a:p>
          <a:p>
            <a:r>
              <a:rPr lang="en-US" altLang="ko-KR" dirty="0" smtClean="0"/>
              <a:t> </a:t>
            </a:r>
            <a:r>
              <a:rPr lang="ko-KR" altLang="en-US" dirty="0" smtClean="0"/>
              <a:t>이 외 </a:t>
            </a:r>
            <a:r>
              <a:rPr lang="en-US" altLang="ko-KR" dirty="0" smtClean="0"/>
              <a:t>IT</a:t>
            </a:r>
            <a:r>
              <a:rPr lang="ko-KR" altLang="en-US" dirty="0" smtClean="0"/>
              <a:t>서비스부문 프로젝트 진행 시 기획 적극 참여할 수 있도록 계획함 </a:t>
            </a:r>
            <a:endParaRPr lang="ko-KR" altLang="en-US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773475"/>
              </p:ext>
            </p:extLst>
          </p:nvPr>
        </p:nvGraphicFramePr>
        <p:xfrm>
          <a:off x="239309" y="2048615"/>
          <a:ext cx="11617331" cy="41442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3116">
                  <a:extLst>
                    <a:ext uri="{9D8B030D-6E8A-4147-A177-3AD203B41FA5}">
                      <a16:colId xmlns="" xmlns:a16="http://schemas.microsoft.com/office/drawing/2014/main" val="4235679607"/>
                    </a:ext>
                  </a:extLst>
                </a:gridCol>
                <a:gridCol w="653491"/>
                <a:gridCol w="74278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59217">
                  <a:extLst>
                    <a:ext uri="{9D8B030D-6E8A-4147-A177-3AD203B41FA5}">
                      <a16:colId xmlns="" xmlns:a16="http://schemas.microsoft.com/office/drawing/2014/main" val="2261183519"/>
                    </a:ext>
                  </a:extLst>
                </a:gridCol>
                <a:gridCol w="1052058"/>
                <a:gridCol w="1080120"/>
                <a:gridCol w="1008112"/>
                <a:gridCol w="1008112"/>
                <a:gridCol w="792088">
                  <a:extLst>
                    <a:ext uri="{9D8B030D-6E8A-4147-A177-3AD203B41FA5}">
                      <a16:colId xmlns="" xmlns:a16="http://schemas.microsoft.com/office/drawing/2014/main" val="3103891761"/>
                    </a:ext>
                  </a:extLst>
                </a:gridCol>
                <a:gridCol w="2088232">
                  <a:extLst>
                    <a:ext uri="{9D8B030D-6E8A-4147-A177-3AD203B41FA5}">
                      <a16:colId xmlns="" xmlns:a16="http://schemas.microsoft.com/office/drawing/2014/main" val="2791877539"/>
                    </a:ext>
                  </a:extLst>
                </a:gridCol>
              </a:tblGrid>
              <a:tr h="400709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전략사업팀</a:t>
                      </a:r>
                      <a:endParaRPr lang="ko-KR" altLang="en-US" sz="1050" b="1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수주 </a:t>
                      </a:r>
                      <a:endParaRPr lang="en-US" altLang="ko-KR" sz="1050" b="1" i="0" u="none" strike="noStrike" kern="1200" spc="-80" baseline="0" dirty="0" smtClean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확률</a:t>
                      </a:r>
                      <a:endParaRPr lang="ko-KR" altLang="en-US" sz="1050" b="1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매출 </a:t>
                      </a:r>
                      <a:endParaRPr lang="en-US" altLang="ko-KR" sz="1050" b="1" i="0" u="none" strike="noStrike" kern="1200" spc="-80" baseline="0" dirty="0" smtClean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점유율</a:t>
                      </a:r>
                      <a:endParaRPr lang="en-US" altLang="ko-KR" sz="1050" b="1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‘25</a:t>
                      </a:r>
                      <a:r>
                        <a:rPr lang="ko-KR" altLang="en-US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년 </a:t>
                      </a:r>
                      <a:endParaRPr lang="en-US" altLang="ko-KR" sz="1050" b="1" i="0" u="none" strike="noStrike" kern="1200" spc="-80" baseline="0" dirty="0" smtClean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목표 매출</a:t>
                      </a:r>
                      <a:endParaRPr lang="en-US" altLang="ko-KR" sz="1050" b="1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매입</a:t>
                      </a:r>
                      <a:endParaRPr lang="ko-KR" altLang="en-US" sz="1050" b="1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인건비</a:t>
                      </a:r>
                      <a:endParaRPr lang="ko-KR" altLang="en-US" sz="1050" b="1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50" b="1" i="0" u="none" strike="noStrike" kern="12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공통비</a:t>
                      </a:r>
                      <a:endParaRPr lang="ko-KR" altLang="en-US" sz="1050" b="1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영업이익</a:t>
                      </a:r>
                      <a:endParaRPr lang="ko-KR" altLang="en-US" sz="1050" b="1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영업</a:t>
                      </a:r>
                      <a:endParaRPr lang="en-US" altLang="ko-KR" sz="1050" b="1" i="0" u="none" strike="noStrike" kern="1200" spc="-80" baseline="0" dirty="0" smtClean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이익률</a:t>
                      </a:r>
                      <a:endParaRPr lang="ko-KR" altLang="en-US" sz="1050" b="1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사업 내용 및 </a:t>
                      </a:r>
                      <a:r>
                        <a:rPr lang="ko-KR" altLang="en-US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대응 </a:t>
                      </a:r>
                      <a:r>
                        <a:rPr lang="ko-KR" altLang="en-US" sz="105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방안</a:t>
                      </a:r>
                      <a:endParaRPr lang="en-US" altLang="ko-KR" sz="1050" b="1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41420503"/>
                  </a:ext>
                </a:extLst>
              </a:tr>
              <a:tr h="359861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900" b="1" i="0" u="none" strike="noStrike" kern="1200" spc="-80" baseline="0" dirty="0" smtClean="0">
                          <a:solidFill>
                            <a:schemeClr val="accent2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[SM] </a:t>
                      </a:r>
                      <a:r>
                        <a:rPr lang="ko-KR" altLang="en-US" sz="900" b="1" i="0" u="none" strike="noStrike" kern="12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케이티닷컴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기획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운영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24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년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)</a:t>
                      </a:r>
                      <a:b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</a:b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24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년 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본 계약</a:t>
                      </a:r>
                      <a:endParaRPr lang="en-US" altLang="ko-KR" sz="900" b="0" i="0" u="none" strike="noStrike" kern="1200" spc="-80" baseline="0" dirty="0" smtClean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확정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10.9%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295,256,138</a:t>
                      </a:r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84,300,000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104,911,386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31,281,668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40,260,929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13.64%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25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년 </a:t>
                      </a:r>
                      <a:r>
                        <a:rPr lang="ko-KR" altLang="en-US" sz="900" b="0" i="0" u="none" strike="noStrike" kern="12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케이티닷컴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기획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운영 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b="0" i="0" u="none" strike="noStrike" kern="12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닷컴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공통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온라인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CS)</a:t>
                      </a:r>
                      <a:endParaRPr lang="en-US" altLang="ko-KR" sz="900" b="0" i="0" u="none" strike="noStrike" kern="1200" spc="-80" baseline="0" dirty="0">
                        <a:solidFill>
                          <a:schemeClr val="accent5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9861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900" b="1" i="0" u="none" strike="noStrike" kern="1200" spc="-80" baseline="0" dirty="0" smtClean="0">
                          <a:solidFill>
                            <a:schemeClr val="accent2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[SM] </a:t>
                      </a:r>
                      <a:r>
                        <a:rPr lang="ko-KR" altLang="en-US" sz="900" b="1" i="0" u="none" strike="noStrike" kern="12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케이티닷컴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기획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운영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(25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년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)</a:t>
                      </a:r>
                      <a:b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</a:b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- 25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년 본 계약</a:t>
                      </a:r>
                      <a:endParaRPr lang="en-US" altLang="ko-KR" sz="900" b="0" i="0" u="none" strike="noStrike" kern="1200" spc="-80" baseline="0" dirty="0" smtClean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확정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80.1%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2,171,025,000</a:t>
                      </a:r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721,310,423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857,879,906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253,231,173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312,582,947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14.40%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25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년 </a:t>
                      </a:r>
                      <a:r>
                        <a:rPr lang="ko-KR" altLang="en-US" sz="900" b="0" i="0" u="none" strike="noStrike" kern="12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케이티닷컴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기획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운영 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b="0" i="0" u="none" strike="noStrike" kern="12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닷컴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공통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온라인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CS)</a:t>
                      </a:r>
                      <a:endParaRPr lang="en-US" altLang="ko-KR" sz="900" b="0" i="0" u="none" strike="noStrike" kern="1200" spc="-80" baseline="0" dirty="0">
                        <a:solidFill>
                          <a:schemeClr val="accent5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57845552"/>
                  </a:ext>
                </a:extLst>
              </a:tr>
              <a:tr h="29354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 spc="-80" baseline="0" dirty="0" smtClean="0">
                          <a:solidFill>
                            <a:srgbClr val="C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[SI] </a:t>
                      </a:r>
                      <a:r>
                        <a:rPr lang="en-US" altLang="ko-KR" sz="900" b="1" i="0" u="none" strike="noStrike" spc="-80" baseline="0" dirty="0" smtClean="0">
                          <a:solidFill>
                            <a:schemeClr val="tx1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25</a:t>
                      </a:r>
                      <a:r>
                        <a:rPr lang="ko-KR" altLang="en-US" sz="900" b="1" i="0" u="none" strike="noStrike" spc="-80" baseline="0" dirty="0" smtClean="0">
                          <a:solidFill>
                            <a:schemeClr val="tx1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년 </a:t>
                      </a:r>
                      <a:r>
                        <a:rPr lang="ko-KR" altLang="en-US" sz="900" b="1" i="0" u="none" strike="noStrike" kern="1200" spc="-80" baseline="0" dirty="0" err="1" smtClean="0">
                          <a:solidFill>
                            <a:schemeClr val="tx1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마이케이티앱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chemeClr val="tx1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900" b="1" i="0" u="none" strike="noStrike" kern="12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리뉴얼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900" b="1" i="0" u="none" strike="noStrike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/>
                      </a:r>
                      <a:br>
                        <a:rPr lang="en-US" altLang="ko-KR" sz="900" b="1" i="0" u="none" strike="noStrike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</a:br>
                      <a:r>
                        <a:rPr lang="en-US" altLang="ko-KR" sz="900" b="0" i="0" u="none" strike="noStrike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- App</a:t>
                      </a:r>
                      <a:endParaRPr lang="ko-KR" altLang="en-US" sz="900" b="0" i="0" u="none" strike="noStrike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</a:endParaRPr>
                    </a:p>
                  </a:txBody>
                  <a:tcPr marL="180000" marR="180000" marT="36000" marB="36000"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확정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3.5%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94,320,000</a:t>
                      </a:r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15,900,000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42,868,452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15,605,999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18,945,548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20.09%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25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KT </a:t>
                      </a:r>
                      <a:r>
                        <a:rPr lang="ko-KR" altLang="en-US" sz="900" b="0" i="0" u="none" strike="noStrike" kern="12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마이케이티앱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리뉴얼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사업</a:t>
                      </a:r>
                      <a:endParaRPr lang="en-US" altLang="ko-KR" sz="900" b="0" i="0" u="none" strike="noStrike" kern="1200" spc="-80" baseline="0" dirty="0" smtClean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732728291"/>
                  </a:ext>
                </a:extLst>
              </a:tr>
              <a:tr h="642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900" b="1" i="0" u="none" strike="noStrike" kern="1200" spc="-80" baseline="0" dirty="0" smtClean="0">
                          <a:solidFill>
                            <a:schemeClr val="accent2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[SM] </a:t>
                      </a:r>
                      <a:r>
                        <a:rPr lang="ko-KR" altLang="en-US" sz="900" b="1" i="0" u="none" strike="noStrike" kern="12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케이티닷컴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기획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운영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(24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년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) – 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증액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/>
                      </a:r>
                      <a:b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</a:br>
                      <a:r>
                        <a:rPr lang="en-US" altLang="ko-KR" sz="900" b="0" i="0" u="none" strike="noStrike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- </a:t>
                      </a:r>
                      <a:r>
                        <a:rPr lang="ko-KR" altLang="en-US" sz="900" b="0" i="0" u="none" strike="noStrike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공통</a:t>
                      </a:r>
                      <a:r>
                        <a:rPr lang="en-US" altLang="ko-KR" sz="900" b="0" i="0" u="none" strike="noStrike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(</a:t>
                      </a:r>
                      <a:r>
                        <a:rPr lang="ko-KR" altLang="en-US" sz="900" b="0" i="0" u="none" strike="noStrike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개인채널</a:t>
                      </a:r>
                      <a:r>
                        <a:rPr lang="en-US" altLang="ko-KR" sz="900" b="0" i="0" u="none" strike="noStrike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) + </a:t>
                      </a:r>
                      <a:r>
                        <a:rPr lang="ko-KR" altLang="en-US" sz="900" b="0" i="0" u="none" strike="noStrike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상품서비스 </a:t>
                      </a:r>
                      <a:r>
                        <a:rPr lang="en-US" altLang="ko-KR" sz="900" b="0" i="0" u="none" strike="noStrike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+ </a:t>
                      </a:r>
                      <a:r>
                        <a:rPr lang="ko-KR" altLang="en-US" sz="900" b="0" i="0" u="none" strike="noStrike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마이 등 </a:t>
                      </a:r>
                      <a:r>
                        <a:rPr lang="en-US" altLang="ko-KR" sz="900" b="0" i="0" u="none" strike="noStrike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/>
                      </a:r>
                      <a:br>
                        <a:rPr lang="en-US" altLang="ko-KR" sz="900" b="0" i="0" u="none" strike="noStrike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</a:br>
                      <a:r>
                        <a:rPr lang="ko-KR" altLang="en-US" sz="900" b="0" i="0" u="none" strike="noStrike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신규과업 기획 진행</a:t>
                      </a:r>
                      <a:endParaRPr lang="en-US" altLang="ko-KR" sz="900" b="1" i="0" u="none" strike="noStrike" kern="1200" spc="-80" baseline="0" dirty="0" smtClean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A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1.8%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50,000,000</a:t>
                      </a:r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-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23,448,504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6,966,964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19,584,532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39.17%</a:t>
                      </a:r>
                      <a:endParaRPr lang="ko-KR" altLang="en-US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25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년 </a:t>
                      </a:r>
                      <a:r>
                        <a:rPr lang="ko-KR" altLang="en-US" sz="900" b="0" i="0" u="none" strike="noStrike" kern="12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케이티닷컴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기획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운영 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b="0" i="0" u="none" strike="noStrike" kern="1200" spc="-80" baseline="0" dirty="0" err="1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닷컴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 공통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온라인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CS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) 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팀 내부 인력 활용하여 투입 인건비 절감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</a:br>
                      <a:r>
                        <a:rPr lang="en-US" altLang="ko-KR" sz="900" b="0" i="0" u="none" strike="noStrike" kern="1200" spc="-80" baseline="0" dirty="0" smtClean="0">
                          <a:solidFill>
                            <a:schemeClr val="accent5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chemeClr val="accent5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상품 카테고리 개선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chemeClr val="accent5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80" baseline="0" dirty="0" smtClean="0">
                          <a:solidFill>
                            <a:schemeClr val="accent5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</a:br>
                      <a:r>
                        <a:rPr lang="en-US" altLang="ko-KR" sz="900" b="0" i="0" u="none" strike="noStrike" kern="1200" spc="-80" baseline="0" dirty="0" smtClean="0">
                          <a:solidFill>
                            <a:schemeClr val="accent5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chemeClr val="accent5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회사소개 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chemeClr val="accent5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SEO 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chemeClr val="accent5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개발 </a:t>
                      </a:r>
                      <a:endParaRPr lang="en-US" altLang="ko-KR" sz="900" b="0" i="0" u="none" strike="noStrike" kern="1200" spc="-80" baseline="0" dirty="0">
                        <a:solidFill>
                          <a:schemeClr val="accent5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4231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 spc="-80" baseline="0" dirty="0" smtClean="0">
                          <a:solidFill>
                            <a:srgbClr val="C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</a:rPr>
                        <a:t>[SI] 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KT 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외 신규 도메인 사업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3.7%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100,000,000</a:t>
                      </a:r>
                      <a:endParaRPr lang="en-US" altLang="ko-KR" sz="900" b="0" i="0" u="none" strike="noStrike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24,000,000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34,342,850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8,708,705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27,948,445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27.95%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KT 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외 사업 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: 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</a:b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팀 외연 확장을 위한 신규 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프로젝트 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발굴 </a:t>
                      </a:r>
                      <a:r>
                        <a:rPr lang="en-US" altLang="ko-KR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팀 내부 인력 활용하여 투입 인건비 절감</a:t>
                      </a:r>
                      <a:endParaRPr lang="en-US" altLang="ko-KR" sz="900" b="0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09802">
                <a:tc>
                  <a:txBody>
                    <a:bodyPr/>
                    <a:lstStyle/>
                    <a:p>
                      <a:pPr algn="l" fontAlgn="ctr"/>
                      <a:r>
                        <a:rPr lang="el-GR" altLang="ko-KR" sz="900" b="1" u="none" strike="noStrike" dirty="0" smtClean="0">
                          <a:solidFill>
                            <a:srgbClr val="00B0F0"/>
                          </a:solidFill>
                          <a:effectLst/>
                          <a:latin typeface="+mn-ea"/>
                          <a:ea typeface="+mn-ea"/>
                        </a:rPr>
                        <a:t>+α</a:t>
                      </a:r>
                      <a:endParaRPr lang="en-US" altLang="ko-KR" sz="900" b="1" u="none" strike="noStrike" dirty="0" smtClean="0">
                        <a:solidFill>
                          <a:srgbClr val="00B0F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IT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서비스부문 사업 기획 지원 </a:t>
                      </a:r>
                      <a:endParaRPr lang="en-US" altLang="ko-KR" sz="900" b="1" i="0" u="none" strike="noStrike" kern="1200" spc="-80" baseline="0" dirty="0" smtClean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 25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년 경찰청 프로젝트 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기획  지원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lang="ko-KR" altLang="en-US" sz="900" b="1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(D-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Inno</a:t>
                      </a:r>
                      <a:r>
                        <a:rPr lang="ko-KR" altLang="en-US" sz="8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개발팀 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8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8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실적에 포함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1" hangingPunct="1"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kern="1200" spc="-80" baseline="0" dirty="0">
                        <a:solidFill>
                          <a:srgbClr val="C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01554306"/>
                  </a:ext>
                </a:extLst>
              </a:tr>
              <a:tr h="409802">
                <a:tc>
                  <a:txBody>
                    <a:bodyPr/>
                    <a:lstStyle/>
                    <a:p>
                      <a:pPr algn="l" fontAlgn="ctr"/>
                      <a:r>
                        <a:rPr lang="el-GR" altLang="ko-KR" sz="900" b="1" u="none" strike="noStrike" dirty="0" smtClean="0">
                          <a:solidFill>
                            <a:srgbClr val="00B0F0"/>
                          </a:solidFill>
                          <a:effectLst/>
                          <a:latin typeface="+mn-ea"/>
                          <a:ea typeface="+mn-ea"/>
                        </a:rPr>
                        <a:t>+α</a:t>
                      </a:r>
                      <a:endParaRPr lang="en-US" altLang="ko-KR" sz="900" b="1" u="none" strike="noStrike" dirty="0" smtClean="0">
                        <a:solidFill>
                          <a:srgbClr val="00B0F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IT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</a:rPr>
                        <a:t>서비스부문 사업 기획 지원 </a:t>
                      </a:r>
                      <a:endParaRPr lang="en-US" altLang="ko-KR" sz="900" b="1" i="0" u="none" strike="noStrike" kern="1200" spc="-80" baseline="0" dirty="0" smtClean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 25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년 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KT Cloud 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프로젝트 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기획  지원</a:t>
                      </a:r>
                      <a:r>
                        <a:rPr lang="en-US" altLang="ko-KR" sz="900" b="1" i="0" u="none" strike="noStrike" kern="1200" spc="-80" baseline="0" dirty="0" smtClean="0">
                          <a:solidFill>
                            <a:srgbClr val="000000"/>
                          </a:solidFill>
                          <a:effectLst/>
                          <a:latin typeface="KoPub돋움체 Light" panose="02020603020101020101" pitchFamily="18" charset="-127"/>
                          <a:ea typeface="KoPub돋움체 Light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lang="ko-KR" altLang="en-US" sz="900" b="1" i="0" u="none" strike="noStrike" kern="1200" spc="-80" baseline="0" dirty="0">
                        <a:solidFill>
                          <a:srgbClr val="0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 err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지능형플랫폼사업팀</a:t>
                      </a:r>
                      <a:r>
                        <a:rPr lang="ko-KR" altLang="en-US" sz="8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실적에 포함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fontAlgn="ctr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900" b="0" i="0" u="none" strike="noStrike" kern="1200" spc="-80" baseline="0" dirty="0">
                        <a:solidFill>
                          <a:srgbClr val="C00000"/>
                        </a:solidFill>
                        <a:effectLst/>
                        <a:latin typeface="KoPub돋움체 Light" panose="02020603020101020101" pitchFamily="18" charset="-127"/>
                        <a:ea typeface="KoPub돋움체 Light" panose="02020603020101020101" pitchFamily="18" charset="-127"/>
                        <a:cs typeface="+mn-cs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0444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u="none" strike="noStrike" dirty="0" smtClean="0">
                          <a:effectLst/>
                          <a:latin typeface="+mn-ea"/>
                          <a:ea typeface="+mn-ea"/>
                        </a:rPr>
                        <a:t>Total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100%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2,710,601,138</a:t>
                      </a:r>
                      <a:endParaRPr lang="en-US" altLang="ko-KR" sz="900" b="1" i="0" u="none" strike="noStrike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845,510,423</a:t>
                      </a:r>
                      <a:endParaRPr lang="ko-KR" altLang="en-US" sz="900" b="0" i="0" u="none" strike="noStrike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1,063,451,098</a:t>
                      </a:r>
                      <a:endParaRPr lang="ko-KR" altLang="en-US" sz="900" b="0" i="0" u="none" strike="noStrike" dirty="0" smtClean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315,794,509</a:t>
                      </a:r>
                      <a:endParaRPr lang="ko-KR" altLang="en-US" sz="900" b="0" i="0" u="none" strike="noStrike" dirty="0" smtClean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419,322,401</a:t>
                      </a:r>
                      <a:endParaRPr lang="ko-KR" altLang="en-US" sz="900" b="0" i="0" u="none" strike="noStrike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900" b="0" i="0" u="none" strike="noStrike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180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4249744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705599" y="1828480"/>
            <a:ext cx="1080000" cy="2160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r"/>
            <a:r>
              <a:rPr lang="en-US" altLang="ko-KR" sz="800" dirty="0" smtClean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단위 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원</a:t>
            </a:r>
            <a:r>
              <a:rPr lang="en-US" altLang="ko-KR" sz="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  <a:endParaRPr lang="ko-KR" altLang="en-US" sz="8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721A964-837F-7359-5217-C0F79F0EEAA6}"/>
              </a:ext>
            </a:extLst>
          </p:cNvPr>
          <p:cNvSpPr txBox="1"/>
          <p:nvPr/>
        </p:nvSpPr>
        <p:spPr>
          <a:xfrm>
            <a:off x="239309" y="1767481"/>
            <a:ext cx="1927588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171450" indent="-171450" algn="ctr">
              <a:buFont typeface="Wingdings" panose="05000000000000000000" pitchFamily="2" charset="2"/>
              <a:buChar char="ü"/>
            </a:pPr>
            <a:r>
              <a:rPr lang="en-US" altLang="ko-KR" sz="1200" b="1" dirty="0" smtClean="0">
                <a:solidFill>
                  <a:srgbClr val="0070C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</a:t>
            </a:r>
            <a:r>
              <a:rPr lang="ko-KR" altLang="en-US" sz="1200" b="1" dirty="0" smtClean="0">
                <a:solidFill>
                  <a:srgbClr val="0070C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년 목표 매출 </a:t>
            </a:r>
            <a:r>
              <a:rPr lang="en-US" altLang="ko-KR" sz="1200" b="1" dirty="0" smtClean="0">
                <a:solidFill>
                  <a:srgbClr val="0070C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en-US" altLang="ko-KR" sz="1200" b="1" dirty="0" smtClean="0">
                <a:solidFill>
                  <a:srgbClr val="0070C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27</a:t>
            </a:r>
            <a:r>
              <a:rPr lang="ko-KR" altLang="en-US" sz="1200" b="1" dirty="0" smtClean="0">
                <a:solidFill>
                  <a:srgbClr val="0070C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억</a:t>
            </a:r>
            <a:endParaRPr lang="ko-KR" altLang="en-US" sz="1200" b="1" dirty="0">
              <a:solidFill>
                <a:srgbClr val="0070C0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663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31258</TotalTime>
  <Words>1276</Words>
  <Application>Microsoft Office PowerPoint</Application>
  <PresentationFormat>와이드스크린</PresentationFormat>
  <Paragraphs>302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8" baseType="lpstr">
      <vt:lpstr>KoPub돋움체 Bold</vt:lpstr>
      <vt:lpstr>KoPub돋움체 Light</vt:lpstr>
      <vt:lpstr>KoPub돋움체 Medium</vt:lpstr>
      <vt:lpstr>Monotype Sorts</vt:lpstr>
      <vt:lpstr>나눔고딕</vt:lpstr>
      <vt:lpstr>나눔스퀘어 Bold</vt:lpstr>
      <vt:lpstr>맑은 고딕</vt:lpstr>
      <vt:lpstr>Arial</vt:lpstr>
      <vt:lpstr>Ebrima</vt:lpstr>
      <vt:lpstr>Wingdings</vt:lpstr>
      <vt:lpstr>Office 테마</vt:lpstr>
      <vt:lpstr>25년 IT서비스부문 사업계획  - 전략사업팀</vt:lpstr>
      <vt:lpstr>1. 사업수행 현황</vt:lpstr>
      <vt:lpstr>2. 조직 운영 현황</vt:lpstr>
      <vt:lpstr>3. 케이티닷컴 기획/운영 프로젝트 사업 목표 </vt:lpstr>
      <vt:lpstr>4. 팀 운영 로드맵 - Task</vt:lpstr>
      <vt:lpstr>4. 팀 운영 내재화 - 전략사업팀 온보딩 프로그램 도입 계획 </vt:lpstr>
      <vt:lpstr>5. 25년 사업 매출 계획 – 포캐스팅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choiehsel@gmail.com</dc:creator>
  <cp:lastModifiedBy>choiehsel@gmail.com</cp:lastModifiedBy>
  <cp:revision>404</cp:revision>
  <dcterms:created xsi:type="dcterms:W3CDTF">2022-12-19T10:53:05Z</dcterms:created>
  <dcterms:modified xsi:type="dcterms:W3CDTF">2025-04-29T10:40:13Z</dcterms:modified>
</cp:coreProperties>
</file>